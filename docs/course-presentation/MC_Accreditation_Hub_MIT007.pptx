
<file path=[Content_Types].xml><?xml version="1.0" encoding="utf-8"?>
<ns0:Types xmlns:ns0="http://schemas.openxmlformats.org/package/2006/content-types">
  <ns0:Default Extension="xml" ContentType="application/xml"/>
  <ns0:Default Extension="rels" ContentType="application/vnd.openxmlformats-package.relationships+xml"/>
  <ns0:Default Extension="jpeg" ContentType="image/jpeg"/>
  <ns0:Default Extension="jpg" ContentType="image/jpg"/>
  <ns0:Default Extension="svg" ContentType="image/svg+xml"/>
  <ns0:Default Extension="png" ContentType="image/png"/>
  <ns0:Default Extension="gif" ContentType="image/gif"/>
  <ns0:Default Extension="m4v" ContentType="video/mp4"/>
  <ns0:Default Extension="mp4" ContentType="video/mp4"/>
  <ns0:Default Extension="vml" ContentType="application/vnd.openxmlformats-officedocument.vmlDrawing"/>
  <ns0:Default Extension="xlsx" ContentType="application/vnd.openxmlformats-officedocument.spreadsheetml.sheet"/>
  <ns0:Override PartName="/ppt/presentation.xml" ContentType="application/vnd.openxmlformats-officedocument.presentationml.presentation.main+xml"/>
  <ns0:Override PartName="/ppt/notesMasters/notesMaster1.xml" ContentType="application/vnd.openxmlformats-officedocument.presentationml.notesMaster+xml"/>
  <ns0:Override PartName="/ppt/slideMasters/slideMaster1.xml" ContentType="application/vnd.openxmlformats-officedocument.presentationml.slideMaster+xml"/>
  <ns0:Override PartName="/ppt/slideMasters/slideMaster2.xml" ContentType="application/vnd.openxmlformats-officedocument.presentationml.slideMaster+xml"/>
  <ns0:Override PartName="/ppt/slideMasters/slideMaster3.xml" ContentType="application/vnd.openxmlformats-officedocument.presentationml.slideMaster+xml"/>
  <ns0:Override PartName="/ppt/slideMasters/slideMaster4.xml" ContentType="application/vnd.openxmlformats-officedocument.presentationml.slideMaster+xml"/>
  <ns0:Override PartName="/ppt/slideMasters/slideMaster5.xml" ContentType="application/vnd.openxmlformats-officedocument.presentationml.slideMaster+xml"/>
  <ns0:Override PartName="/ppt/slideMasters/slideMaster6.xml" ContentType="application/vnd.openxmlformats-officedocument.presentationml.slideMaster+xml"/>
  <ns0:Override PartName="/ppt/slideMasters/slideMaster7.xml" ContentType="application/vnd.openxmlformats-officedocument.presentationml.slideMaster+xml"/>
  <ns0:Override PartName="/ppt/charts/chart1.xml" ContentType="application/vnd.openxmlformats-officedocument.drawingml.chart+xml"/>
  <ns0:Override PartName="/ppt/slideMasters/slideMaster8.xml" ContentType="application/vnd.openxmlformats-officedocument.presentationml.slideMaster+xml"/>
  <ns0:Override PartName="/ppt/slideMasters/slideMaster9.xml" ContentType="application/vnd.openxmlformats-officedocument.presentationml.slideMaster+xml"/>
  <ns0:Override PartName="/ppt/slideMasters/slideMaster10.xml" ContentType="application/vnd.openxmlformats-officedocument.presentationml.slideMaster+xml"/>
  <ns0:Override PartName="/ppt/slideMasters/slideMaster11.xml" ContentType="application/vnd.openxmlformats-officedocument.presentationml.slideMaster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ppt/slides/slide1.xml" ContentType="application/vnd.openxmlformats-officedocument.presentationml.slide+xml"/>
  <ns0:Override PartName="/ppt/notesSlides/notesSlide1.xml" ContentType="application/vnd.openxmlformats-officedocument.presentationml.notesSlide+xml"/>
  <ns0:Override PartName="/ppt/slides/slide2.xml" ContentType="application/vnd.openxmlformats-officedocument.presentationml.slide+xml"/>
  <ns0:Override PartName="/ppt/notesSlides/notesSlide2.xml" ContentType="application/vnd.openxmlformats-officedocument.presentationml.notesSlide+xml"/>
  <ns0:Override PartName="/ppt/slides/slide3.xml" ContentType="application/vnd.openxmlformats-officedocument.presentationml.slide+xml"/>
  <ns0:Override PartName="/ppt/notesSlides/notesSlide3.xml" ContentType="application/vnd.openxmlformats-officedocument.presentationml.notesSlide+xml"/>
  <ns0:Override PartName="/ppt/slides/slide4.xml" ContentType="application/vnd.openxmlformats-officedocument.presentationml.slide+xml"/>
  <ns0:Override PartName="/ppt/notesSlides/notesSlide4.xml" ContentType="application/vnd.openxmlformats-officedocument.presentationml.notesSlide+xml"/>
  <ns0:Override PartName="/ppt/slides/slide5.xml" ContentType="application/vnd.openxmlformats-officedocument.presentationml.slide+xml"/>
  <ns0:Override PartName="/ppt/notesSlides/notesSlide5.xml" ContentType="application/vnd.openxmlformats-officedocument.presentationml.notesSlide+xml"/>
  <ns0:Override PartName="/ppt/slides/slide6.xml" ContentType="application/vnd.openxmlformats-officedocument.presentationml.slide+xml"/>
  <ns0:Override PartName="/ppt/notesSlides/notesSlide6.xml" ContentType="application/vnd.openxmlformats-officedocument.presentationml.notesSlide+xml"/>
  <ns0:Override PartName="/ppt/slides/slide7.xml" ContentType="application/vnd.openxmlformats-officedocument.presentationml.slide+xml"/>
  <ns0:Override PartName="/ppt/notesSlides/notesSlide7.xml" ContentType="application/vnd.openxmlformats-officedocument.presentationml.notesSlide+xml"/>
  <ns0:Override PartName="/ppt/slides/slide8.xml" ContentType="application/vnd.openxmlformats-officedocument.presentationml.slide+xml"/>
  <ns0:Override PartName="/ppt/notesSlides/notesSlide8.xml" ContentType="application/vnd.openxmlformats-officedocument.presentationml.notesSlide+xml"/>
  <ns0:Override PartName="/ppt/slides/slide9.xml" ContentType="application/vnd.openxmlformats-officedocument.presentationml.slide+xml"/>
  <ns0:Override PartName="/ppt/notesSlides/notesSlide9.xml" ContentType="application/vnd.openxmlformats-officedocument.presentationml.notesSlide+xml"/>
  <ns0:Override PartName="/ppt/slides/slide10.xml" ContentType="application/vnd.openxmlformats-officedocument.presentationml.slide+xml"/>
  <ns0:Override PartName="/ppt/notesSlides/notesSlide10.xml" ContentType="application/vnd.openxmlformats-officedocument.presentationml.notesSlide+xml"/>
  <ns0:Override PartName="/ppt/slides/slide11.xml" ContentType="application/vnd.openxmlformats-officedocument.presentationml.slide+xml"/>
  <ns0:Override PartName="/ppt/notesSlides/notesSlide11.xml" ContentType="application/vnd.openxmlformats-officedocument.presentationml.notesSlide+xml"/>
  <ns0:Override PartName="/ppt/slides/slide12.xml" ContentType="application/vnd.openxmlformats-officedocument.presentationml.slide+xml"/>
  <ns0:Override PartName="/ppt/notesSlides/notesSlide12.xml" ContentType="application/vnd.openxmlformats-officedocument.presentationml.notesSlide+xml"/>
  <ns0:Override PartName="/ppt/slides/slide13.xml" ContentType="application/vnd.openxmlformats-officedocument.presentationml.slide+xml"/>
  <ns0:Override PartName="/ppt/notesSlides/notesSlide13.xml" ContentType="application/vnd.openxmlformats-officedocument.presentationml.notesSlide+xml"/>
  <ns0:Override PartName="/ppt/slides/slide14.xml" ContentType="application/vnd.openxmlformats-officedocument.presentationml.slide+xml"/>
  <ns0:Override PartName="/ppt/notesSlides/notesSlide14.xml" ContentType="application/vnd.openxmlformats-officedocument.presentationml.notesSlide+xml"/>
  <ns0:Override PartName="/ppt/slides/slide15.xml" ContentType="application/vnd.openxmlformats-officedocument.presentationml.slide+xml"/>
  <ns0:Override PartName="/ppt/notesSlides/notesSlide15.xml" ContentType="application/vnd.openxmlformats-officedocument.presentationml.notesSlide+xml"/>
  <ns0:Override PartName="/ppt/slides/slide16.xml" ContentType="application/vnd.openxmlformats-officedocument.presentationml.slide+xml"/>
  <ns0:Override PartName="/ppt/notesSlides/notesSlide16.xml" ContentType="application/vnd.openxmlformats-officedocument.presentationml.notesSlide+xml"/>
  <ns0:Override PartName="/ppt/slides/slide17.xml" ContentType="application/vnd.openxmlformats-officedocument.presentationml.slide+xml"/>
  <ns0:Override PartName="/ppt/notesSlides/notesSlide17.xml" ContentType="application/vnd.openxmlformats-officedocument.presentationml.notesSlide+xml"/>
  <ns0:Override PartName="/ppt/slides/slide18.xml" ContentType="application/vnd.openxmlformats-officedocument.presentationml.slide+xml"/>
  <ns0:Override PartName="/ppt/notesSlides/notesSlide18.xml" ContentType="application/vnd.openxmlformats-officedocument.presentationml.notesSlide+xml"/>
  <ns0:Override PartName="/ppt/slides/slide19.xml" ContentType="application/vnd.openxmlformats-officedocument.presentationml.slide+xml"/>
  <ns0:Override PartName="/ppt/notesSlides/notesSlide19.xml" ContentType="application/vnd.openxmlformats-officedocument.presentationml.notesSlide+xml"/>
  <ns0:Override PartName="/ppt/slides/slide20.xml" ContentType="application/vnd.openxmlformats-officedocument.presentationml.slide+xml"/>
  <ns0:Override PartName="/ppt/notesSlides/notesSlide20.xml" ContentType="application/vnd.openxmlformats-officedocument.presentationml.notesSlide+xml"/>
  <ns0:Override PartName="/ppt/slides/slide21.xml" ContentType="application/vnd.openxmlformats-officedocument.presentationml.slide+xml"/>
  <ns0:Override PartName="/ppt/notesSlides/notesSlide21.xml" ContentType="application/vnd.openxmlformats-officedocument.presentationml.notesSlide+xml"/>
  <ns0:Override PartName="/ppt/slides/slide22.xml" ContentType="application/vnd.openxmlformats-officedocument.presentationml.slide+xml"/>
  <ns0:Override PartName="/ppt/notesSlides/notesSlide22.xml" ContentType="application/vnd.openxmlformats-officedocument.presentationml.notesSlide+xml"/>
  <ns0:Override PartName="/ppt/slides/slide23.xml" ContentType="application/vnd.openxmlformats-officedocument.presentationml.slide+xml"/>
  <ns0:Override PartName="/ppt/notesSlides/notesSlide23.xml" ContentType="application/vnd.openxmlformats-officedocument.presentationml.notesSlide+xml"/>
  <ns0:Override PartName="/ppt/slides/slide24.xml" ContentType="application/vnd.openxmlformats-officedocument.presentationml.slide+xml"/>
  <ns0:Override PartName="/ppt/notesSlides/notesSlide24.xml" ContentType="application/vnd.openxmlformats-officedocument.presentationml.notesSlide+xml"/>
  <ns0:Override PartName="/ppt/slides/slide25.xml" ContentType="application/vnd.openxmlformats-officedocument.presentationml.slide+xml"/>
  <ns0:Override PartName="/ppt/notesSlides/notesSlide25.xml" ContentType="application/vnd.openxmlformats-officedocument.presentationml.notesSlide+xml"/>
  <ns0:Override PartName="/ppt/slides/slide26.xml" ContentType="application/vnd.openxmlformats-officedocument.presentationml.slide+xml"/>
  <ns0:Override PartName="/ppt/notesSlides/notesSlide26.xml" ContentType="application/vnd.openxmlformats-officedocument.presentationml.notesSlide+xml"/>
  <ns0:Override PartName="/ppt/slides/slide27.xml" ContentType="application/vnd.openxmlformats-officedocument.presentationml.slide+xml"/>
  <ns0:Override PartName="/ppt/notesSlides/notesSlide27.xml" ContentType="application/vnd.openxmlformats-officedocument.presentationml.notesSlide+xml"/>
  <ns0:Override PartName="/ppt/slides/slide28.xml" ContentType="application/vnd.openxmlformats-officedocument.presentationml.slide+xml"/>
  <ns0:Override PartName="/ppt/notesSlides/notesSlide28.xml" ContentType="application/vnd.openxmlformats-officedocument.presentationml.notesSlide+xml"/>
  <ns0:Override PartName="/ppt/slides/slide29.xml" ContentType="application/vnd.openxmlformats-officedocument.presentationml.slide+xml"/>
  <ns0:Override PartName="/ppt/notesSlides/notesSlide29.xml" ContentType="application/vnd.openxmlformats-officedocument.presentationml.notesSlide+xml"/>
  <ns0:Override PartName="/ppt/slides/slide30.xml" ContentType="application/vnd.openxmlformats-officedocument.presentationml.slide+xml"/>
  <ns0:Override PartName="/ppt/notesSlides/notesSlide30.xml" ContentType="application/vnd.openxmlformats-officedocument.presentationml.notesSlide+xml"/>
  <ns0:Override PartName="/ppt/slides/slide31.xml" ContentType="application/vnd.openxmlformats-officedocument.presentationml.slide+xml"/>
  <ns0:Override PartName="/ppt/notesSlides/notesSlide31.xml" ContentType="application/vnd.openxmlformats-officedocument.presentationml.notesSlide+xml"/>
  <ns0:Override PartName="/ppt/slides/slide32.xml" ContentType="application/vnd.openxmlformats-officedocument.presentationml.slide+xml"/>
  <ns0:Override PartName="/ppt/notesSlides/notesSlide32.xml" ContentType="application/vnd.openxmlformats-officedocument.presentationml.notesSlide+xml"/>
  <ns0:Override PartName="/ppt/slides/slide33.xml" ContentType="application/vnd.openxmlformats-officedocument.presentationml.slide+xml"/>
  <ns0:Override PartName="/ppt/notesSlides/notesSlide33.xml" ContentType="application/vnd.openxmlformats-officedocument.presentationml.notesSlide+xml"/>
  <ns0:Override PartName="/ppt/slides/slide34.xml" ContentType="application/vnd.openxmlformats-officedocument.presentationml.slide+xml"/>
  <ns0:Override PartName="/ppt/notesSlides/notesSlide34.xml" ContentType="application/vnd.openxmlformats-officedocument.presentationml.notesSlide+xml"/>
  <ns0:Override PartName="/ppt/slides/slide35.xml" ContentType="application/vnd.openxmlformats-officedocument.presentationml.slide+xml"/>
  <ns0:Override PartName="/ppt/notesSlides/notesSlide35.xml" ContentType="application/vnd.openxmlformats-officedocument.presentationml.notesSlide+xml"/>
  <ns0:Override PartName="/ppt/slides/slide36.xml" ContentType="application/vnd.openxmlformats-officedocument.presentationml.slide+xml"/>
  <ns0:Override PartName="/ppt/notesSlides/notesSlide36.xml" ContentType="application/vnd.openxmlformats-officedocument.presentationml.notesSlide+xml"/>
  <ns0:Override PartName="/ppt/slides/slide37.xml" ContentType="application/vnd.openxmlformats-officedocument.presentationml.slide+xml"/>
  <ns0:Override PartName="/ppt/notesSlides/notesSlide37.xml" ContentType="application/vnd.openxmlformats-officedocument.presentationml.notesSlide+xml"/>
  <ns0:Override PartName="/ppt/slides/slide38.xml" ContentType="application/vnd.openxmlformats-officedocument.presentationml.slide+xml"/>
  <ns0:Override PartName="/ppt/notesSlides/notesSlide38.xml" ContentType="application/vnd.openxmlformats-officedocument.presentationml.notesSlide+xml"/>
  <ns0:Override PartName="/ppt/slides/slide39.xml" ContentType="application/vnd.openxmlformats-officedocument.presentationml.slide+xml"/>
  <ns0:Override PartName="/ppt/notesSlides/notesSlide39.xml" ContentType="application/vnd.openxmlformats-officedocument.presentationml.notesSlide+xml"/>
  <ns0:Override PartName="/ppt/slides/slide40.xml" ContentType="application/vnd.openxmlformats-officedocument.presentationml.slide+xml"/>
  <ns0:Override PartName="/ppt/notesSlides/notesSlide40.xml" ContentType="application/vnd.openxmlformats-officedocument.presentationml.notesSlide+xml"/>
  <ns0:Override PartName="/ppt/slides/slide41.xml" ContentType="application/vnd.openxmlformats-officedocument.presentationml.slide+xml"/>
  <ns0:Override PartName="/ppt/notesSlides/notesSlide41.xml" ContentType="application/vnd.openxmlformats-officedocument.presentationml.notesSlide+xml"/>
  <ns0:Override PartName="/ppt/slides/slide42.xml" ContentType="application/vnd.openxmlformats-officedocument.presentationml.slide+xml"/>
  <ns0:Override PartName="/ppt/notesSlides/notesSlide42.xml" ContentType="application/vnd.openxmlformats-officedocument.presentationml.notesSlide+xml"/>
  <ns0:Override PartName="/ppt/slides/slide43.xml" ContentType="application/vnd.openxmlformats-officedocument.presentationml.slide+xml"/>
  <ns0:Override PartName="/ppt/notesSlides/notesSlide43.xml" ContentType="application/vnd.openxmlformats-officedocument.presentationml.notesSlide+xml"/>
  <ns0:Override PartName="/ppt/slides/slide44.xml" ContentType="application/vnd.openxmlformats-officedocument.presentationml.slide+xml"/>
  <ns0:Override PartName="/ppt/notesSlides/notesSlide44.xml" ContentType="application/vnd.openxmlformats-officedocument.presentationml.notesSlide+xml"/>
  <ns0:Override PartName="/ppt/slides/slide45.xml" ContentType="application/vnd.openxmlformats-officedocument.presentationml.slide+xml"/>
  <ns0:Override PartName="/ppt/notesSlides/notesSlide45.xml" ContentType="application/vnd.openxmlformats-officedocument.presentationml.notesSlide+xml"/>
  <ns0:Override PartName="/ppt/slides/slide46.xml" ContentType="application/vnd.openxmlformats-officedocument.presentationml.slide+xml"/>
  <ns0:Override PartName="/ppt/notesSlides/notesSlide46.xml" ContentType="application/vnd.openxmlformats-officedocument.presentationml.notesSlide+xml"/>
  <ns0:Override PartName="/ppt/slides/slide47.xml" ContentType="application/vnd.openxmlformats-officedocument.presentationml.slide+xml"/>
  <ns0:Override PartName="/ppt/notesSlides/notesSlide47.xml" ContentType="application/vnd.openxmlformats-officedocument.presentationml.notesSlide+xml"/>
  <ns0:Override PartName="/ppt/slides/slide48.xml" ContentType="application/vnd.openxmlformats-officedocument.presentationml.slide+xml"/>
  <ns0:Override PartName="/ppt/notesSlides/notesSlide48.xml" ContentType="application/vnd.openxmlformats-officedocument.presentationml.notesSlide+xml"/>
  <ns0:Override PartName="/ppt/slides/slide49.xml" ContentType="application/vnd.openxmlformats-officedocument.presentationml.slide+xml"/>
  <ns0:Override PartName="/ppt/notesSlides/notesSlide49.xml" ContentType="application/vnd.openxmlformats-officedocument.presentationml.notesSlide+xml"/>
  <ns0:Override PartName="/ppt/slides/slide50.xml" ContentType="application/vnd.openxmlformats-officedocument.presentationml.slide+xml"/>
  <ns0:Override PartName="/ppt/notesSlides/notesSlide50.xml" ContentType="application/vnd.openxmlformats-officedocument.presentationml.notesSlide+xml"/>
  <ns0:Override PartName="/ppt/slides/slide51.xml" ContentType="application/vnd.openxmlformats-officedocument.presentationml.slide+xml"/>
  <ns0:Override PartName="/ppt/notesSlides/notesSlide51.xml" ContentType="application/vnd.openxmlformats-officedocument.presentationml.notesSlide+xml"/>
  <ns0:Override PartName="/ppt/slides/slide52.xml" ContentType="application/vnd.openxmlformats-officedocument.presentationml.slide+xml"/>
  <ns0:Override PartName="/ppt/notesSlides/notesSlide52.xml" ContentType="application/vnd.openxmlformats-officedocument.presentationml.notesSlide+xml"/>
  <ns0:Override PartName="/ppt/slides/slide53.xml" ContentType="application/vnd.openxmlformats-officedocument.presentationml.slide+xml"/>
  <ns0:Override PartName="/ppt/notesSlides/notesSlide53.xml" ContentType="application/vnd.openxmlformats-officedocument.presentationml.notesSlide+xml"/>
</ns0: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</p:sldIdLst>
  <p:notesMasterIdLst>
    <p:notesMasterId r:id="rId5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slide" Target="slides/slide1.xml" /><ns0:Relationship Id="rId3" Type="http://schemas.openxmlformats.org/officeDocument/2006/relationships/slide" Target="slides/slide2.xml" /><ns0:Relationship Id="rId4" Type="http://schemas.openxmlformats.org/officeDocument/2006/relationships/slide" Target="slides/slide3.xml" /><ns0:Relationship Id="rId5" Type="http://schemas.openxmlformats.org/officeDocument/2006/relationships/slide" Target="slides/slide4.xml" /><ns0:Relationship Id="rId6" Type="http://schemas.openxmlformats.org/officeDocument/2006/relationships/slide" Target="slides/slide5.xml" /><ns0:Relationship Id="rId7" Type="http://schemas.openxmlformats.org/officeDocument/2006/relationships/slide" Target="slides/slide6.xml" /><ns0:Relationship Id="rId8" Type="http://schemas.openxmlformats.org/officeDocument/2006/relationships/slide" Target="slides/slide7.xml" /><ns0:Relationship Id="rId9" Type="http://schemas.openxmlformats.org/officeDocument/2006/relationships/slide" Target="slides/slide8.xml" /><ns0:Relationship Id="rId10" Type="http://schemas.openxmlformats.org/officeDocument/2006/relationships/slide" Target="slides/slide9.xml" /><ns0:Relationship Id="rId11" Type="http://schemas.openxmlformats.org/officeDocument/2006/relationships/slide" Target="slides/slide10.xml" /><ns0:Relationship Id="rId12" Type="http://schemas.openxmlformats.org/officeDocument/2006/relationships/slide" Target="slides/slide11.xml" /><ns0:Relationship Id="rId13" Type="http://schemas.openxmlformats.org/officeDocument/2006/relationships/slide" Target="slides/slide12.xml" /><ns0:Relationship Id="rId14" Type="http://schemas.openxmlformats.org/officeDocument/2006/relationships/slide" Target="slides/slide13.xml" /><ns0:Relationship Id="rId15" Type="http://schemas.openxmlformats.org/officeDocument/2006/relationships/slide" Target="slides/slide14.xml" /><ns0:Relationship Id="rId16" Type="http://schemas.openxmlformats.org/officeDocument/2006/relationships/slide" Target="slides/slide15.xml" /><ns0:Relationship Id="rId17" Type="http://schemas.openxmlformats.org/officeDocument/2006/relationships/slide" Target="slides/slide16.xml" /><ns0:Relationship Id="rId18" Type="http://schemas.openxmlformats.org/officeDocument/2006/relationships/slide" Target="slides/slide17.xml" /><ns0:Relationship Id="rId19" Type="http://schemas.openxmlformats.org/officeDocument/2006/relationships/slide" Target="slides/slide18.xml" /><ns0:Relationship Id="rId20" Type="http://schemas.openxmlformats.org/officeDocument/2006/relationships/slide" Target="slides/slide19.xml" /><ns0:Relationship Id="rId21" Type="http://schemas.openxmlformats.org/officeDocument/2006/relationships/slide" Target="slides/slide20.xml" /><ns0:Relationship Id="rId22" Type="http://schemas.openxmlformats.org/officeDocument/2006/relationships/slide" Target="slides/slide21.xml" /><ns0:Relationship Id="rId23" Type="http://schemas.openxmlformats.org/officeDocument/2006/relationships/slide" Target="slides/slide22.xml" /><ns0:Relationship Id="rId24" Type="http://schemas.openxmlformats.org/officeDocument/2006/relationships/slide" Target="slides/slide23.xml" /><ns0:Relationship Id="rId25" Type="http://schemas.openxmlformats.org/officeDocument/2006/relationships/slide" Target="slides/slide24.xml" /><ns0:Relationship Id="rId26" Type="http://schemas.openxmlformats.org/officeDocument/2006/relationships/slide" Target="slides/slide25.xml" /><ns0:Relationship Id="rId27" Type="http://schemas.openxmlformats.org/officeDocument/2006/relationships/slide" Target="slides/slide26.xml" /><ns0:Relationship Id="rId28" Type="http://schemas.openxmlformats.org/officeDocument/2006/relationships/slide" Target="slides/slide27.xml" /><ns0:Relationship Id="rId29" Type="http://schemas.openxmlformats.org/officeDocument/2006/relationships/slide" Target="slides/slide28.xml" /><ns0:Relationship Id="rId30" Type="http://schemas.openxmlformats.org/officeDocument/2006/relationships/slide" Target="slides/slide29.xml" /><ns0:Relationship Id="rId31" Type="http://schemas.openxmlformats.org/officeDocument/2006/relationships/slide" Target="slides/slide30.xml" /><ns0:Relationship Id="rId32" Type="http://schemas.openxmlformats.org/officeDocument/2006/relationships/slide" Target="slides/slide31.xml" /><ns0:Relationship Id="rId33" Type="http://schemas.openxmlformats.org/officeDocument/2006/relationships/slide" Target="slides/slide32.xml" /><ns0:Relationship Id="rId34" Type="http://schemas.openxmlformats.org/officeDocument/2006/relationships/slide" Target="slides/slide33.xml" /><ns0:Relationship Id="rId35" Type="http://schemas.openxmlformats.org/officeDocument/2006/relationships/slide" Target="slides/slide34.xml" /><ns0:Relationship Id="rId36" Type="http://schemas.openxmlformats.org/officeDocument/2006/relationships/slide" Target="slides/slide35.xml" /><ns0:Relationship Id="rId37" Type="http://schemas.openxmlformats.org/officeDocument/2006/relationships/slide" Target="slides/slide36.xml" /><ns0:Relationship Id="rId38" Type="http://schemas.openxmlformats.org/officeDocument/2006/relationships/slide" Target="slides/slide37.xml" /><ns0:Relationship Id="rId39" Type="http://schemas.openxmlformats.org/officeDocument/2006/relationships/slide" Target="slides/slide38.xml" /><ns0:Relationship Id="rId40" Type="http://schemas.openxmlformats.org/officeDocument/2006/relationships/slide" Target="slides/slide39.xml" /><ns0:Relationship Id="rId41" Type="http://schemas.openxmlformats.org/officeDocument/2006/relationships/slide" Target="slides/slide40.xml" /><ns0:Relationship Id="rId42" Type="http://schemas.openxmlformats.org/officeDocument/2006/relationships/slide" Target="slides/slide41.xml" /><ns0:Relationship Id="rId43" Type="http://schemas.openxmlformats.org/officeDocument/2006/relationships/slide" Target="slides/slide42.xml" /><ns0:Relationship Id="rId44" Type="http://schemas.openxmlformats.org/officeDocument/2006/relationships/slide" Target="slides/slide43.xml" /><ns0:Relationship Id="rId45" Type="http://schemas.openxmlformats.org/officeDocument/2006/relationships/slide" Target="slides/slide44.xml" /><ns0:Relationship Id="rId46" Type="http://schemas.openxmlformats.org/officeDocument/2006/relationships/slide" Target="slides/slide45.xml" /><ns0:Relationship Id="rId47" Type="http://schemas.openxmlformats.org/officeDocument/2006/relationships/slide" Target="slides/slide46.xml" /><ns0:Relationship Id="rId48" Type="http://schemas.openxmlformats.org/officeDocument/2006/relationships/slide" Target="slides/slide47.xml" /><ns0:Relationship Id="rId49" Type="http://schemas.openxmlformats.org/officeDocument/2006/relationships/slide" Target="slides/slide48.xml" /><ns0:Relationship Id="rId50" Type="http://schemas.openxmlformats.org/officeDocument/2006/relationships/slide" Target="slides/slide49.xml" /><ns0:Relationship Id="rId51" Type="http://schemas.openxmlformats.org/officeDocument/2006/relationships/slide" Target="slides/slide50.xml" /><ns0:Relationship Id="rId52" Type="http://schemas.openxmlformats.org/officeDocument/2006/relationships/slide" Target="slides/slide51.xml" /><ns0:Relationship Id="rId53" Type="http://schemas.openxmlformats.org/officeDocument/2006/relationships/slide" Target="slides/slide52.xml" /><ns0:Relationship Id="rId54" Type="http://schemas.openxmlformats.org/officeDocument/2006/relationships/slide" Target="slides/slide53.xml" /><ns0:Relationship Id="rId55" Type="http://schemas.openxmlformats.org/officeDocument/2006/relationships/notesMaster" Target="notesMasters/notesMaster1.xml" /><ns0:Relationship Id="rId56" Type="http://schemas.openxmlformats.org/officeDocument/2006/relationships/presProps" Target="presProps.xml" /><ns0:Relationship Id="rId57" Type="http://schemas.openxmlformats.org/officeDocument/2006/relationships/viewProps" Target="viewProps.xml" /><ns0:Relationship Id="rId58" Type="http://schemas.openxmlformats.org/officeDocument/2006/relationships/theme" Target="theme/theme1.xml" /><ns0:Relationship Id="rId59" Type="http://schemas.openxmlformats.org/officeDocument/2006/relationships/tableStyles" Target="tableStyles.xml" /></ns0: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mbria"/>
              </a:rPr>
              <a:t>Sample Areas — Compliance %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Compliance %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Faculty</c:v>
                  </c:pt>
                  <c:pt idx="1">
                    <c:v>Curriculum &amp; Instruction</c:v>
                  </c:pt>
                  <c:pt idx="2">
                    <c:v>Research</c:v>
                  </c:pt>
                  <c:pt idx="3">
                    <c:v>Students</c:v>
                  </c:pt>
                  <c:pt idx="4">
                    <c:v>Library</c:v>
                  </c:pt>
                  <c:pt idx="5">
                    <c:v>Facilities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92</c:v>
                </c:pt>
                <c:pt idx="1">
                  <c:v>90</c:v>
                </c:pt>
                <c:pt idx="2">
                  <c:v>84</c:v>
                </c:pt>
                <c:pt idx="3">
                  <c:v>91</c:v>
                </c:pt>
                <c:pt idx="4">
                  <c:v>82</c:v>
                </c:pt>
                <c:pt idx="5">
                  <c:v>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276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12700" cap="flat">
              <a:solidFill>
                <a:srgbClr val="E4E9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?>
<ns0:Relationships xmlns:ns0="http://schemas.openxmlformats.org/package/2006/relationships"><ns0:Relationship Id="rId1" Type="http://schemas.openxmlformats.org/officeDocument/2006/relationships/notesMaster" Target="../notesMasters/notesMaster1.xml" /><ns0:Relationship Id="rId2" Type="http://schemas.openxmlformats.org/officeDocument/2006/relationships/slide" Target="../slides/slide1.xml" /></ns0:Relationships>
</file>

<file path=ppt/notesSlides/_rels/notesSlide2.xml.rels><?xml version='1.0' encoding='utf-8'?>
<ns0:Relationships xmlns:ns0="http://schemas.openxmlformats.org/package/2006/relationships"><ns0:Relationship Id="rId1" Type="http://schemas.openxmlformats.org/officeDocument/2006/relationships/notesMaster" Target="../notesMasters/notesMaster1.xml" /><ns0:Relationship Id="rId2" Type="http://schemas.openxmlformats.org/officeDocument/2006/relationships/slide" Target="../slides/slide2.xml" /></ns0:Relationships>
</file>

<file path=ppt/notesSlides/_rels/notesSlide3.xml.rels><?xml version='1.0' encoding='utf-8'?>
<ns0:Relationships xmlns:ns0="http://schemas.openxmlformats.org/package/2006/relationships"><ns0:Relationship Id="rId1" Type="http://schemas.openxmlformats.org/officeDocument/2006/relationships/notesMaster" Target="../notesMasters/notesMaster1.xml" /><ns0:Relationship Id="rId2" Type="http://schemas.openxmlformats.org/officeDocument/2006/relationships/slide" Target="../slides/slide3.xml" /></ns0:Relationships>
</file>

<file path=ppt/notesSlides/_rels/notesSlide4.xml.rels><?xml version='1.0' encoding='utf-8'?>
<ns0:Relationships xmlns:ns0="http://schemas.openxmlformats.org/package/2006/relationships"><ns0:Relationship Id="rId1" Type="http://schemas.openxmlformats.org/officeDocument/2006/relationships/notesMaster" Target="../notesMasters/notesMaster1.xml" /><ns0:Relationship Id="rId2" Type="http://schemas.openxmlformats.org/officeDocument/2006/relationships/slide" Target="../slides/slide4.xml" /></ns0:Relationships>
</file>

<file path=ppt/notesSlides/_rels/notesSlide5.xml.rels><?xml version='1.0' encoding='utf-8'?>
<ns0:Relationships xmlns:ns0="http://schemas.openxmlformats.org/package/2006/relationships"><ns0:Relationship Id="rId1" Type="http://schemas.openxmlformats.org/officeDocument/2006/relationships/notesMaster" Target="../notesMasters/notesMaster1.xml" /><ns0:Relationship Id="rId2" Type="http://schemas.openxmlformats.org/officeDocument/2006/relationships/slide" Target="../slides/slide5.xml" /></ns0:Relationships>
</file>

<file path=ppt/notesSlides/_rels/notesSlide6.xml.rels><?xml version='1.0' encoding='utf-8'?>
<ns0:Relationships xmlns:ns0="http://schemas.openxmlformats.org/package/2006/relationships"><ns0:Relationship Id="rId1" Type="http://schemas.openxmlformats.org/officeDocument/2006/relationships/notesMaster" Target="../notesMasters/notesMaster1.xml" /><ns0:Relationship Id="rId2" Type="http://schemas.openxmlformats.org/officeDocument/2006/relationships/slide" Target="../slides/slide6.xml" /></ns0:Relationships>
</file>

<file path=ppt/notesSlides/_rels/notesSlide7.xml.rels><?xml version='1.0' encoding='utf-8'?>
<ns0:Relationships xmlns:ns0="http://schemas.openxmlformats.org/package/2006/relationships"><ns0:Relationship Id="rId1" Type="http://schemas.openxmlformats.org/officeDocument/2006/relationships/notesMaster" Target="../notesMasters/notesMaster1.xml" /><ns0:Relationship Id="rId2" Type="http://schemas.openxmlformats.org/officeDocument/2006/relationships/slide" Target="../slides/slide7.xml" /></ns0:Relationships>
</file>

<file path=ppt/notesSlides/_rels/notesSlide8.xml.rels><?xml version='1.0' encoding='utf-8'?>
<ns0:Relationships xmlns:ns0="http://schemas.openxmlformats.org/package/2006/relationships"><ns0:Relationship Id="rId1" Type="http://schemas.openxmlformats.org/officeDocument/2006/relationships/notesMaster" Target="../notesMasters/notesMaster1.xml" /><ns0:Relationship Id="rId2" Type="http://schemas.openxmlformats.org/officeDocument/2006/relationships/slide" Target="../slides/slide8.xml" /></ns0:Relationships>
</file>

<file path=ppt/notesSlides/_rels/notesSlide9.xml.rels><?xml version='1.0' encoding='utf-8'?>
<ns0:Relationships xmlns:ns0="http://schemas.openxmlformats.org/package/2006/relationships"><ns0:Relationship Id="rId1" Type="http://schemas.openxmlformats.org/officeDocument/2006/relationships/notesMaster" Target="../notesMasters/notesMaster1.xml" /><ns0:Relationship Id="rId2" Type="http://schemas.openxmlformats.org/officeDocument/2006/relationships/slide" Target="../slides/slide9.xml" /></ns0:Relationships>
</file>

<file path=ppt/notesSlides/_rels/notesSlide10.xml.rels><?xml version='1.0' encoding='utf-8'?>
<ns0:Relationships xmlns:ns0="http://schemas.openxmlformats.org/package/2006/relationships"><ns0:Relationship Id="rId1" Type="http://schemas.openxmlformats.org/officeDocument/2006/relationships/notesMaster" Target="../notesMasters/notesMaster1.xml" /><ns0:Relationship Id="rId2" Type="http://schemas.openxmlformats.org/officeDocument/2006/relationships/slide" Target="../slides/slide10.xml" /></ns0:Relationships>
</file>

<file path=ppt/notesSlides/_rels/notesSlide11.xml.rels><?xml version='1.0' encoding='utf-8'?>
<ns0:Relationships xmlns:ns0="http://schemas.openxmlformats.org/package/2006/relationships"><ns0:Relationship Id="rId1" Type="http://schemas.openxmlformats.org/officeDocument/2006/relationships/notesMaster" Target="../notesMasters/notesMaster1.xml" /><ns0:Relationship Id="rId2" Type="http://schemas.openxmlformats.org/officeDocument/2006/relationships/slide" Target="../slides/slide11.xml" /></ns0:Relationships>
</file>

<file path=ppt/notesSlides/_rels/notesSlide12.xml.rels><?xml version='1.0' encoding='utf-8'?>
<ns0:Relationships xmlns:ns0="http://schemas.openxmlformats.org/package/2006/relationships"><ns0:Relationship Id="rId1" Type="http://schemas.openxmlformats.org/officeDocument/2006/relationships/notesMaster" Target="../notesMasters/notesMaster1.xml" /><ns0:Relationship Id="rId2" Type="http://schemas.openxmlformats.org/officeDocument/2006/relationships/slide" Target="../slides/slide12.xml" /></ns0:Relationships>
</file>

<file path=ppt/notesSlides/_rels/notesSlide13.xml.rels><?xml version='1.0' encoding='utf-8'?>
<ns0:Relationships xmlns:ns0="http://schemas.openxmlformats.org/package/2006/relationships"><ns0:Relationship Id="rId1" Type="http://schemas.openxmlformats.org/officeDocument/2006/relationships/notesMaster" Target="../notesMasters/notesMaster1.xml" /><ns0:Relationship Id="rId2" Type="http://schemas.openxmlformats.org/officeDocument/2006/relationships/slide" Target="../slides/slide13.xml" /></ns0:Relationships>
</file>

<file path=ppt/notesSlides/_rels/notesSlide14.xml.rels><?xml version='1.0' encoding='utf-8'?>
<ns0:Relationships xmlns:ns0="http://schemas.openxmlformats.org/package/2006/relationships"><ns0:Relationship Id="rId1" Type="http://schemas.openxmlformats.org/officeDocument/2006/relationships/notesMaster" Target="../notesMasters/notesMaster1.xml" /><ns0:Relationship Id="rId2" Type="http://schemas.openxmlformats.org/officeDocument/2006/relationships/slide" Target="../slides/slide14.xml" /></ns0:Relationships>
</file>

<file path=ppt/notesSlides/_rels/notesSlide15.xml.rels><?xml version='1.0' encoding='utf-8'?>
<ns0:Relationships xmlns:ns0="http://schemas.openxmlformats.org/package/2006/relationships"><ns0:Relationship Id="rId1" Type="http://schemas.openxmlformats.org/officeDocument/2006/relationships/notesMaster" Target="../notesMasters/notesMaster1.xml" /><ns0:Relationship Id="rId2" Type="http://schemas.openxmlformats.org/officeDocument/2006/relationships/slide" Target="../slides/slide15.xml" /></ns0:Relationships>
</file>

<file path=ppt/notesSlides/_rels/notesSlide16.xml.rels><?xml version='1.0' encoding='utf-8'?>
<ns0:Relationships xmlns:ns0="http://schemas.openxmlformats.org/package/2006/relationships"><ns0:Relationship Id="rId1" Type="http://schemas.openxmlformats.org/officeDocument/2006/relationships/notesMaster" Target="../notesMasters/notesMaster1.xml" /><ns0:Relationship Id="rId2" Type="http://schemas.openxmlformats.org/officeDocument/2006/relationships/slide" Target="../slides/slide16.xml" /></ns0:Relationships>
</file>

<file path=ppt/notesSlides/_rels/notesSlide17.xml.rels><?xml version='1.0' encoding='utf-8'?>
<ns0:Relationships xmlns:ns0="http://schemas.openxmlformats.org/package/2006/relationships"><ns0:Relationship Id="rId1" Type="http://schemas.openxmlformats.org/officeDocument/2006/relationships/notesMaster" Target="../notesMasters/notesMaster1.xml" /><ns0:Relationship Id="rId2" Type="http://schemas.openxmlformats.org/officeDocument/2006/relationships/slide" Target="../slides/slide17.xml" /></ns0:Relationships>
</file>

<file path=ppt/notesSlides/_rels/notesSlide18.xml.rels><?xml version='1.0' encoding='utf-8'?>
<ns0:Relationships xmlns:ns0="http://schemas.openxmlformats.org/package/2006/relationships"><ns0:Relationship Id="rId1" Type="http://schemas.openxmlformats.org/officeDocument/2006/relationships/notesMaster" Target="../notesMasters/notesMaster1.xml" /><ns0:Relationship Id="rId2" Type="http://schemas.openxmlformats.org/officeDocument/2006/relationships/slide" Target="../slides/slide18.xml" /></ns0:Relationships>
</file>

<file path=ppt/notesSlides/_rels/notesSlide19.xml.rels><?xml version='1.0' encoding='utf-8'?>
<ns0:Relationships xmlns:ns0="http://schemas.openxmlformats.org/package/2006/relationships"><ns0:Relationship Id="rId1" Type="http://schemas.openxmlformats.org/officeDocument/2006/relationships/notesMaster" Target="../notesMasters/notesMaster1.xml" /><ns0:Relationship Id="rId2" Type="http://schemas.openxmlformats.org/officeDocument/2006/relationships/slide" Target="../slides/slide19.xml" /></ns0:Relationships>
</file>

<file path=ppt/notesSlides/_rels/notesSlide20.xml.rels><?xml version='1.0' encoding='utf-8'?>
<ns0:Relationships xmlns:ns0="http://schemas.openxmlformats.org/package/2006/relationships"><ns0:Relationship Id="rId1" Type="http://schemas.openxmlformats.org/officeDocument/2006/relationships/notesMaster" Target="../notesMasters/notesMaster1.xml" /><ns0:Relationship Id="rId2" Type="http://schemas.openxmlformats.org/officeDocument/2006/relationships/slide" Target="../slides/slide20.xml" /></ns0:Relationships>
</file>

<file path=ppt/notesSlides/_rels/notesSlide21.xml.rels><?xml version='1.0' encoding='utf-8'?>
<ns0:Relationships xmlns:ns0="http://schemas.openxmlformats.org/package/2006/relationships"><ns0:Relationship Id="rId1" Type="http://schemas.openxmlformats.org/officeDocument/2006/relationships/notesMaster" Target="../notesMasters/notesMaster1.xml" /><ns0:Relationship Id="rId2" Type="http://schemas.openxmlformats.org/officeDocument/2006/relationships/slide" Target="../slides/slide21.xml" /></ns0:Relationships>
</file>

<file path=ppt/notesSlides/_rels/notesSlide22.xml.rels><?xml version='1.0' encoding='utf-8'?>
<ns0:Relationships xmlns:ns0="http://schemas.openxmlformats.org/package/2006/relationships"><ns0:Relationship Id="rId1" Type="http://schemas.openxmlformats.org/officeDocument/2006/relationships/notesMaster" Target="../notesMasters/notesMaster1.xml" /><ns0:Relationship Id="rId2" Type="http://schemas.openxmlformats.org/officeDocument/2006/relationships/slide" Target="../slides/slide22.xml" /></ns0:Relationships>
</file>

<file path=ppt/notesSlides/_rels/notesSlide23.xml.rels><?xml version='1.0' encoding='utf-8'?>
<ns0:Relationships xmlns:ns0="http://schemas.openxmlformats.org/package/2006/relationships"><ns0:Relationship Id="rId1" Type="http://schemas.openxmlformats.org/officeDocument/2006/relationships/notesMaster" Target="../notesMasters/notesMaster1.xml" /><ns0:Relationship Id="rId2" Type="http://schemas.openxmlformats.org/officeDocument/2006/relationships/slide" Target="../slides/slide23.xml" /></ns0:Relationships>
</file>

<file path=ppt/notesSlides/_rels/notesSlide24.xml.rels><?xml version='1.0' encoding='utf-8'?>
<ns0:Relationships xmlns:ns0="http://schemas.openxmlformats.org/package/2006/relationships"><ns0:Relationship Id="rId1" Type="http://schemas.openxmlformats.org/officeDocument/2006/relationships/notesMaster" Target="../notesMasters/notesMaster1.xml" /><ns0:Relationship Id="rId2" Type="http://schemas.openxmlformats.org/officeDocument/2006/relationships/slide" Target="../slides/slide24.xml" /></ns0:Relationships>
</file>

<file path=ppt/notesSlides/_rels/notesSlide25.xml.rels><?xml version='1.0' encoding='utf-8'?>
<ns0:Relationships xmlns:ns0="http://schemas.openxmlformats.org/package/2006/relationships"><ns0:Relationship Id="rId1" Type="http://schemas.openxmlformats.org/officeDocument/2006/relationships/notesMaster" Target="../notesMasters/notesMaster1.xml" /><ns0:Relationship Id="rId2" Type="http://schemas.openxmlformats.org/officeDocument/2006/relationships/slide" Target="../slides/slide25.xml" /></ns0:Relationships>
</file>

<file path=ppt/notesSlides/_rels/notesSlide26.xml.rels><?xml version='1.0' encoding='utf-8'?>
<ns0:Relationships xmlns:ns0="http://schemas.openxmlformats.org/package/2006/relationships"><ns0:Relationship Id="rId1" Type="http://schemas.openxmlformats.org/officeDocument/2006/relationships/notesMaster" Target="../notesMasters/notesMaster1.xml" /><ns0:Relationship Id="rId2" Type="http://schemas.openxmlformats.org/officeDocument/2006/relationships/slide" Target="../slides/slide26.xml" /></ns0:Relationships>
</file>

<file path=ppt/notesSlides/_rels/notesSlide27.xml.rels><?xml version='1.0' encoding='utf-8'?>
<ns0:Relationships xmlns:ns0="http://schemas.openxmlformats.org/package/2006/relationships"><ns0:Relationship Id="rId1" Type="http://schemas.openxmlformats.org/officeDocument/2006/relationships/notesMaster" Target="../notesMasters/notesMaster1.xml" /><ns0:Relationship Id="rId2" Type="http://schemas.openxmlformats.org/officeDocument/2006/relationships/slide" Target="../slides/slide27.xml" /></ns0:Relationships>
</file>

<file path=ppt/notesSlides/_rels/notesSlide28.xml.rels><?xml version='1.0' encoding='utf-8'?>
<ns0:Relationships xmlns:ns0="http://schemas.openxmlformats.org/package/2006/relationships"><ns0:Relationship Id="rId1" Type="http://schemas.openxmlformats.org/officeDocument/2006/relationships/notesMaster" Target="../notesMasters/notesMaster1.xml" /><ns0:Relationship Id="rId2" Type="http://schemas.openxmlformats.org/officeDocument/2006/relationships/slide" Target="../slides/slide28.xml" /></ns0:Relationships>
</file>

<file path=ppt/notesSlides/_rels/notesSlide29.xml.rels><?xml version='1.0' encoding='utf-8'?>
<ns0:Relationships xmlns:ns0="http://schemas.openxmlformats.org/package/2006/relationships"><ns0:Relationship Id="rId1" Type="http://schemas.openxmlformats.org/officeDocument/2006/relationships/notesMaster" Target="../notesMasters/notesMaster1.xml" /><ns0:Relationship Id="rId2" Type="http://schemas.openxmlformats.org/officeDocument/2006/relationships/slide" Target="../slides/slide29.xml" /></ns0:Relationships>
</file>

<file path=ppt/notesSlides/_rels/notesSlide30.xml.rels><?xml version='1.0' encoding='utf-8'?>
<ns0:Relationships xmlns:ns0="http://schemas.openxmlformats.org/package/2006/relationships"><ns0:Relationship Id="rId1" Type="http://schemas.openxmlformats.org/officeDocument/2006/relationships/notesMaster" Target="../notesMasters/notesMaster1.xml" /><ns0:Relationship Id="rId2" Type="http://schemas.openxmlformats.org/officeDocument/2006/relationships/slide" Target="../slides/slide30.xml" /></ns0:Relationships>
</file>

<file path=ppt/notesSlides/_rels/notesSlide31.xml.rels><?xml version='1.0' encoding='utf-8'?>
<ns0:Relationships xmlns:ns0="http://schemas.openxmlformats.org/package/2006/relationships"><ns0:Relationship Id="rId1" Type="http://schemas.openxmlformats.org/officeDocument/2006/relationships/notesMaster" Target="../notesMasters/notesMaster1.xml" /><ns0:Relationship Id="rId2" Type="http://schemas.openxmlformats.org/officeDocument/2006/relationships/slide" Target="../slides/slide31.xml" /></ns0:Relationships>
</file>

<file path=ppt/notesSlides/_rels/notesSlide32.xml.rels><?xml version='1.0' encoding='utf-8'?>
<ns0:Relationships xmlns:ns0="http://schemas.openxmlformats.org/package/2006/relationships"><ns0:Relationship Id="rId1" Type="http://schemas.openxmlformats.org/officeDocument/2006/relationships/notesMaster" Target="../notesMasters/notesMaster1.xml" /><ns0:Relationship Id="rId2" Type="http://schemas.openxmlformats.org/officeDocument/2006/relationships/slide" Target="../slides/slide32.xml" /></ns0:Relationships>
</file>

<file path=ppt/notesSlides/_rels/notesSlide33.xml.rels><?xml version='1.0' encoding='utf-8'?>
<ns0:Relationships xmlns:ns0="http://schemas.openxmlformats.org/package/2006/relationships"><ns0:Relationship Id="rId1" Type="http://schemas.openxmlformats.org/officeDocument/2006/relationships/notesMaster" Target="../notesMasters/notesMaster1.xml" /><ns0:Relationship Id="rId2" Type="http://schemas.openxmlformats.org/officeDocument/2006/relationships/slide" Target="../slides/slide33.xml" /></ns0:Relationships>
</file>

<file path=ppt/notesSlides/_rels/notesSlide34.xml.rels><?xml version='1.0' encoding='utf-8'?>
<ns0:Relationships xmlns:ns0="http://schemas.openxmlformats.org/package/2006/relationships"><ns0:Relationship Id="rId1" Type="http://schemas.openxmlformats.org/officeDocument/2006/relationships/notesMaster" Target="../notesMasters/notesMaster1.xml" /><ns0:Relationship Id="rId2" Type="http://schemas.openxmlformats.org/officeDocument/2006/relationships/slide" Target="../slides/slide34.xml" /></ns0:Relationships>
</file>

<file path=ppt/notesSlides/_rels/notesSlide35.xml.rels><?xml version='1.0' encoding='utf-8'?>
<ns0:Relationships xmlns:ns0="http://schemas.openxmlformats.org/package/2006/relationships"><ns0:Relationship Id="rId1" Type="http://schemas.openxmlformats.org/officeDocument/2006/relationships/notesMaster" Target="../notesMasters/notesMaster1.xml" /><ns0:Relationship Id="rId2" Type="http://schemas.openxmlformats.org/officeDocument/2006/relationships/slide" Target="../slides/slide35.xml" /></ns0:Relationships>
</file>

<file path=ppt/notesSlides/_rels/notesSlide36.xml.rels><?xml version='1.0' encoding='utf-8'?>
<ns0:Relationships xmlns:ns0="http://schemas.openxmlformats.org/package/2006/relationships"><ns0:Relationship Id="rId1" Type="http://schemas.openxmlformats.org/officeDocument/2006/relationships/notesMaster" Target="../notesMasters/notesMaster1.xml" /><ns0:Relationship Id="rId2" Type="http://schemas.openxmlformats.org/officeDocument/2006/relationships/slide" Target="../slides/slide36.xml" /></ns0:Relationships>
</file>

<file path=ppt/notesSlides/_rels/notesSlide37.xml.rels><?xml version='1.0' encoding='utf-8'?>
<ns0:Relationships xmlns:ns0="http://schemas.openxmlformats.org/package/2006/relationships"><ns0:Relationship Id="rId1" Type="http://schemas.openxmlformats.org/officeDocument/2006/relationships/notesMaster" Target="../notesMasters/notesMaster1.xml" /><ns0:Relationship Id="rId2" Type="http://schemas.openxmlformats.org/officeDocument/2006/relationships/slide" Target="../slides/slide37.xml" /></ns0:Relationships>
</file>

<file path=ppt/notesSlides/_rels/notesSlide38.xml.rels><?xml version='1.0' encoding='utf-8'?>
<ns0:Relationships xmlns:ns0="http://schemas.openxmlformats.org/package/2006/relationships"><ns0:Relationship Id="rId1" Type="http://schemas.openxmlformats.org/officeDocument/2006/relationships/notesMaster" Target="../notesMasters/notesMaster1.xml" /><ns0:Relationship Id="rId2" Type="http://schemas.openxmlformats.org/officeDocument/2006/relationships/slide" Target="../slides/slide38.xml" /></ns0:Relationships>
</file>

<file path=ppt/notesSlides/_rels/notesSlide39.xml.rels><?xml version='1.0' encoding='utf-8'?>
<ns0:Relationships xmlns:ns0="http://schemas.openxmlformats.org/package/2006/relationships"><ns0:Relationship Id="rId1" Type="http://schemas.openxmlformats.org/officeDocument/2006/relationships/notesMaster" Target="../notesMasters/notesMaster1.xml" /><ns0:Relationship Id="rId2" Type="http://schemas.openxmlformats.org/officeDocument/2006/relationships/slide" Target="../slides/slide39.xml" /></ns0:Relationships>
</file>

<file path=ppt/notesSlides/_rels/notesSlide40.xml.rels><?xml version='1.0' encoding='utf-8'?>
<ns0:Relationships xmlns:ns0="http://schemas.openxmlformats.org/package/2006/relationships"><ns0:Relationship Id="rId1" Type="http://schemas.openxmlformats.org/officeDocument/2006/relationships/notesMaster" Target="../notesMasters/notesMaster1.xml" /><ns0:Relationship Id="rId2" Type="http://schemas.openxmlformats.org/officeDocument/2006/relationships/slide" Target="../slides/slide40.xml" /></ns0:Relationships>
</file>

<file path=ppt/notesSlides/_rels/notesSlide41.xml.rels><?xml version='1.0' encoding='utf-8'?>
<ns0:Relationships xmlns:ns0="http://schemas.openxmlformats.org/package/2006/relationships"><ns0:Relationship Id="rId1" Type="http://schemas.openxmlformats.org/officeDocument/2006/relationships/notesMaster" Target="../notesMasters/notesMaster1.xml" /><ns0:Relationship Id="rId2" Type="http://schemas.openxmlformats.org/officeDocument/2006/relationships/slide" Target="../slides/slide41.xml" /></ns0:Relationships>
</file>

<file path=ppt/notesSlides/_rels/notesSlide42.xml.rels><?xml version='1.0' encoding='utf-8'?>
<ns0:Relationships xmlns:ns0="http://schemas.openxmlformats.org/package/2006/relationships"><ns0:Relationship Id="rId1" Type="http://schemas.openxmlformats.org/officeDocument/2006/relationships/notesMaster" Target="../notesMasters/notesMaster1.xml" /><ns0:Relationship Id="rId2" Type="http://schemas.openxmlformats.org/officeDocument/2006/relationships/slide" Target="../slides/slide42.xml" /></ns0:Relationships>
</file>

<file path=ppt/notesSlides/_rels/notesSlide43.xml.rels><?xml version='1.0' encoding='utf-8'?>
<ns0:Relationships xmlns:ns0="http://schemas.openxmlformats.org/package/2006/relationships"><ns0:Relationship Id="rId1" Type="http://schemas.openxmlformats.org/officeDocument/2006/relationships/notesMaster" Target="../notesMasters/notesMaster1.xml" /><ns0:Relationship Id="rId2" Type="http://schemas.openxmlformats.org/officeDocument/2006/relationships/slide" Target="../slides/slide43.xml" /></ns0:Relationships>
</file>

<file path=ppt/notesSlides/_rels/notesSlide44.xml.rels><?xml version='1.0' encoding='utf-8'?>
<ns0:Relationships xmlns:ns0="http://schemas.openxmlformats.org/package/2006/relationships"><ns0:Relationship Id="rId1" Type="http://schemas.openxmlformats.org/officeDocument/2006/relationships/notesMaster" Target="../notesMasters/notesMaster1.xml" /><ns0:Relationship Id="rId2" Type="http://schemas.openxmlformats.org/officeDocument/2006/relationships/slide" Target="../slides/slide44.xml" /></ns0:Relationships>
</file>

<file path=ppt/notesSlides/_rels/notesSlide45.xml.rels><?xml version='1.0' encoding='utf-8'?>
<ns0:Relationships xmlns:ns0="http://schemas.openxmlformats.org/package/2006/relationships"><ns0:Relationship Id="rId1" Type="http://schemas.openxmlformats.org/officeDocument/2006/relationships/notesMaster" Target="../notesMasters/notesMaster1.xml" /><ns0:Relationship Id="rId2" Type="http://schemas.openxmlformats.org/officeDocument/2006/relationships/slide" Target="../slides/slide45.xml" /></ns0:Relationships>
</file>

<file path=ppt/notesSlides/_rels/notesSlide46.xml.rels><?xml version='1.0' encoding='utf-8'?>
<ns0:Relationships xmlns:ns0="http://schemas.openxmlformats.org/package/2006/relationships"><ns0:Relationship Id="rId1" Type="http://schemas.openxmlformats.org/officeDocument/2006/relationships/notesMaster" Target="../notesMasters/notesMaster1.xml" /><ns0:Relationship Id="rId2" Type="http://schemas.openxmlformats.org/officeDocument/2006/relationships/slide" Target="../slides/slide46.xml" /></ns0:Relationships>
</file>

<file path=ppt/notesSlides/_rels/notesSlide47.xml.rels><?xml version='1.0' encoding='utf-8'?>
<ns0:Relationships xmlns:ns0="http://schemas.openxmlformats.org/package/2006/relationships"><ns0:Relationship Id="rId1" Type="http://schemas.openxmlformats.org/officeDocument/2006/relationships/notesMaster" Target="../notesMasters/notesMaster1.xml" /><ns0:Relationship Id="rId2" Type="http://schemas.openxmlformats.org/officeDocument/2006/relationships/slide" Target="../slides/slide47.xml" /></ns0:Relationships>
</file>

<file path=ppt/notesSlides/_rels/notesSlide48.xml.rels><?xml version='1.0' encoding='utf-8'?>
<ns0:Relationships xmlns:ns0="http://schemas.openxmlformats.org/package/2006/relationships"><ns0:Relationship Id="rId1" Type="http://schemas.openxmlformats.org/officeDocument/2006/relationships/notesMaster" Target="../notesMasters/notesMaster1.xml" /><ns0:Relationship Id="rId2" Type="http://schemas.openxmlformats.org/officeDocument/2006/relationships/slide" Target="../slides/slide48.xml" /></ns0:Relationships>
</file>

<file path=ppt/notesSlides/_rels/notesSlide49.xml.rels><?xml version='1.0' encoding='utf-8'?>
<ns0:Relationships xmlns:ns0="http://schemas.openxmlformats.org/package/2006/relationships"><ns0:Relationship Id="rId1" Type="http://schemas.openxmlformats.org/officeDocument/2006/relationships/notesMaster" Target="../notesMasters/notesMaster1.xml" /><ns0:Relationship Id="rId2" Type="http://schemas.openxmlformats.org/officeDocument/2006/relationships/slide" Target="../slides/slide49.xml" /></ns0:Relationships>
</file>

<file path=ppt/notesSlides/_rels/notesSlide50.xml.rels><?xml version='1.0' encoding='utf-8'?>
<ns0:Relationships xmlns:ns0="http://schemas.openxmlformats.org/package/2006/relationships"><ns0:Relationship Id="rId1" Type="http://schemas.openxmlformats.org/officeDocument/2006/relationships/notesMaster" Target="../notesMasters/notesMaster1.xml" /><ns0:Relationship Id="rId2" Type="http://schemas.openxmlformats.org/officeDocument/2006/relationships/slide" Target="../slides/slide50.xml" /></ns0:Relationships>
</file>

<file path=ppt/notesSlides/_rels/notesSlide51.xml.rels><?xml version='1.0' encoding='utf-8'?>
<ns0:Relationships xmlns:ns0="http://schemas.openxmlformats.org/package/2006/relationships"><ns0:Relationship Id="rId1" Type="http://schemas.openxmlformats.org/officeDocument/2006/relationships/notesMaster" Target="../notesMasters/notesMaster1.xml" /><ns0:Relationship Id="rId2" Type="http://schemas.openxmlformats.org/officeDocument/2006/relationships/slide" Target="../slides/slide51.xml" /></ns0:Relationships>
</file>

<file path=ppt/notesSlides/_rels/notesSlide52.xml.rels><?xml version='1.0' encoding='utf-8'?>
<ns0:Relationships xmlns:ns0="http://schemas.openxmlformats.org/package/2006/relationships"><ns0:Relationship Id="rId1" Type="http://schemas.openxmlformats.org/officeDocument/2006/relationships/notesMaster" Target="../notesMasters/notesMaster1.xml" /><ns0:Relationship Id="rId2" Type="http://schemas.openxmlformats.org/officeDocument/2006/relationships/slide" Target="../slides/slide52.xml" /></ns0:Relationships>
</file>

<file path=ppt/notesSlides/_rels/notesSlide53.xml.rels><?xml version='1.0' encoding='utf-8'?>
<ns0:Relationships xmlns:ns0="http://schemas.openxmlformats.org/package/2006/relationships"><ns0:Relationship Id="rId1" Type="http://schemas.openxmlformats.org/officeDocument/2006/relationships/notesMaster" Target="../notesMasters/notesMaster1.xml" /><ns0:Relationship Id="rId2" Type="http://schemas.openxmlformats.org/officeDocument/2006/relationships/slide" Target="../slides/slide53.xml" /></ns0:Relationships>
</file>

<file path=ppt/notesSlides/notesSlide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Point: A digital evidence and compliance platform for the Graduate School of Mabini Colleges, Inc.</a:t>
            </a:r>
          </a:p>
          <a:p>
            <a:r>
              <a:rPr lang="en-US" sz="1200"/>
              <a:t>Explain: MIT 007 — Cloud Computing</a:t>
            </a:r>
          </a:p>
          <a:p>
            <a:r>
              <a:rPr lang="en-US" sz="1200"/>
              <a:t>Explain: Proponent: Rainell John O. Abanto</a:t>
            </a:r>
          </a:p>
          <a:p>
            <a:r>
              <a:rPr lang="en-US" sz="1200"/>
              <a:t>Explain: Course presentation · October 2026</a:t>
            </a:r>
          </a:p>
          <a:p>
            <a:r>
              <a:rPr lang="en-US" sz="1200"/>
              <a:t>Source: Original 11-slide MC_Accreditation_Hub.pptx; README.md</a:t>
            </a:r>
          </a:p>
          <a:p>
            <a:r>
              <a:rPr lang="en-US" sz="1200"/>
              <a:t>Limit: This status is local, provisional, or proposed as labeled on the slide; it is not institutional approval or a participant finding.</a:t>
            </a:r>
          </a:p>
          <a:p>
            <a:r>
              <a:rPr lang="en-US" sz="1200"/>
              <a:t>Transition: The accreditation records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Point: Evidence scattered across offices, folders, and devices takes time to verify and retrieve.</a:t>
            </a:r>
          </a:p>
          <a:p>
            <a:r>
              <a:rPr lang="en-US" sz="1200"/>
              <a:t>Explain: Requirements and files may be tracked separately.</a:t>
            </a:r>
          </a:p>
          <a:p>
            <a:r>
              <a:rPr lang="en-US" sz="1200"/>
              <a:t>Explain: Teams need to know which exact version was reviewed.</a:t>
            </a:r>
          </a:p>
          <a:p>
            <a:r>
              <a:rPr lang="en-US" sz="1200"/>
              <a:t>Explain: Missing work is hard to see without a shared status view.</a:t>
            </a:r>
          </a:p>
          <a:p>
            <a:r>
              <a:rPr lang="en-US" sz="1200"/>
              <a:t>Explain: The presentation describes this problem; no time-savings study has been completed.</a:t>
            </a:r>
          </a:p>
          <a:p>
            <a:r>
              <a:rPr lang="en-US" sz="1200"/>
              <a:t>Source: Source presentation, slides 2–3</a:t>
            </a:r>
          </a:p>
          <a:p>
            <a:r>
              <a:rPr lang="en-US" sz="1200"/>
              <a:t>Limit: This status is local, provisional, or proposed as labeled on the slide; it is not institutional approval or a participant finding.</a:t>
            </a:r>
          </a:p>
          <a:p>
            <a:r>
              <a:rPr lang="en-US" sz="1200"/>
              <a:t>Transition: Project objectives.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Point: The Hub brings requirements, files, review, monitoring, and reporting into one workflow.</a:t>
            </a:r>
          </a:p>
          <a:p>
            <a:r>
              <a:rPr lang="en-US" sz="1200"/>
              <a:t>Explain: Centralize accreditation-related records.</a:t>
            </a:r>
          </a:p>
          <a:p>
            <a:r>
              <a:rPr lang="en-US" sz="1200"/>
              <a:t>Explain: Classify evidence by area and requirement.</a:t>
            </a:r>
          </a:p>
          <a:p>
            <a:r>
              <a:rPr lang="en-US" sz="1200"/>
              <a:t>Explain: Track missing and incomplete work.</a:t>
            </a:r>
          </a:p>
          <a:p>
            <a:r>
              <a:rPr lang="en-US" sz="1200"/>
              <a:t>Explain: Review submitted evidence independently.</a:t>
            </a:r>
          </a:p>
          <a:p>
            <a:r>
              <a:rPr lang="en-US" sz="1200"/>
              <a:t>Explain: Retrieve authorized versions and produce preparation reports.</a:t>
            </a:r>
          </a:p>
          <a:p>
            <a:r>
              <a:rPr lang="en-US" sz="1200"/>
              <a:t>Source: Source presentation, slide 3; docs/MC_Accreditation_Hub.md</a:t>
            </a:r>
          </a:p>
          <a:p>
            <a:r>
              <a:rPr lang="en-US" sz="1200"/>
              <a:t>Limit: This status is local, provisional, or proposed as labeled on the slide; it is not institutional approval or a participant finding.</a:t>
            </a:r>
          </a:p>
          <a:p>
            <a:r>
              <a:rPr lang="en-US" sz="1200"/>
              <a:t>Transition: Scope and current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Point: A working local React and Django system supports the core evidence workflow.</a:t>
            </a:r>
          </a:p>
          <a:p>
            <a:r>
              <a:rPr lang="en-US" sz="1200"/>
              <a:t>Explain: Implemented locally: accounts and scoped roles, cycles, requirements, evidence versions, package review, certification, search, reports, and audit.</a:t>
            </a:r>
          </a:p>
          <a:p>
            <a:r>
              <a:rPr lang="en-US" sz="1200"/>
              <a:t>Explain: Fictional demo data only; the sample instrument is not official PACUCOA criteria.</a:t>
            </a:r>
          </a:p>
          <a:p>
            <a:r>
              <a:rPr lang="en-US" sz="1200"/>
              <a:t>Explain: School deployment, real-file intake, and institutional approval remain open.</a:t>
            </a:r>
          </a:p>
          <a:p>
            <a:r>
              <a:rPr lang="en-US" sz="1200"/>
              <a:t>Source: README.md; docs/PROGRESS.md; docs/D16_VERSION_1_BASELINE_PROPOSAL.md</a:t>
            </a:r>
          </a:p>
          <a:p>
            <a:r>
              <a:rPr lang="en-US" sz="1200"/>
              <a:t>Limit: This status is local, provisional, or proposed as labeled on the slide; it is not institutional approval or a participant finding.</a:t>
            </a:r>
          </a:p>
          <a:p>
            <a:r>
              <a:rPr lang="en-US" sz="1200"/>
              <a:t>Transition: Users and responsibilities.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Point: Academic and technical duties have separate authority.</a:t>
            </a:r>
          </a:p>
          <a:p>
            <a:r>
              <a:rPr lang="en-US" sz="1200"/>
              <a:t>Explain: Custodian contributes assigned evidence; Reviewer makes an independent package decision.</a:t>
            </a:r>
          </a:p>
          <a:p>
            <a:r>
              <a:rPr lang="en-US" sz="1200"/>
              <a:t>Explain: Coordinator manages requirements and deliberately certifies completion.</a:t>
            </a:r>
          </a:p>
          <a:p>
            <a:r>
              <a:rPr lang="en-US" sz="1200"/>
              <a:t>Explain: Viewer monitors approved evidence; product Administrator has no automatic evidence authority.</a:t>
            </a:r>
          </a:p>
          <a:p>
            <a:r>
              <a:rPr lang="en-US" sz="1200"/>
              <a:t>Explain: School IT operating roles require separate named assignments.</a:t>
            </a:r>
          </a:p>
          <a:p>
            <a:r>
              <a:rPr lang="en-US" sz="1200"/>
              <a:t>Source: README.md, Rules and access; docs/LAUNCH_ADMINISTRATION.md</a:t>
            </a:r>
          </a:p>
          <a:p>
            <a:r>
              <a:rPr lang="en-US" sz="1200"/>
              <a:t>Limit: This status is local, provisional, or proposed as labeled on the slide; it is not institutional approval or a participant finding.</a:t>
            </a:r>
          </a:p>
          <a:p>
            <a:r>
              <a:rPr lang="en-US" sz="1200"/>
              <a:t>Transition: End-to-end evidence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Point: A requirement becomes complete only after evidence review and a Coordinator decision.</a:t>
            </a:r>
          </a:p>
          <a:p>
            <a:r>
              <a:rPr lang="en-US" sz="1200"/>
              <a:t>Explain: Requirement and mandatory items → assigned contributor → versioned upload and mapping.</a:t>
            </a:r>
          </a:p>
          <a:p>
            <a:r>
              <a:rPr lang="en-US" sz="1200"/>
              <a:t>Explain: Draft package → submit → independent Reviewer approval or revision request.</a:t>
            </a:r>
          </a:p>
          <a:p>
            <a:r>
              <a:rPr lang="en-US" sz="1200"/>
              <a:t>Explain: Approved package → Coordinator certification with rationale → readiness update.</a:t>
            </a:r>
          </a:p>
          <a:p>
            <a:r>
              <a:rPr lang="en-US" sz="1200"/>
              <a:t>Explain: History retains the pinned version, decision, and criteria context.</a:t>
            </a:r>
          </a:p>
          <a:p>
            <a:r>
              <a:rPr lang="en-US" sz="1200"/>
              <a:t>Source: backend/hub/models.py; backend/hub/views.py; docs/API.md</a:t>
            </a:r>
          </a:p>
          <a:p>
            <a:r>
              <a:rPr lang="en-US" sz="1200"/>
              <a:t>Limit: This status is local, provisional, or proposed as labeled on the slide; it is not institutional approval or a participant finding.</a:t>
            </a:r>
          </a:p>
          <a:p>
            <a:r>
              <a:rPr lang="en-US" sz="1200"/>
              <a:t>Transition: Technology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Point: The browser uses a same-origin application API; PostgreSQL and private file storage stay behind Django.</a:t>
            </a:r>
          </a:p>
          <a:p>
            <a:r>
              <a:rPr lang="en-US" sz="1200"/>
              <a:t>Explain: React + Vite + TypeScript: browser interface.</a:t>
            </a:r>
          </a:p>
          <a:p>
            <a:r>
              <a:rPr lang="en-US" sz="1200"/>
              <a:t>Explain: Django REST Framework: session auth, permissions, workflow, reports.</a:t>
            </a:r>
          </a:p>
          <a:p>
            <a:r>
              <a:rPr lang="en-US" sz="1200"/>
              <a:t>Explain: PostgreSQL: relational history and transactional constraints.</a:t>
            </a:r>
          </a:p>
          <a:p>
            <a:r>
              <a:rPr lang="en-US" sz="1200"/>
              <a:t>Explain: Protected filesystem: immutable evidence bytes; no public media route.</a:t>
            </a:r>
          </a:p>
          <a:p>
            <a:r>
              <a:rPr lang="en-US" sz="1200"/>
              <a:t>Source: README.md; backend/config/settings.py; frontend/package.json</a:t>
            </a:r>
          </a:p>
          <a:p>
            <a:r>
              <a:rPr lang="en-US" sz="1200"/>
              <a:t>Limit: This status is local, provisional, or proposed as labeled on the slide; it is not institutional approval or a participant finding.</a:t>
            </a:r>
          </a:p>
          <a:p>
            <a:r>
              <a:rPr lang="en-US" sz="1200"/>
              <a:t>Transition: Request and evidence data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Point: Each request checks identity, scope, record state, and exact file availability.</a:t>
            </a:r>
          </a:p>
          <a:p>
            <a:r>
              <a:rPr lang="en-US" sz="1200"/>
              <a:t>Explain: Browser → /api/ session and CSRF → Django authorization.</a:t>
            </a:r>
          </a:p>
          <a:p>
            <a:r>
              <a:rPr lang="en-US" sz="1200"/>
              <a:t>Explain: Django reads/writes PostgreSQL records and private file bytes.</a:t>
            </a:r>
          </a:p>
          <a:p>
            <a:r>
              <a:rPr lang="en-US" sz="1200"/>
              <a:t>Explain: Upload scans the exact checksum; failed or absent verdicts quarantine the version.</a:t>
            </a:r>
          </a:p>
          <a:p>
            <a:r>
              <a:rPr lang="en-US" sz="1200"/>
              <a:t>Explain: Approved evidence access remains scoped and audited.</a:t>
            </a:r>
          </a:p>
          <a:p>
            <a:r>
              <a:rPr lang="en-US" sz="1200"/>
              <a:t>Source: backend/hub/access.py; backend/hub/scanning.py; backend/hub/views.py</a:t>
            </a:r>
          </a:p>
          <a:p>
            <a:r>
              <a:rPr lang="en-US" sz="1200"/>
              <a:t>Limit: This status is local, provisional, or proposed as labeled on the slide; it is not institutional approval or a participant finding.</a:t>
            </a:r>
          </a:p>
          <a:p>
            <a:r>
              <a:rPr lang="en-US" sz="1200"/>
              <a:t>Transition: Core data relationships.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Point: Cycles contain areas and requirements; evidence and decisions preserve exact history.</a:t>
            </a:r>
          </a:p>
          <a:p>
            <a:r>
              <a:rPr lang="en-US" sz="1200"/>
              <a:t>Explain: Cycle → Area → Requirement → Evidence Item.</a:t>
            </a:r>
          </a:p>
          <a:p>
            <a:r>
              <a:rPr lang="en-US" sz="1200"/>
              <a:t>Explain: Document → immutable Document Version → scan verdict and item mapping.</a:t>
            </a:r>
          </a:p>
          <a:p>
            <a:r>
              <a:rPr lang="en-US" sz="1200"/>
              <a:t>Explain: Requirement → Package Attempt → pinned versions → Reviewer decision.</a:t>
            </a:r>
          </a:p>
          <a:p>
            <a:r>
              <a:rPr lang="en-US" sz="1200"/>
              <a:t>Explain: Requirement → Coordinator certification; Audit Event records actions.</a:t>
            </a:r>
          </a:p>
          <a:p>
            <a:r>
              <a:rPr lang="en-US" sz="1200"/>
              <a:t>Source: backend/hub/models.py; docs/D16_VERSION_1_BASELINE_PROPOSAL.md</a:t>
            </a:r>
          </a:p>
          <a:p>
            <a:r>
              <a:rPr lang="en-US" sz="1200"/>
              <a:t>Limit: This status is local, provisional, or proposed as labeled on the slide; it is not institutional approval or a participant finding.</a:t>
            </a:r>
          </a:p>
          <a:p>
            <a:r>
              <a:rPr lang="en-US" sz="1200"/>
              <a:t>Transition: Cycles and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Point: Academic work is scoped to an assessment cycle and its areas.</a:t>
            </a:r>
          </a:p>
          <a:p>
            <a:r>
              <a:rPr lang="en-US" sz="1200"/>
              <a:t>Explain: Requirements include criteria, mandatory items, responsible office, and optional deadline.</a:t>
            </a:r>
          </a:p>
          <a:p>
            <a:r>
              <a:rPr lang="en-US" sz="1200"/>
              <a:t>Explain: Active and applicable requirements form the readiness denominator.</a:t>
            </a:r>
          </a:p>
          <a:p>
            <a:r>
              <a:rPr lang="en-US" sz="1200"/>
              <a:t>Explain: Closed cycles reject ordinary writes; archive is a separate reasoned lifecycle action.</a:t>
            </a:r>
          </a:p>
          <a:p>
            <a:r>
              <a:rPr lang="en-US" sz="1200"/>
              <a:t>Explain: The demo cycle and eight requirements are fictional.</a:t>
            </a:r>
          </a:p>
          <a:p>
            <a:r>
              <a:rPr lang="en-US" sz="1200"/>
              <a:t>Source: backend/hub/models.py; backend/hub/compliance.py; backend/hub/management/commands/seed_demo.py</a:t>
            </a:r>
          </a:p>
          <a:p>
            <a:r>
              <a:rPr lang="en-US" sz="1200"/>
              <a:t>Limit: This status is local, provisional, or proposed as labeled on the slide; it is not institutional approval or a participant finding.</a:t>
            </a:r>
          </a:p>
          <a:p>
            <a:r>
              <a:rPr lang="en-US" sz="1200"/>
              <a:t>Transition: Assignment and stewardship.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Point: A named Custodian assignment controls new requirement work.</a:t>
            </a:r>
          </a:p>
          <a:p>
            <a:r>
              <a:rPr lang="en-US" sz="1200"/>
              <a:t>Explain: A document records its owning area and steward.</a:t>
            </a:r>
          </a:p>
          <a:p>
            <a:r>
              <a:rPr lang="en-US" sz="1200"/>
              <a:t>Explain: The steward replaces versions; scoped Coordinator exceptions require a reason.</a:t>
            </a:r>
          </a:p>
          <a:p>
            <a:r>
              <a:rPr lang="en-US" sz="1200"/>
              <a:t>Explain: A team member cannot silently replace another person’s evidence.</a:t>
            </a:r>
          </a:p>
          <a:p>
            <a:r>
              <a:rPr lang="en-US" sz="1200"/>
              <a:t>Explain: Academic owners still need to ratify this institutional role mapping.</a:t>
            </a:r>
          </a:p>
          <a:p>
            <a:r>
              <a:rPr lang="en-US" sz="1200"/>
              <a:t>Source: backend/hub/models.py; backend/hub/access.py; decision D04</a:t>
            </a:r>
          </a:p>
          <a:p>
            <a:r>
              <a:rPr lang="en-US" sz="1200"/>
              <a:t>Limit: This status is local, provisional, or proposed as labeled on the slide; it is not institutional approval or a participant finding.</a:t>
            </a:r>
          </a:p>
          <a:p>
            <a:r>
              <a:rPr lang="en-US" sz="1200"/>
              <a:t>Transition: Protected evidence versions.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Point: Replacement adds an immutable version instead of overwriting reviewed bytes.</a:t>
            </a:r>
          </a:p>
          <a:p>
            <a:r>
              <a:rPr lang="en-US" sz="1200"/>
              <a:t>Explain: Each version has its own checksum, uploader, timestamp, and optional validity date.</a:t>
            </a:r>
          </a:p>
          <a:p>
            <a:r>
              <a:rPr lang="en-US" sz="1200"/>
              <a:t>Explain: A submitted package pins exact versions and criteria.</a:t>
            </a:r>
          </a:p>
          <a:p>
            <a:r>
              <a:rPr lang="en-US" sz="1200"/>
              <a:t>Explain: Older reviews and certifications remain historical after a replacement.</a:t>
            </a:r>
          </a:p>
          <a:p>
            <a:r>
              <a:rPr lang="en-US" sz="1200"/>
              <a:t>Explain: Downloads and inline previews require current authorization and a clean matching scan.</a:t>
            </a:r>
          </a:p>
          <a:p>
            <a:r>
              <a:rPr lang="en-US" sz="1200"/>
              <a:t>Source: backend/hub/models.py; backend/hub/scanning.py; docs/API.md</a:t>
            </a:r>
          </a:p>
          <a:p>
            <a:r>
              <a:rPr lang="en-US" sz="1200"/>
              <a:t>Limit: This status is local, provisional, or proposed as labeled on the slide; it is not institutional approval or a participant finding.</a:t>
            </a:r>
          </a:p>
          <a:p>
            <a:r>
              <a:rPr lang="en-US" sz="1200"/>
              <a:t>Transition: Quarantine and scan boundary.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Point: A version stays unusable until a configured local scanner records a clean verdict for its checksum.</a:t>
            </a:r>
          </a:p>
          <a:p>
            <a:r>
              <a:rPr lang="en-US" sz="1200"/>
              <a:t>Explain: Absent, failed, infected, or mismatched scans block preview, download, mapping, review, and certification.</a:t>
            </a:r>
          </a:p>
          <a:p>
            <a:r>
              <a:rPr lang="en-US" sz="1200"/>
              <a:t>Explain: The course demonstration uses a guarded synthetic verdict for two fictional PDFs only.</a:t>
            </a:r>
          </a:p>
          <a:p>
            <a:r>
              <a:rPr lang="en-US" sz="1200"/>
              <a:t>Explain: School IT has not approved a real scanner or completed target tests.</a:t>
            </a:r>
          </a:p>
          <a:p>
            <a:r>
              <a:rPr lang="en-US" sz="1200"/>
              <a:t>Source: backend/hub/scanning.py; docs/DEPLOYMENT.md; decision D11</a:t>
            </a:r>
          </a:p>
          <a:p>
            <a:r>
              <a:rPr lang="en-US" sz="1200"/>
              <a:t>Limit: Never describe the demo fixture as malware protection for institutional files.</a:t>
            </a:r>
          </a:p>
          <a:p>
            <a:r>
              <a:rPr lang="en-US" sz="1200"/>
              <a:t>Transition: Package attempts.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Point: New requirements use deliberate package drafts and immutable submitted attempts.</a:t>
            </a:r>
          </a:p>
          <a:p>
            <a:r>
              <a:rPr lang="en-US" sz="1200"/>
              <a:t>Explain: The owner selects exact mapped versions, adds notes, and submits the draft.</a:t>
            </a:r>
          </a:p>
          <a:p>
            <a:r>
              <a:rPr lang="en-US" sz="1200"/>
              <a:t>Explain: A pending attempt can be withdrawn before review; revision work creates a new draft.</a:t>
            </a:r>
          </a:p>
          <a:p>
            <a:r>
              <a:rPr lang="en-US" sz="1200"/>
              <a:t>Explain: Only one submitted attempt per requirement can await review.</a:t>
            </a:r>
          </a:p>
          <a:p>
            <a:r>
              <a:rPr lang="en-US" sz="1200"/>
              <a:t>Explain: Older item-level submissions remain preserved as legacy history.</a:t>
            </a:r>
          </a:p>
          <a:p>
            <a:r>
              <a:rPr lang="en-US" sz="1200"/>
              <a:t>Source: backend/hub/models.py; backend/hub/views.py; decision D07</a:t>
            </a:r>
          </a:p>
          <a:p>
            <a:r>
              <a:rPr lang="en-US" sz="1200"/>
              <a:t>Limit: This status is local, provisional, or proposed as labeled on the slide; it is not institutional approval or a participant finding.</a:t>
            </a:r>
          </a:p>
          <a:p>
            <a:r>
              <a:rPr lang="en-US" sz="1200"/>
              <a:t>Transition: Independent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Point: Reviewers decide on submitted evidence in their assigned area.</a:t>
            </a:r>
          </a:p>
          <a:p>
            <a:r>
              <a:rPr lang="en-US" sz="1200"/>
              <a:t>Explain: The review dialog shows owner, submitted criteria, current criteria, exact filenames, and checksums.</a:t>
            </a:r>
          </a:p>
          <a:p>
            <a:r>
              <a:rPr lang="en-US" sz="1200"/>
              <a:t>Explain: A Reviewer cannot approve their own upload or submission.</a:t>
            </a:r>
          </a:p>
          <a:p>
            <a:r>
              <a:rPr lang="en-US" sz="1200"/>
              <a:t>Explain: Current new-package outcomes are Approve and Request revisions.</a:t>
            </a:r>
          </a:p>
          <a:p>
            <a:r>
              <a:rPr lang="en-US" sz="1200"/>
              <a:t>Explain: A separate Reject outcome remains pending an Academic Owner rule.</a:t>
            </a:r>
          </a:p>
          <a:p>
            <a:r>
              <a:rPr lang="en-US" sz="1200"/>
              <a:t>Source: frontend/src/main.tsx; backend/hub/views.py; decision D07</a:t>
            </a:r>
          </a:p>
          <a:p>
            <a:r>
              <a:rPr lang="en-US" sz="1200"/>
              <a:t>Limit: This status is local, provisional, or proposed as labeled on the slide; it is not institutional approval or a participant finding.</a:t>
            </a:r>
          </a:p>
          <a:p>
            <a:r>
              <a:rPr lang="en-US" sz="1200"/>
              <a:t>Transition: Coordinator certification.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Point: Reviewer approval makes a requirement ready for completion review; it does not complete it.</a:t>
            </a:r>
          </a:p>
          <a:p>
            <a:r>
              <a:rPr lang="en-US" sz="1200"/>
              <a:t>Explain: The Coordinator selects approved support and records a rationale.</a:t>
            </a:r>
          </a:p>
          <a:p>
            <a:r>
              <a:rPr lang="en-US" sz="1200"/>
              <a:t>Explain: The certification pins the package/version and criteria snapshot.</a:t>
            </a:r>
          </a:p>
          <a:p>
            <a:r>
              <a:rPr lang="en-US" sz="1200"/>
              <a:t>Explain: Reopening adds a new reasoned record and removes the requirement from the completed count.</a:t>
            </a:r>
          </a:p>
          <a:p>
            <a:r>
              <a:rPr lang="en-US" sz="1200"/>
              <a:t>Explain: Older unsupported certifications remain marked legacy.</a:t>
            </a:r>
          </a:p>
          <a:p>
            <a:r>
              <a:rPr lang="en-US" sz="1200"/>
              <a:t>Source: backend/hub/compliance.py; backend/hub/models.py; decision D05</a:t>
            </a:r>
          </a:p>
          <a:p>
            <a:r>
              <a:rPr lang="en-US" sz="1200"/>
              <a:t>Limit: This status is local, provisional, or proposed as labeled on the slide; it is not institutional approval or a participant finding.</a:t>
            </a:r>
          </a:p>
          <a:p>
            <a:r>
              <a:rPr lang="en-US" sz="1200"/>
              <a:t>Transition: Readiness calculation.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Point: Internal readiness uses unweighted Coordinator-certified requirements.</a:t>
            </a:r>
          </a:p>
          <a:p>
            <a:r>
              <a:rPr lang="en-US" sz="1200"/>
              <a:t>Explain: Readiness = 100 × complete active applicable non-archived requirements / all active applicable non-archived requirements.</a:t>
            </a:r>
          </a:p>
          <a:p>
            <a:r>
              <a:rPr lang="en-US" sz="1200"/>
              <a:t>Explain: Draft, excluded, and archived requirements do not enter that population.</a:t>
            </a:r>
          </a:p>
          <a:p>
            <a:r>
              <a:rPr lang="en-US" sz="1200"/>
              <a:t>Explain: Status filters change displayed rows, not the selected cycle/area readiness population.</a:t>
            </a:r>
          </a:p>
          <a:p>
            <a:r>
              <a:rPr lang="en-US" sz="1200"/>
              <a:t>Explain: This is an internal preparation measure, never an official PACUCOA score.</a:t>
            </a:r>
          </a:p>
          <a:p>
            <a:r>
              <a:rPr lang="en-US" sz="1200"/>
              <a:t>Source: backend/hub/compliance.py; docs/API.md; decision D21</a:t>
            </a:r>
          </a:p>
          <a:p>
            <a:r>
              <a:rPr lang="en-US" sz="1200"/>
              <a:t>Limit: This status is local, provisional, or proposed as labeled on the slide; it is not institutional approval or a participant finding.</a:t>
            </a:r>
          </a:p>
          <a:p>
            <a:r>
              <a:rPr lang="en-US" sz="1200"/>
              <a:t>Transition: Live demonstration route.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Point: The fictional Faculty requirement shows the complete role handoff.</a:t>
            </a:r>
          </a:p>
          <a:p>
            <a:r>
              <a:rPr lang="en-US" sz="1200"/>
              <a:t>Explain: Start with 0 of 8 demo requirements complete.</a:t>
            </a:r>
          </a:p>
          <a:p>
            <a:r>
              <a:rPr lang="en-US" sz="1200"/>
              <a:t>Explain: Custodian maps two known fictional PDFs and submits one package.</a:t>
            </a:r>
          </a:p>
          <a:p>
            <a:r>
              <a:rPr lang="en-US" sz="1200"/>
              <a:t>Explain: Reviewer approves; Coordinator certifies with a rationale.</a:t>
            </a:r>
          </a:p>
          <a:p>
            <a:r>
              <a:rPr lang="en-US" sz="1200"/>
              <a:t>Explain: Report then shows 1 of 8 complete = 12.5%; Viewer package history is denied.</a:t>
            </a:r>
          </a:p>
          <a:p>
            <a:r>
              <a:rPr lang="en-US" sz="1200"/>
              <a:t>Source: docs/course-presentation/screenshots; frontend/course-demo-capture.mjs</a:t>
            </a:r>
          </a:p>
          <a:p>
            <a:r>
              <a:rPr lang="en-US" sz="1200"/>
              <a:t>Limit: This status is local, provisional, or proposed as labeled on the slide; it is not institutional approval or a participant finding.</a:t>
            </a:r>
          </a:p>
          <a:p>
            <a:r>
              <a:rPr lang="en-US" sz="1200"/>
              <a:t>Transition: Dashboard before certification.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Point: The fictional cycle starts with eight active applicable requirements and no completions.</a:t>
            </a:r>
          </a:p>
          <a:p>
            <a:r>
              <a:rPr lang="en-US" sz="1200"/>
              <a:t>Explain: The initial internal readiness is 0%.</a:t>
            </a:r>
          </a:p>
          <a:p>
            <a:r>
              <a:rPr lang="en-US" sz="1200"/>
              <a:t>Explain: The sample data contains no official instrument or institutional evidence.</a:t>
            </a:r>
          </a:p>
          <a:p>
            <a:r>
              <a:rPr lang="en-US" sz="1200"/>
              <a:t>Source: screenshots/02-dashboard-before.png</a:t>
            </a:r>
          </a:p>
          <a:p>
            <a:r>
              <a:rPr lang="en-US" sz="1200"/>
              <a:t>Limit: This status is local, provisional, or proposed as labeled on the slide; it is not institutional approval or a participant finding.</a:t>
            </a:r>
          </a:p>
          <a:p>
            <a:r>
              <a:rPr lang="en-US" sz="1200"/>
              <a:t>Transition: Requirement and assignment.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Point: The Faculty requirement has two mandatory evidence items and an assigned Custodian.</a:t>
            </a:r>
          </a:p>
          <a:p>
            <a:r>
              <a:rPr lang="en-US" sz="1200"/>
              <a:t>Explain: The assignment narrows who may contribute new evidence.</a:t>
            </a:r>
          </a:p>
          <a:p>
            <a:r>
              <a:rPr lang="en-US" sz="1200"/>
              <a:t>Explain: Other seeded requirements remain Missing.</a:t>
            </a:r>
          </a:p>
          <a:p>
            <a:r>
              <a:rPr lang="en-US" sz="1200"/>
              <a:t>Source: screenshots/03-requirement-before.png; screenshots/04-assignment.png</a:t>
            </a:r>
          </a:p>
          <a:p>
            <a:r>
              <a:rPr lang="en-US" sz="1200"/>
              <a:t>Limit: This status is local, provisional, or proposed as labeled on the slide; it is not institutional approval or a participant finding.</a:t>
            </a:r>
          </a:p>
          <a:p>
            <a:r>
              <a:rPr lang="en-US" sz="1200"/>
              <a:t>Transition: Evidence mapping and scan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Point: The Custodian uploads fictional PDFs and maps them to the two required items.</a:t>
            </a:r>
          </a:p>
          <a:p>
            <a:r>
              <a:rPr lang="en-US" sz="1200"/>
              <a:t>Explain: Versions remain immutable and checksum-linked.</a:t>
            </a:r>
          </a:p>
          <a:p>
            <a:r>
              <a:rPr lang="en-US" sz="1200"/>
              <a:t>Explain: The demo-only scan verdict is simulated and local.</a:t>
            </a:r>
          </a:p>
          <a:p>
            <a:r>
              <a:rPr lang="en-US" sz="1200"/>
              <a:t>Source: screenshots/05-evidence-mapped.png; screenshots/06-repository-and-scan.png</a:t>
            </a:r>
          </a:p>
          <a:p>
            <a:r>
              <a:rPr lang="en-US" sz="1200"/>
              <a:t>Limit: This status is local, provisional, or proposed as labeled on the slide; it is not institutional approval or a participant finding.</a:t>
            </a:r>
          </a:p>
          <a:p>
            <a:r>
              <a:rPr lang="en-US" sz="1200"/>
              <a:t>Transition: Version history and simulated scan.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Point: The Repository displays the exact file version, its history, and the local scan state.</a:t>
            </a:r>
          </a:p>
          <a:p>
            <a:r>
              <a:rPr lang="en-US" sz="1200"/>
              <a:t>Explain: The known generated PDF received a simulated clean verdict in this isolated fixture.</a:t>
            </a:r>
          </a:p>
          <a:p>
            <a:r>
              <a:rPr lang="en-US" sz="1200"/>
              <a:t>Explain: A later upload would add a version rather than overwrite these bytes.</a:t>
            </a:r>
          </a:p>
          <a:p>
            <a:r>
              <a:rPr lang="en-US" sz="1200"/>
              <a:t>Source: screenshots/06b-version-history-and-scan.png; scripts/course_demo_scanner.py</a:t>
            </a:r>
          </a:p>
          <a:p>
            <a:r>
              <a:rPr lang="en-US" sz="1200"/>
              <a:t>Limit: This simulated verdict is not an institutional malware scan.</a:t>
            </a:r>
          </a:p>
          <a:p>
            <a:r>
              <a:rPr lang="en-US" sz="1200"/>
              <a:t>Transition: Package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Point: The Custodian deliberately selects both item versions and submits a package.</a:t>
            </a:r>
          </a:p>
          <a:p>
            <a:r>
              <a:rPr lang="en-US" sz="1200"/>
              <a:t>Explain: Package status becomes For Verification.</a:t>
            </a:r>
          </a:p>
          <a:p>
            <a:r>
              <a:rPr lang="en-US" sz="1200"/>
              <a:t>Explain: The selected version and criteria context are retained.</a:t>
            </a:r>
          </a:p>
          <a:p>
            <a:r>
              <a:rPr lang="en-US" sz="1200"/>
              <a:t>Source: screenshots/07-package-draft.png; screenshots/08-package-submitted.png</a:t>
            </a:r>
          </a:p>
          <a:p>
            <a:r>
              <a:rPr lang="en-US" sz="1200"/>
              <a:t>Limit: This status is local, provisional, or proposed as labeled on the slide; it is not institutional approval or a participant finding.</a:t>
            </a:r>
          </a:p>
          <a:p>
            <a:r>
              <a:rPr lang="en-US" sz="1200"/>
              <a:t>Transition: Reviewer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Point: The Reviewer sees the submitted criteria and exact pinned evidence before approving.</a:t>
            </a:r>
          </a:p>
          <a:p>
            <a:r>
              <a:rPr lang="en-US" sz="1200"/>
              <a:t>Explain: The Reviewer is a separate fictional account.</a:t>
            </a:r>
          </a:p>
          <a:p>
            <a:r>
              <a:rPr lang="en-US" sz="1200"/>
              <a:t>Explain: The new package Reject outcome is currently unavailable.</a:t>
            </a:r>
          </a:p>
          <a:p>
            <a:r>
              <a:rPr lang="en-US" sz="1200"/>
              <a:t>Source: screenshots/10-review-context.png</a:t>
            </a:r>
          </a:p>
          <a:p>
            <a:r>
              <a:rPr lang="en-US" sz="1200"/>
              <a:t>Limit: This status is local, provisional, or proposed as labeled on the slide; it is not institutional approval or a participant finding.</a:t>
            </a:r>
          </a:p>
          <a:p>
            <a:r>
              <a:rPr lang="en-US" sz="1200"/>
              <a:t>Transition: Completion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Point: After review, the Coordinator selects the approved package and records a rationale.</a:t>
            </a:r>
          </a:p>
          <a:p>
            <a:r>
              <a:rPr lang="en-US" sz="1200"/>
              <a:t>Explain: The requirement becomes Complete only after this step.</a:t>
            </a:r>
          </a:p>
          <a:p>
            <a:r>
              <a:rPr lang="en-US" sz="1200"/>
              <a:t>Explain: The history retains the earlier submitted and review records.</a:t>
            </a:r>
          </a:p>
          <a:p>
            <a:r>
              <a:rPr lang="en-US" sz="1200"/>
              <a:t>Source: screenshots/12-certification-dialog.png; screenshots/13-requirement-complete.png</a:t>
            </a:r>
          </a:p>
          <a:p>
            <a:r>
              <a:rPr lang="en-US" sz="1200"/>
              <a:t>Limit: This status is local, provisional, or proposed as labeled on the slide; it is not institutional approval or a participant finding.</a:t>
            </a:r>
          </a:p>
          <a:p>
            <a:r>
              <a:rPr lang="en-US" sz="1200"/>
              <a:t>Transition: Dashboard after certification.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Point: One of eight fictional requirements is complete: 12.5% internal readiness.</a:t>
            </a:r>
          </a:p>
          <a:p>
            <a:r>
              <a:rPr lang="en-US" sz="1200"/>
              <a:t>Explain: The calculation matches the report’s unfiltered cycle population.</a:t>
            </a:r>
          </a:p>
          <a:p>
            <a:r>
              <a:rPr lang="en-US" sz="1200"/>
              <a:t>Explain: This figure is a demo result, not an institutional accreditation rating.</a:t>
            </a:r>
          </a:p>
          <a:p>
            <a:r>
              <a:rPr lang="en-US" sz="1200"/>
              <a:t>Source: screenshots/14-dashboard-after.png</a:t>
            </a:r>
          </a:p>
          <a:p>
            <a:r>
              <a:rPr lang="en-US" sz="1200"/>
              <a:t>Limit: This status is local, provisional, or proposed as labeled on the slide; it is not institutional approval or a participant finding.</a:t>
            </a:r>
          </a:p>
          <a:p>
            <a:r>
              <a:rPr lang="en-US" sz="1200"/>
              <a:t>Transition: Reports and provenance.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Point: The report states its cycle, instrument, scope, population, formula version, and calculation time.</a:t>
            </a:r>
          </a:p>
          <a:p>
            <a:r>
              <a:rPr lang="en-US" sz="1200"/>
              <a:t>Explain: The captured fictional report shows 1 / 8 = 12.5%.</a:t>
            </a:r>
          </a:p>
          <a:p>
            <a:r>
              <a:rPr lang="en-US" sz="1200"/>
              <a:t>Explain: Area/status filters, print output, and formula-safe CSV are available.</a:t>
            </a:r>
          </a:p>
          <a:p>
            <a:r>
              <a:rPr lang="en-US" sz="1200"/>
              <a:t>Source: screenshots/15-compliance-report.png; docs/API.md</a:t>
            </a:r>
          </a:p>
          <a:p>
            <a:r>
              <a:rPr lang="en-US" sz="1200"/>
              <a:t>Limit: This status is local, provisional, or proposed as labeled on the slide; it is not institutional approval or a participant finding.</a:t>
            </a:r>
          </a:p>
          <a:p>
            <a:r>
              <a:rPr lang="en-US" sz="1200"/>
              <a:t>Transition: Search, audit, and Viewer boundary.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Point: Search returns only authorized metadata; audit records actions with scoped access.</a:t>
            </a:r>
          </a:p>
          <a:p>
            <a:r>
              <a:rPr lang="en-US" sz="1200"/>
              <a:t>Explain: The Viewer can access approved evidence but cannot retrieve package history.</a:t>
            </a:r>
          </a:p>
          <a:p>
            <a:r>
              <a:rPr lang="en-US" sz="1200"/>
              <a:t>Explain: A direct Viewer request for the demo package returned HTTP 404 in the local capture.</a:t>
            </a:r>
          </a:p>
          <a:p>
            <a:r>
              <a:rPr lang="en-US" sz="1200"/>
              <a:t>Source: screenshots/16-scoped-search.png; screenshots/17-audit-trail.png; screenshots/19-scoped-denial.png</a:t>
            </a:r>
          </a:p>
          <a:p>
            <a:r>
              <a:rPr lang="en-US" sz="1200"/>
              <a:t>Limit: This status is local, provisional, or proposed as labeled on the slide; it is not institutional approval or a participant finding.</a:t>
            </a:r>
          </a:p>
          <a:p>
            <a:r>
              <a:rPr lang="en-US" sz="1200"/>
              <a:t>Transition: Security boundaries.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Point: Local controls cover login, sessions, CSRF, scoped queries, protected files, and audit history.</a:t>
            </a:r>
          </a:p>
          <a:p>
            <a:r>
              <a:rPr lang="en-US" sz="1200"/>
              <a:t>Explain: New accounts and grants require separate named operations and reasons.</a:t>
            </a:r>
          </a:p>
          <a:p>
            <a:r>
              <a:rPr lang="en-US" sz="1200"/>
              <a:t>Explain: Recovery email stays disabled until school SMTP and HTTPS settings are approved.</a:t>
            </a:r>
          </a:p>
          <a:p>
            <a:r>
              <a:rPr lang="en-US" sz="1200"/>
              <a:t>Explain: Target proxy, networks, scanner, retention, and restore checks remain open.</a:t>
            </a:r>
          </a:p>
          <a:p>
            <a:r>
              <a:rPr lang="en-US" sz="1200"/>
              <a:t>Source: README.md; docs/DEPLOYMENT.md; docs/PROGRESS.md</a:t>
            </a:r>
          </a:p>
          <a:p>
            <a:r>
              <a:rPr lang="en-US" sz="1200"/>
              <a:t>Limit: This status is local, provisional, or proposed as labeled on the slide; it is not institutional approval or a participant finding.</a:t>
            </a:r>
          </a:p>
          <a:p>
            <a:r>
              <a:rPr lang="en-US" sz="1200"/>
              <a:t>Transition: Accessibility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Point: Shared dialogs, navigation, focus behavior, contrast, and named compliance meters received focused checks.</a:t>
            </a:r>
          </a:p>
          <a:p>
            <a:r>
              <a:rPr lang="en-US" sz="1200"/>
              <a:t>Explain: Keyboard dialog behavior and mobile navigation were tested locally.</a:t>
            </a:r>
          </a:p>
          <a:p>
            <a:r>
              <a:rPr lang="en-US" sz="1200"/>
              <a:t>Explain: This does not claim a complete accessibility certification or replace screen-reader evaluation.</a:t>
            </a:r>
          </a:p>
          <a:p>
            <a:r>
              <a:rPr lang="en-US" sz="1200"/>
              <a:t>Source: docs/PROGRESS.md, F24 checkpoint; frontend/e2e/accessibility-core.spec.ts</a:t>
            </a:r>
          </a:p>
          <a:p>
            <a:r>
              <a:rPr lang="en-US" sz="1200"/>
              <a:t>Limit: This status is local, provisional, or proposed as labeled on the slide; it is not institutional approval or a participant finding.</a:t>
            </a:r>
          </a:p>
          <a:p>
            <a:r>
              <a:rPr lang="en-US" sz="1200"/>
              <a:t>Transition: Current verification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Point: Tests and the demo rehearsal provide dated local evidence for this checkout.</a:t>
            </a:r>
          </a:p>
          <a:p>
            <a:r>
              <a:rPr lang="en-US" sz="1200"/>
              <a:t>Explain: Django system check and migration dry run: passed.</a:t>
            </a:r>
          </a:p>
          <a:p>
            <a:r>
              <a:rPr lang="en-US" sz="1200"/>
              <a:t>Explain: Frontend TypeScript/Vite build: record current result in the evidence sheet.</a:t>
            </a:r>
          </a:p>
          <a:p>
            <a:r>
              <a:rPr lang="en-US" sz="1200"/>
              <a:t>Explain: Backend PostgreSQL suite: record current count and result in the evidence sheet.</a:t>
            </a:r>
          </a:p>
          <a:p>
            <a:r>
              <a:rPr lang="en-US" sz="1200"/>
              <a:t>Explain: The fictional browser capture completed the full role handoff and Viewer denial.</a:t>
            </a:r>
          </a:p>
          <a:p>
            <a:r>
              <a:rPr lang="en-US" sz="1200"/>
              <a:t>Source: docs/course-presentation/EVIDENCE.md</a:t>
            </a:r>
          </a:p>
          <a:p>
            <a:r>
              <a:rPr lang="en-US" sz="1200"/>
              <a:t>Limit: Do not convert a local test pass into School IT target acceptance.</a:t>
            </a:r>
          </a:p>
          <a:p>
            <a:r>
              <a:rPr lang="en-US" sz="1200"/>
              <a:t>Transition: Evaluation protocol.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Point: The thesis packet defines repeatable tasks but contains no participant results.</a:t>
            </a:r>
          </a:p>
          <a:p>
            <a:r>
              <a:rPr lang="en-US" sz="1200"/>
              <a:t>Explain: Retrieve an approved version and identify missing work.</a:t>
            </a:r>
          </a:p>
          <a:p>
            <a:r>
              <a:rPr lang="en-US" sz="1200"/>
              <a:t>Explain: Submit/review fictional evidence and certify completion.</a:t>
            </a:r>
          </a:p>
          <a:p>
            <a:r>
              <a:rPr lang="en-US" sz="1200"/>
              <a:t>Explain: Record elapsed time, success, errors, help needed, and participant feedback.</a:t>
            </a:r>
          </a:p>
          <a:p>
            <a:r>
              <a:rPr lang="en-US" sz="1200"/>
              <a:t>Explain: Use consent and anonymous participant codes before any study.</a:t>
            </a:r>
          </a:p>
          <a:p>
            <a:r>
              <a:rPr lang="en-US" sz="1200"/>
              <a:t>Source: docs/THESIS_EVALUATION.md</a:t>
            </a:r>
          </a:p>
          <a:p>
            <a:r>
              <a:rPr lang="en-US" sz="1200"/>
              <a:t>Limit: This status is local, provisional, or proposed as labeled on the slide; it is not institutional approval or a participant finding.</a:t>
            </a:r>
          </a:p>
          <a:p>
            <a:r>
              <a:rPr lang="en-US" sz="1200"/>
              <a:t>Transition: Results and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Point: Observed participant outcomes and target operations remain pending.</a:t>
            </a:r>
          </a:p>
          <a:p>
            <a:r>
              <a:rPr lang="en-US" sz="1200"/>
              <a:t>Explain: No usability sample size, comparison timing, or participant scores have been collected.</a:t>
            </a:r>
          </a:p>
          <a:p>
            <a:r>
              <a:rPr lang="en-US" sz="1200"/>
              <a:t>Explain: No real institutional evidence, official instrument, or School IT server has been verified here.</a:t>
            </a:r>
          </a:p>
          <a:p>
            <a:r>
              <a:rPr lang="en-US" sz="1200"/>
              <a:t>Explain: Performance and scalability are design goals until measured against an approved capacity target.</a:t>
            </a:r>
          </a:p>
          <a:p>
            <a:r>
              <a:rPr lang="en-US" sz="1200"/>
              <a:t>Source: docs/THESIS_EVALUATION.md; docs/PROGRESS.md</a:t>
            </a:r>
          </a:p>
          <a:p>
            <a:r>
              <a:rPr lang="en-US" sz="1200"/>
              <a:t>Limit: This status is local, provisional, or proposed as labeled on the slide; it is not institutional approval or a participant finding.</a:t>
            </a:r>
          </a:p>
          <a:p>
            <a:r>
              <a:rPr lang="en-US" sz="1200"/>
              <a:t>Transition: Institution-owned hosting intent.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Point: The source presentation proposes a school-owned, on-premises private-cloud model.</a:t>
            </a:r>
          </a:p>
          <a:p>
            <a:r>
              <a:rPr lang="en-US" sz="1200"/>
              <a:t>Explain: A Linux reference uses Nginx, Gunicorn, Django, PostgreSQL, and protected evidence storage.</a:t>
            </a:r>
          </a:p>
          <a:p>
            <a:r>
              <a:rPr lang="en-US" sz="1200"/>
              <a:t>Explain: Actual server, proxy, networks, TLS, service owner, and private-cloud characteristics require School IT confirmation.</a:t>
            </a:r>
          </a:p>
          <a:p>
            <a:r>
              <a:rPr lang="en-US" sz="1200"/>
              <a:t>Explain: The course demo runs only on the presenter’s loopback Windows laptop.</a:t>
            </a:r>
          </a:p>
          <a:p>
            <a:r>
              <a:rPr lang="en-US" sz="1200"/>
              <a:t>Source: Source presentation, slide 4; docs/DEPLOYMENT.md; decision D18</a:t>
            </a:r>
          </a:p>
          <a:p>
            <a:r>
              <a:rPr lang="en-US" sz="1200"/>
              <a:t>Limit: This status is local, provisional, or proposed as labeled on the slide; it is not institutional approval or a participant finding.</a:t>
            </a:r>
          </a:p>
          <a:p>
            <a:r>
              <a:rPr lang="en-US" sz="1200"/>
              <a:t>Transition: Backup and recovery.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Point: The repository contains backup, archive verification, and restore procedures.</a:t>
            </a:r>
          </a:p>
          <a:p>
            <a:r>
              <a:rPr lang="en-US" sz="1200"/>
              <a:t>Explain: A recoverable set includes database, evidence bytes, and required configuration.</a:t>
            </a:r>
          </a:p>
          <a:p>
            <a:r>
              <a:rPr lang="en-US" sz="1200"/>
              <a:t>Explain: A separate-environment rehearsal must prove file and history restoration on the target.</a:t>
            </a:r>
          </a:p>
          <a:p>
            <a:r>
              <a:rPr lang="en-US" sz="1200"/>
              <a:t>Explain: School IT must choose operators, backup destinations, retention, and recovery targets.</a:t>
            </a:r>
          </a:p>
          <a:p>
            <a:r>
              <a:rPr lang="en-US" sz="1200"/>
              <a:t>Source: docs/RESTORE.md; docs/RELEASE_CHECKLIST.md; decision D19</a:t>
            </a:r>
          </a:p>
          <a:p>
            <a:r>
              <a:rPr lang="en-US" sz="1200"/>
              <a:t>Limit: This status is local, provisional, or proposed as labeled on the slide; it is not institutional approval or a participant finding.</a:t>
            </a:r>
          </a:p>
          <a:p>
            <a:r>
              <a:rPr lang="en-US" sz="1200"/>
              <a:t>Transition: Sustainable development alignment.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Point: The project proposes contributions to education and institutional recordkeeping.</a:t>
            </a:r>
          </a:p>
          <a:p>
            <a:r>
              <a:rPr lang="en-US" sz="1200"/>
              <a:t>Explain: SDG 4: supports quality assurance preparation through organized evidence.</a:t>
            </a:r>
          </a:p>
          <a:p>
            <a:r>
              <a:rPr lang="en-US" sz="1200"/>
              <a:t>Explain: SDG 9: applies digital infrastructure to institutional workflows.</a:t>
            </a:r>
          </a:p>
          <a:p>
            <a:r>
              <a:rPr lang="en-US" sz="1200"/>
              <a:t>Explain: SDG 16: supports traceable decisions and records.</a:t>
            </a:r>
          </a:p>
          <a:p>
            <a:r>
              <a:rPr lang="en-US" sz="1200"/>
              <a:t>Explain: These are intended alignments, not measured SDG outcomes.</a:t>
            </a:r>
          </a:p>
          <a:p>
            <a:r>
              <a:rPr lang="en-US" sz="1200"/>
              <a:t>Source: Source presentation, slide 9</a:t>
            </a:r>
          </a:p>
          <a:p>
            <a:r>
              <a:rPr lang="en-US" sz="1200"/>
              <a:t>Limit: This status is local, provisional, or proposed as labeled on the slide; it is not institutional approval or a participant finding.</a:t>
            </a:r>
          </a:p>
          <a:p>
            <a:r>
              <a:rPr lang="en-US" sz="1200"/>
              <a:t>Transition: Next work after the class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Point: The class package documents what works locally and what remains for institutional use.</a:t>
            </a:r>
          </a:p>
          <a:p>
            <a:r>
              <a:rPr lang="en-US" sz="1200"/>
              <a:t>Explain: Gather real evaluation results under the school’s research rules.</a:t>
            </a:r>
          </a:p>
          <a:p>
            <a:r>
              <a:rPr lang="en-US" sz="1200"/>
              <a:t>Explain: Approve instrument, roles, file policy, and the D16 version 1 baseline.</a:t>
            </a:r>
          </a:p>
          <a:p>
            <a:r>
              <a:rPr lang="en-US" sz="1200"/>
              <a:t>Explain: School IT must verify target scanning, HTTPS/proxy, capacity, backup, and restore.</a:t>
            </a:r>
          </a:p>
          <a:p>
            <a:r>
              <a:rPr lang="en-US" sz="1200"/>
              <a:t>Explain: Keep real-evidence intake and production acceptance pending until those gates close.</a:t>
            </a:r>
          </a:p>
          <a:p>
            <a:r>
              <a:rPr lang="en-US" sz="1200"/>
              <a:t>Source: docs/PROGRESS.md; docs/PRODUCTION_ACCEPTANCE_DECISION_REGISTER.md</a:t>
            </a:r>
          </a:p>
          <a:p>
            <a:r>
              <a:rPr lang="en-US" sz="1200"/>
              <a:t>Limit: This status is local, provisional, or proposed as labeled on the slide; it is not institutional approval or a participant finding.</a:t>
            </a:r>
          </a:p>
          <a:p>
            <a:r>
              <a:rPr lang="en-US" sz="1200"/>
              <a:t>Transition: MC Accreditation Hub.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Point: Organized requirements, exact evidence versions, deliberate review, and traceable internal readiness.</a:t>
            </a:r>
          </a:p>
          <a:p>
            <a:r>
              <a:rPr lang="en-US" sz="1200"/>
              <a:t>Explain: Working fictional local demonstration.</a:t>
            </a:r>
          </a:p>
          <a:p>
            <a:r>
              <a:rPr lang="en-US" sz="1200"/>
              <a:t>Explain: School deployment and institutional approval remain future work.</a:t>
            </a:r>
          </a:p>
          <a:p>
            <a:r>
              <a:rPr lang="en-US" sz="1200"/>
              <a:t>Explain: Questions and discussion</a:t>
            </a:r>
          </a:p>
          <a:p>
            <a:r>
              <a:rPr lang="en-US" sz="1200"/>
              <a:t>Source: Source presentation, slide 11; README.md</a:t>
            </a:r>
          </a:p>
          <a:p>
            <a:r>
              <a:rPr lang="en-US" sz="1200"/>
              <a:t>Limit: This status is local, provisional, or proposed as labeled on the slide; it is not institutional approval or a participant finding.</a:t>
            </a:r>
          </a:p>
          <a:p>
            <a:r>
              <a:rPr lang="en-US" sz="1200"/>
              <a:t>Transition: Role and access matrix.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Point: Product roles are additive only inside explicit cycle/area grants.</a:t>
            </a:r>
          </a:p>
          <a:p>
            <a:r>
              <a:rPr lang="en-US" sz="1200"/>
              <a:t>Explain: Role | Draft | Submitted | Approved | Other authority</a:t>
            </a:r>
          </a:p>
          <a:p>
            <a:r>
              <a:rPr lang="en-US" sz="1200"/>
              <a:t>Explain: Coordinator | Read/manage in grant | Read/review in grant | Read/download in grant | Certifies; cycle-wide grant for lifecycle</a:t>
            </a:r>
          </a:p>
          <a:p>
            <a:r>
              <a:rPr lang="en-US" sz="1200"/>
              <a:t>Explain: Reviewer | Hidden | Read/review in area | Read/download in area | No self-review</a:t>
            </a:r>
          </a:p>
          <a:p>
            <a:r>
              <a:rPr lang="en-US" sz="1200"/>
              <a:t>Explain: Custodian | Own work | Own submission | Shared approved | Assigned upload/map/submit</a:t>
            </a:r>
          </a:p>
          <a:p>
            <a:r>
              <a:rPr lang="en-US" sz="1200"/>
              <a:t>Explain: Viewer | Hidden | Hidden | Read/download in grant | No package history</a:t>
            </a:r>
          </a:p>
          <a:p>
            <a:r>
              <a:rPr lang="en-US" sz="1200"/>
              <a:t>Explain: Administrator | No implicit access | No implicit access | No implicit access | Account label only; separate operators</a:t>
            </a:r>
          </a:p>
          <a:p>
            <a:r>
              <a:rPr lang="en-US" sz="1200"/>
              <a:t>Source: backend/hub/access.py; docs/PRODUCTION_ACCEPTANCE_DECISION_REGISTER.md</a:t>
            </a:r>
          </a:p>
          <a:p>
            <a:r>
              <a:rPr lang="en-US" sz="1200"/>
              <a:t>Limit: This status is local, provisional, or proposed as labeled on the slide; it is not institutional approval or a participant finding.</a:t>
            </a:r>
          </a:p>
          <a:p>
            <a:r>
              <a:rPr lang="en-US" sz="1200"/>
              <a:t>Transition: Workflow state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Point: A package decision and a completion certification are distinct records.</a:t>
            </a:r>
          </a:p>
          <a:p>
            <a:r>
              <a:rPr lang="en-US" sz="1200"/>
              <a:t>Explain: State | Trigger | Meaning | Next action</a:t>
            </a:r>
          </a:p>
          <a:p>
            <a:r>
              <a:rPr lang="en-US" sz="1200"/>
              <a:t>Explain: Draft package | Custodian saves | Selected versions remain editable | Submit</a:t>
            </a:r>
          </a:p>
          <a:p>
            <a:r>
              <a:rPr lang="en-US" sz="1200"/>
              <a:t>Explain: Submitted | Custodian submits | Attempt frozen; For Verification | Reviewer decision</a:t>
            </a:r>
          </a:p>
          <a:p>
            <a:r>
              <a:rPr lang="en-US" sz="1200"/>
              <a:t>Explain: Approved | Reviewer approves | Evidence accepted; not Complete | Coordinator certification</a:t>
            </a:r>
          </a:p>
          <a:p>
            <a:r>
              <a:rPr lang="en-US" sz="1200"/>
              <a:t>Explain: Revisions requested | Reviewer decides | Attempt closed; rationale retained | New draft and resubmit</a:t>
            </a:r>
          </a:p>
          <a:p>
            <a:r>
              <a:rPr lang="en-US" sz="1200"/>
              <a:t>Explain: Withdrawn | Owner withdraws | Attempt closed before decision | New draft</a:t>
            </a:r>
          </a:p>
          <a:p>
            <a:r>
              <a:rPr lang="en-US" sz="1200"/>
              <a:t>Explain: Complete | Coordinator certifies | Rationale and support pinned | Reasoned reopen if needed</a:t>
            </a:r>
          </a:p>
          <a:p>
            <a:r>
              <a:rPr lang="en-US" sz="1200"/>
              <a:t>Source: backend/hub/compliance.py; backend/hub/models.py; decision D07</a:t>
            </a:r>
          </a:p>
          <a:p>
            <a:r>
              <a:rPr lang="en-US" sz="1200"/>
              <a:t>Limit: This status is local, provisional, or proposed as labeled on the slide; it is not institutional approval or a participant finding.</a:t>
            </a:r>
          </a:p>
          <a:p>
            <a:r>
              <a:rPr lang="en-US" sz="1200"/>
              <a:t>Transition: Data and API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Point: The current API is same-origin under /api/ and uses scoped integer and UUID identifiers.</a:t>
            </a:r>
          </a:p>
          <a:p>
            <a:r>
              <a:rPr lang="en-US" sz="1200"/>
              <a:t>Explain: Main entities: User, RoleAssignment, Cycle, Area, Requirement, EvidenceItem, Document, DocumentVersion.</a:t>
            </a:r>
          </a:p>
          <a:p>
            <a:r>
              <a:rPr lang="en-US" sz="1200"/>
              <a:t>Explain: History: PackageAttempt/Item/Decision, RequirementCertification, DocumentScan, AuditEvent.</a:t>
            </a:r>
          </a:p>
          <a:p>
            <a:r>
              <a:rPr lang="en-US" sz="1200"/>
              <a:t>Explain: Django owns permissions and transitions; the browser displays returned capabilities.</a:t>
            </a:r>
          </a:p>
          <a:p>
            <a:r>
              <a:rPr lang="en-US" sz="1200"/>
              <a:t>Explain: API routes and data shapes are documented separately.</a:t>
            </a:r>
          </a:p>
          <a:p>
            <a:r>
              <a:rPr lang="en-US" sz="1200"/>
              <a:t>Source: docs/API.md; backend/hub/models.py; backend/config/urls.py</a:t>
            </a:r>
          </a:p>
          <a:p>
            <a:r>
              <a:rPr lang="en-US" sz="1200"/>
              <a:t>Limit: This status is local, provisional, or proposed as labeled on the slide; it is not institutional approval or a participant finding.</a:t>
            </a:r>
          </a:p>
          <a:p>
            <a:r>
              <a:rPr lang="en-US" sz="1200"/>
              <a:t>Transition: File and scan policy.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Point: Current local validation accepts PDF, DOCX, XLSX, PNG, and JPEG up to 25 MiB.</a:t>
            </a:r>
          </a:p>
          <a:p>
            <a:r>
              <a:rPr lang="en-US" sz="1200"/>
              <a:t>Explain: The application checks file content and bounds archive expansion.</a:t>
            </a:r>
          </a:p>
          <a:p>
            <a:r>
              <a:rPr lang="en-US" sz="1200"/>
              <a:t>Explain: It quarantines unscanned, infected, failed, or checksum-mismatched versions.</a:t>
            </a:r>
          </a:p>
          <a:p>
            <a:r>
              <a:rPr lang="en-US" sz="1200"/>
              <a:t>Explain: The course fixture simulates a clean verdict only for two known fictional PDFs.</a:t>
            </a:r>
          </a:p>
          <a:p>
            <a:r>
              <a:rPr lang="en-US" sz="1200"/>
              <a:t>Explain: Accepted formats, resources, scanner, and records classes still need owner approval.</a:t>
            </a:r>
          </a:p>
          <a:p>
            <a:r>
              <a:rPr lang="en-US" sz="1200"/>
              <a:t>Source: README.md; backend/hub/files.py; backend/hub/scanning.py; decisions D10–D12</a:t>
            </a:r>
          </a:p>
          <a:p>
            <a:r>
              <a:rPr lang="en-US" sz="1200"/>
              <a:t>Limit: This status is local, provisional, or proposed as labeled on the slide; it is not institutional approval or a participant finding.</a:t>
            </a:r>
          </a:p>
          <a:p>
            <a:r>
              <a:rPr lang="en-US" sz="1200"/>
              <a:t>Transition: Report calculation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Point: Readiness and filtered row count answer different questions.</a:t>
            </a:r>
          </a:p>
          <a:p>
            <a:r>
              <a:rPr lang="en-US" sz="1200"/>
              <a:t>Explain: Numerator: complete active applicable non-archived requirements in the selected authorized cycle/area.</a:t>
            </a:r>
          </a:p>
          <a:p>
            <a:r>
              <a:rPr lang="en-US" sz="1200"/>
              <a:t>Explain: Denominator: all active applicable non-archived requirements in that population.</a:t>
            </a:r>
          </a:p>
          <a:p>
            <a:r>
              <a:rPr lang="en-US" sz="1200"/>
              <a:t>Explain: Status filters affect rows only; JSON, CSV, and print state the provenance.</a:t>
            </a:r>
          </a:p>
          <a:p>
            <a:r>
              <a:rPr lang="en-US" sz="1200"/>
              <a:t>Explain: Fictional demo: 1 / 8 = 12.5%. The source deck’s 94 / 120 would equal 78.3%, not 87%.</a:t>
            </a:r>
          </a:p>
          <a:p>
            <a:r>
              <a:rPr lang="en-US" sz="1200"/>
              <a:t>Source: backend/hub/compliance.py; docs/API.md; source presentation, slide 7</a:t>
            </a:r>
          </a:p>
          <a:p>
            <a:r>
              <a:rPr lang="en-US" sz="1200"/>
              <a:t>Limit: This status is local, provisional, or proposed as labeled on the slide; it is not institutional approval or a participant finding.</a:t>
            </a:r>
          </a:p>
          <a:p>
            <a:r>
              <a:rPr lang="en-US" sz="1200"/>
              <a:t>Transition: Test and screenshot inventory.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Point: Current test outputs belong in the evidence sheet with date, checkout, and environment.</a:t>
            </a:r>
          </a:p>
          <a:p>
            <a:r>
              <a:rPr lang="en-US" sz="1200"/>
              <a:t>Explain: Backend: workflow, permissions, scan quarantine, audit, and reporting checks.</a:t>
            </a:r>
          </a:p>
          <a:p>
            <a:r>
              <a:rPr lang="en-US" sz="1200"/>
              <a:t>Explain: Frontend: TypeScript/Vite build and isolated browser workflows.</a:t>
            </a:r>
          </a:p>
          <a:p>
            <a:r>
              <a:rPr lang="en-US" sz="1200"/>
              <a:t>Explain: Course capture: 19 viewport screenshots plus full-page copies, all fictional.</a:t>
            </a:r>
          </a:p>
          <a:p>
            <a:r>
              <a:rPr lang="en-US" sz="1200"/>
              <a:t>Explain: The local checks do not substitute for a school HTTPS or restore rehearsal.</a:t>
            </a:r>
          </a:p>
          <a:p>
            <a:r>
              <a:rPr lang="en-US" sz="1200"/>
              <a:t>Source: docs/course-presentation/EVIDENCE.md; frontend/course-demo-capture.mjs</a:t>
            </a:r>
          </a:p>
          <a:p>
            <a:r>
              <a:rPr lang="en-US" sz="1200"/>
              <a:t>Limit: This status is local, provisional, or proposed as labeled on the slide; it is not institutional approval or a participant finding.</a:t>
            </a:r>
          </a:p>
          <a:p>
            <a:r>
              <a:rPr lang="en-US" sz="1200"/>
              <a:t>Transition: Participant evaluation worksheet.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Point: Use comparable tasks and record actual results after consent.</a:t>
            </a:r>
          </a:p>
          <a:p>
            <a:r>
              <a:rPr lang="en-US" sz="1200"/>
              <a:t>Explain: Participant code, role, date, and environment.</a:t>
            </a:r>
          </a:p>
          <a:p>
            <a:r>
              <a:rPr lang="en-US" sz="1200"/>
              <a:t>Explain: Task success, time, errors, assistance, and observed feedback.</a:t>
            </a:r>
          </a:p>
          <a:p>
            <a:r>
              <a:rPr lang="en-US" sz="1200"/>
              <a:t>Explain: Compare like-for-like baseline and Hub tasks; report sample size and exclusions.</a:t>
            </a:r>
          </a:p>
          <a:p>
            <a:r>
              <a:rPr lang="en-US" sz="1200"/>
              <a:t>Explain: No participant findings have been supplied for this deck.</a:t>
            </a:r>
          </a:p>
          <a:p>
            <a:r>
              <a:rPr lang="en-US" sz="1200"/>
              <a:t>Source: docs/THESIS_EVALUATION.md</a:t>
            </a:r>
          </a:p>
          <a:p>
            <a:r>
              <a:rPr lang="en-US" sz="1200"/>
              <a:t>Limit: This status is local, provisional, or proposed as labeled on the slide; it is not institutional approval or a participant finding.</a:t>
            </a:r>
          </a:p>
          <a:p>
            <a:r>
              <a:rPr lang="en-US" sz="1200"/>
              <a:t>Transition: Deployment and recovery gates.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Point: Real evidence requires more than a working local application.</a:t>
            </a:r>
          </a:p>
          <a:p>
            <a:r>
              <a:rPr lang="en-US" sz="1200"/>
              <a:t>Explain: D11 scanner and D12 records handling must be approved and verified.</a:t>
            </a:r>
          </a:p>
          <a:p>
            <a:r>
              <a:rPr lang="en-US" sz="1200"/>
              <a:t>Explain: D18 network/admin boundary, D19 backup/restore, D20 capacity/operations, and D22 acceptance require School IT evidence.</a:t>
            </a:r>
          </a:p>
          <a:p>
            <a:r>
              <a:rPr lang="en-US" sz="1200"/>
              <a:t>Explain: A synthetic browser test or archive checksum does not establish target acceptance.</a:t>
            </a:r>
          </a:p>
          <a:p>
            <a:r>
              <a:rPr lang="en-US" sz="1200"/>
              <a:t>Source: docs/RELEASE_CHECKLIST.md; docs/PRODUCTION_ACCEPTANCE_DECISION_REGISTER.md</a:t>
            </a:r>
          </a:p>
          <a:p>
            <a:r>
              <a:rPr lang="en-US" sz="1200"/>
              <a:t>Limit: This status is local, provisional, or proposed as labeled on the slide; it is not institutional approval or a participant finding.</a:t>
            </a:r>
          </a:p>
          <a:p>
            <a:r>
              <a:rPr lang="en-US" sz="1200"/>
              <a:t>Transition: Corrections to the source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Point: The presentation’s 11 slides supply the project concept; this course deck reports actual local behavior.</a:t>
            </a:r>
          </a:p>
          <a:p>
            <a:r>
              <a:rPr lang="en-US" sz="1200"/>
              <a:t>Explain: Slide 5 mentions Reject; new package Reject is unavailable pending an Academic Owner rule.</a:t>
            </a:r>
          </a:p>
          <a:p>
            <a:r>
              <a:rPr lang="en-US" sz="1200"/>
              <a:t>Explain: Slide 6 says Coordinator review; the implementation separates Reviewer approval and Coordinator certification.</a:t>
            </a:r>
          </a:p>
          <a:p>
            <a:r>
              <a:rPr lang="en-US" sz="1200"/>
              <a:t>Explain: Slide 7 shows 87% with 94 of 120 complete; that fraction is 78.3%.</a:t>
            </a:r>
          </a:p>
          <a:p>
            <a:r>
              <a:rPr lang="en-US" sz="1200"/>
              <a:t>Explain: Slide 4 describes private cloud; school infrastructure has not been verified.</a:t>
            </a:r>
          </a:p>
          <a:p>
            <a:r>
              <a:rPr lang="en-US" sz="1200"/>
              <a:t>Source: docs/MC_Accreditation_Hub.pptx; docs/PROGRESS.md</a:t>
            </a:r>
          </a:p>
          <a:p>
            <a:r>
              <a:rPr lang="en-US" sz="1200"/>
              <a:t>Limit: This status is local, provisional, or proposed as labeled on the slide; it is not institutional approval or a participant finding.</a:t>
            </a:r>
          </a:p>
          <a:p>
            <a:r>
              <a:rPr lang="en-US" sz="1200"/>
              <a:t>Transition: Decisions D01–D05.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Point: The selected option remains provisional until every listed owner records approval evidence.</a:t>
            </a:r>
          </a:p>
          <a:p>
            <a:r>
              <a:rPr lang="en-US" sz="1200"/>
              <a:t>Explain: D01  Cycle-wide authority  |  Provisional A  |  Academic Owner; Project Owner  |  Approve whole-cycle delegation and scope. Pilot: lifecycle authority gate.</a:t>
            </a:r>
          </a:p>
          <a:p>
            <a:r>
              <a:rPr lang="en-US" sz="1200"/>
              <a:t>Explain: D02  Evidence visibility  |  Provisional A  |  Security/Records; Academic Owner  |  Approve draft/history/file boundaries. Real evidence: visibility gate.</a:t>
            </a:r>
          </a:p>
          <a:p>
            <a:r>
              <a:rPr lang="en-US" sz="1200"/>
              <a:t>Explain: D03  Sharing boundary  |  Provisional A  |  Security/Records; Academic Owner  |  Approve cross-scope and legacy retrieval. Real evidence: sharing/search gate.</a:t>
            </a:r>
          </a:p>
          <a:p>
            <a:r>
              <a:rPr lang="en-US" sz="1200"/>
              <a:t>Explain: D04  Assignments/stewards  |  Provisional A  |  Academic Owner; Project Owner  |  Approve contributor and exception model. Real evidence: assignment gate.</a:t>
            </a:r>
          </a:p>
          <a:p>
            <a:r>
              <a:rPr lang="en-US" sz="1200"/>
              <a:t>Explain: D05  Pinned certification  |  Provisional A  |  Academic Owner; Security/Records  |  Approve exact support and legacy treatment. Pilot: certification support gate.</a:t>
            </a:r>
          </a:p>
          <a:p>
            <a:r>
              <a:rPr lang="en-US" sz="1200"/>
              <a:t>Source: docs/PRODUCTION_ACCEPTANCE_DECISION_REGISTER.md</a:t>
            </a:r>
          </a:p>
          <a:p>
            <a:r>
              <a:rPr lang="en-US" sz="1200"/>
              <a:t>Limit: This status is local, provisional, or proposed as labeled on the slide; it is not institutional approval or a participant finding.</a:t>
            </a:r>
          </a:p>
          <a:p>
            <a:r>
              <a:rPr lang="en-US" sz="1200"/>
              <a:t>Transition: Decisions D06–D10.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Point: The selected option remains provisional until every listed owner records approval evidence.</a:t>
            </a:r>
          </a:p>
          <a:p>
            <a:r>
              <a:rPr lang="en-US" sz="1200"/>
              <a:t>Explain: D06  Criteria/applicability  |  Provisional A  |  Academic Owner; Security/Records  |  Approve reopen and decision history. Pilot: criteria history gate.</a:t>
            </a:r>
          </a:p>
          <a:p>
            <a:r>
              <a:rPr lang="en-US" sz="1200"/>
              <a:t>Explain: D07  Package workflow  |  Provisional A  |  Academic Owner  |  Approve states and separate Reject rule. Pilot: package/review gate.</a:t>
            </a:r>
          </a:p>
          <a:p>
            <a:r>
              <a:rPr lang="en-US" sz="1200"/>
              <a:t>Explain: D08  Validity/expiry  |  Pending  |  Academic Owner; Security/Records  |  Choose warning or eligibility effect. Pilot: validity rule gate.</a:t>
            </a:r>
          </a:p>
          <a:p>
            <a:r>
              <a:rPr lang="en-US" sz="1200"/>
              <a:t>Explain: D09  Audit access  |  Provisional A  |  Security/Records; IT; Academic Owner  |  Approve readers, fields, preservation. Real evidence: audit access gate.</a:t>
            </a:r>
          </a:p>
          <a:p>
            <a:r>
              <a:rPr lang="en-US" sz="1200"/>
              <a:t>Explain: D10  Formats/limits  |  Pending  |  Academic Owner; IT; Security/Records  |  Approve type, byte limit, target bounds. Real evidence: file policy gate.</a:t>
            </a:r>
          </a:p>
          <a:p>
            <a:r>
              <a:rPr lang="en-US" sz="1200"/>
              <a:t>Source: docs/PRODUCTION_ACCEPTANCE_DECISION_REGISTER.md</a:t>
            </a:r>
          </a:p>
          <a:p>
            <a:r>
              <a:rPr lang="en-US" sz="1200"/>
              <a:t>Limit: This status is local, provisional, or proposed as labeled on the slide; it is not institutional approval or a participant finding.</a:t>
            </a:r>
          </a:p>
          <a:p>
            <a:r>
              <a:rPr lang="en-US" sz="1200"/>
              <a:t>Transition: Decisions D11–D15.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Point: The selected option remains provisional until every listed owner records approval evidence.</a:t>
            </a:r>
          </a:p>
          <a:p>
            <a:r>
              <a:rPr lang="en-US" sz="1200"/>
              <a:t>Explain: D11  Malware scanning  |  Pending  |  Security/Records; IT  |  Approve scanner and target failure tests. Real evidence: approved scan required.</a:t>
            </a:r>
          </a:p>
          <a:p>
            <a:r>
              <a:rPr lang="en-US" sz="1200"/>
              <a:t>Explain: D12  Records schedule  |  Pending  |  Security/Records; IT; Academic Owner  |  Approve classes, retention, holds, disposal. Real evidence: records control required.</a:t>
            </a:r>
          </a:p>
          <a:p>
            <a:r>
              <a:rPr lang="en-US" sz="1200"/>
              <a:t>Explain: D13  Overdue rule  |  Pending  |  Academic Owner; Project Owner  |  Approve deadline and Manila boundary. Pilot: overdue semantics gate.</a:t>
            </a:r>
          </a:p>
          <a:p>
            <a:r>
              <a:rPr lang="en-US" sz="1200"/>
              <a:t>Explain: D14  Archive lifecycle  |  Pending  |  Project; Academic; Security/Records  |  Approve transitions and preservation. Pilot: archive lifecycle gate.</a:t>
            </a:r>
          </a:p>
          <a:p>
            <a:r>
              <a:rPr lang="en-US" sz="1200"/>
              <a:t>Explain: D15  Launch administration  |  Pending  |  Project; IT; Academic Owner  |  Approve separate named operators. Pilot: named operators gate.</a:t>
            </a:r>
          </a:p>
          <a:p>
            <a:r>
              <a:rPr lang="en-US" sz="1200"/>
              <a:t>Source: docs/PRODUCTION_ACCEPTANCE_DECISION_REGISTER.md</a:t>
            </a:r>
          </a:p>
          <a:p>
            <a:r>
              <a:rPr lang="en-US" sz="1200"/>
              <a:t>Limit: This status is local, provisional, or proposed as labeled on the slide; it is not institutional approval or a participant finding.</a:t>
            </a:r>
          </a:p>
          <a:p>
            <a:r>
              <a:rPr lang="en-US" sz="1200"/>
              <a:t>Transition: Decisions D16–D19.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Point: The selected option remains provisional until every listed owner records approval evidence.</a:t>
            </a:r>
          </a:p>
          <a:p>
            <a:r>
              <a:rPr lang="en-US" sz="1200"/>
              <a:t>Explain: D16  Version 1 baseline  |  Pending  |  Project; Academic; IT; Security/Records  |  Resolve D01–D15 before ratification. Pilot: no version 1 baseline yet.</a:t>
            </a:r>
          </a:p>
          <a:p>
            <a:r>
              <a:rPr lang="en-US" sz="1200"/>
              <a:t>Explain: D17  Account recovery  |  Provisional A  |  IT; Security/Records  |  Approve assisted recovery procedure. Pilot: recovery procedure gate.</a:t>
            </a:r>
          </a:p>
          <a:p>
            <a:r>
              <a:rPr lang="en-US" sz="1200"/>
              <a:t>Explain: D18  Network/admin access  |  Provisional test A  |  IT; Security/Records  |  Supply actual proxy, TLS, admin networks. Pilot: target network test required.</a:t>
            </a:r>
          </a:p>
          <a:p>
            <a:r>
              <a:rPr lang="en-US" sz="1200"/>
              <a:t>Explain: D19  Backup/recovery  |  Pending  |  IT; Security/Records  |  Assign target, operators, RPO/RTO, restore. Pilot: target restore proof required.</a:t>
            </a:r>
          </a:p>
          <a:p>
            <a:r>
              <a:rPr lang="en-US" sz="1200"/>
              <a:t>Source: docs/PRODUCTION_ACCEPTANCE_DECISION_REGISTER.md</a:t>
            </a:r>
          </a:p>
          <a:p>
            <a:r>
              <a:rPr lang="en-US" sz="1200"/>
              <a:t>Limit: This status is local, provisional, or proposed as labeled on the slide; it is not institutional approval or a participant finding.</a:t>
            </a:r>
          </a:p>
          <a:p>
            <a:r>
              <a:rPr lang="en-US" sz="1200"/>
              <a:t>Transition: Decisions D20–D22.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Point: The selected option remains provisional until every listed owner records approval evidence.</a:t>
            </a:r>
          </a:p>
          <a:p>
            <a:r>
              <a:rPr lang="en-US" sz="1200"/>
              <a:t>Explain: D20  Capacity/operations  |  Pending  |  IT; Project; Security/Records  |  Measure pilot scale and service controls. Pilot: capacity/operations proof required.</a:t>
            </a:r>
          </a:p>
          <a:p>
            <a:r>
              <a:rPr lang="en-US" sz="1200"/>
              <a:t>Explain: D21  Report population  |  Provisional B  |  Academic Owner; Project Owner  |  Ratify filter/readiness behavior. Pilot: report semantics gate.</a:t>
            </a:r>
          </a:p>
          <a:p>
            <a:r>
              <a:rPr lang="en-US" sz="1200"/>
              <a:t>Explain: D22  Acceptance evidence  |  Provisional local B  |  IT; Academic; Project Owner  |  Name target reviewers and record. Pilot: target acceptance record required.</a:t>
            </a:r>
          </a:p>
          <a:p>
            <a:r>
              <a:rPr lang="en-US" sz="1200"/>
              <a:t>Source: docs/PRODUCTION_ACCEPTANCE_DECISION_REGISTER.md</a:t>
            </a:r>
          </a:p>
          <a:p>
            <a:r>
              <a:rPr lang="en-US" sz="1200"/>
              <a:t>Limit: This status is local, provisional, or proposed as labeled on the slide; it is not institutional approval or a participant finding.</a:t>
            </a:r>
          </a:p>
          <a:p>
            <a:r>
              <a:rPr lang="en-US" sz="1200"/>
              <a:t>Transition: Source and reading 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Point: The deck connects the original concept to the current repository and its stated limits.</a:t>
            </a:r>
          </a:p>
          <a:p>
            <a:r>
              <a:rPr lang="en-US" sz="1200"/>
              <a:t>Explain: Source concept: docs/MC_Accreditation_Hub.pptx (11 slides).</a:t>
            </a:r>
          </a:p>
          <a:p>
            <a:r>
              <a:rPr lang="en-US" sz="1200"/>
              <a:t>Explain: Implementation: README.md; docs/API.md; backend/hub; frontend/src.</a:t>
            </a:r>
          </a:p>
          <a:p>
            <a:r>
              <a:rPr lang="en-US" sz="1200"/>
              <a:t>Explain: Verification and demo: docs/PROGRESS.md; course-presentation/EVIDENCE.md; captured screenshots.</a:t>
            </a:r>
          </a:p>
          <a:p>
            <a:r>
              <a:rPr lang="en-US" sz="1200"/>
              <a:t>Explain: Policy and target gates: production decision register, D16 baseline proposal, release checklist.</a:t>
            </a:r>
          </a:p>
          <a:p>
            <a:r>
              <a:rPr lang="en-US" sz="1200"/>
              <a:t>Explain: Evaluation: docs/THESIS_EVALUATION.md.</a:t>
            </a:r>
          </a:p>
          <a:p>
            <a:r>
              <a:rPr lang="en-US" sz="1200"/>
              <a:t>Source: All named local repository sources</a:t>
            </a:r>
          </a:p>
          <a:p>
            <a:r>
              <a:rPr lang="en-US" sz="1200"/>
              <a:t>Limit: This status is local, provisional, or proposed as labeled on the slide; it is not institutional approval or a participant finding.</a:t>
            </a:r>
          </a:p>
          <a:p>
            <a:r>
              <a:rPr lang="en-US" sz="1200"/>
              <a:t>Transition: Questions and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notesSlide" Target="../notesSlides/notesSlide1.xml" /></ns0:Relationships>
</file>

<file path=ppt/slides/_rels/slide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notesSlide" Target="../notesSlides/notesSlide2.xml" /></ns0:Relationships>
</file>

<file path=ppt/slides/_rels/slide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notesSlide" Target="../notesSlides/notesSlide3.xml" /></ns0:Relationships>
</file>

<file path=ppt/slides/_rels/slide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notesSlide" Target="../notesSlides/notesSlide4.xml" /></ns0:Relationships>
</file>

<file path=ppt/slides/_rels/slide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notesSlide" Target="../notesSlides/notesSlide5.xml" /></ns0:Relationships>
</file>

<file path=ppt/slides/_rels/slide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notesSlide" Target="../notesSlides/notesSlide6.xml" /></ns0:Relationships>
</file>

<file path=ppt/slides/_rels/slide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notesSlide" Target="../notesSlides/notesSlide7.xml" /></ns0:Relationships>
</file>

<file path=ppt/slides/_rels/slide8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notesSlide" Target="../notesSlides/notesSlide8.xml" /></ns0:Relationships>
</file>

<file path=ppt/slides/_rels/slide9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notesSlide" Target="../notesSlides/notesSlide9.xml" /></ns0:Relationships>
</file>

<file path=ppt/slides/_rels/slide10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notesSlide" Target="../notesSlides/notesSlide10.xml" /></ns0:Relationships>
</file>

<file path=ppt/slides/_rels/slide1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notesSlide" Target="../notesSlides/notesSlide11.xml" /></ns0:Relationships>
</file>

<file path=ppt/slides/_rels/slide1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notesSlide" Target="../notesSlides/notesSlide12.xml" /></ns0:Relationships>
</file>

<file path=ppt/slides/_rels/slide1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notesSlide" Target="../notesSlides/notesSlide13.xml" /></ns0:Relationships>
</file>

<file path=ppt/slides/_rels/slide1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notesSlide" Target="../notesSlides/notesSlide14.xml" /></ns0:Relationships>
</file>

<file path=ppt/slides/_rels/slide1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notesSlide" Target="../notesSlides/notesSlide15.xml" /></ns0:Relationships>
</file>

<file path=ppt/slides/_rels/slide1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notesSlide" Target="../notesSlides/notesSlide16.xml" /></ns0:Relationships>
</file>

<file path=ppt/slides/_rels/slide1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notesSlide" Target="../notesSlides/notesSlide17.xml" /></ns0:Relationships>
</file>

<file path=ppt/slides/_rels/slide18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notesSlide" Target="../notesSlides/notesSlide18.xml" /></ns0:Relationships>
</file>

<file path=ppt/slides/_rels/slide19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notesSlide" Target="../notesSlides/notesSlide19.xml" /><ns0:Relationship Id="rId3" Type="http://schemas.openxmlformats.org/officeDocument/2006/relationships/image" Target="../media/course_19.png" /></ns0:Relationships>
</file>

<file path=ppt/slides/_rels/slide20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notesSlide" Target="../notesSlides/notesSlide20.xml" /><ns0:Relationship Id="rId3" Type="http://schemas.openxmlformats.org/officeDocument/2006/relationships/image" Target="../media/course_20.png" /></ns0:Relationships>
</file>

<file path=ppt/slides/_rels/slide2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notesSlide" Target="../notesSlides/notesSlide21.xml" /><ns0:Relationship Id="rId3" Type="http://schemas.openxmlformats.org/officeDocument/2006/relationships/image" Target="../media/course_21.png" /></ns0:Relationships>
</file>

<file path=ppt/slides/_rels/slide2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notesSlide" Target="../notesSlides/notesSlide22.xml" /><ns0:Relationship Id="rId3" Type="http://schemas.openxmlformats.org/officeDocument/2006/relationships/image" Target="../media/course_22.png" /></ns0:Relationships>
</file>

<file path=ppt/slides/_rels/slide2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notesSlide" Target="../notesSlides/notesSlide23.xml" /><ns0:Relationship Id="rId3" Type="http://schemas.openxmlformats.org/officeDocument/2006/relationships/image" Target="../media/course_23.png" /></ns0:Relationships>
</file>

<file path=ppt/slides/_rels/slide2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notesSlide" Target="../notesSlides/notesSlide24.xml" /><ns0:Relationship Id="rId3" Type="http://schemas.openxmlformats.org/officeDocument/2006/relationships/image" Target="../media/course_24.png" /></ns0:Relationships>
</file>

<file path=ppt/slides/_rels/slide2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notesSlide" Target="../notesSlides/notesSlide25.xml" /><ns0:Relationship Id="rId3" Type="http://schemas.openxmlformats.org/officeDocument/2006/relationships/image" Target="../media/course_25.png" /></ns0:Relationships>
</file>

<file path=ppt/slides/_rels/slide2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notesSlide" Target="../notesSlides/notesSlide26.xml" /><ns0:Relationship Id="rId3" Type="http://schemas.openxmlformats.org/officeDocument/2006/relationships/image" Target="../media/course_26.png" /></ns0:Relationships>
</file>

<file path=ppt/slides/_rels/slide2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notesSlide" Target="../notesSlides/notesSlide27.xml" /><ns0:Relationship Id="rId3" Type="http://schemas.openxmlformats.org/officeDocument/2006/relationships/image" Target="../media/course_27.png" /></ns0:Relationships>
</file>

<file path=ppt/slides/_rels/slide28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notesSlide" Target="../notesSlides/notesSlide28.xml" /><ns0:Relationship Id="rId3" Type="http://schemas.openxmlformats.org/officeDocument/2006/relationships/image" Target="../media/course_28.png" /></ns0:Relationships>
</file>

<file path=ppt/slides/_rels/slide29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notesSlide" Target="../notesSlides/notesSlide29.xml" /></ns0:Relationships>
</file>

<file path=ppt/slides/_rels/slide30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notesSlide" Target="../notesSlides/notesSlide30.xml" /></ns0:Relationships>
</file>

<file path=ppt/slides/_rels/slide3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notesSlide" Target="../notesSlides/notesSlide31.xml" /></ns0:Relationships>
</file>

<file path=ppt/slides/_rels/slide3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notesSlide" Target="../notesSlides/notesSlide32.xml" /></ns0:Relationships>
</file>

<file path=ppt/slides/_rels/slide3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notesSlide" Target="../notesSlides/notesSlide33.xml" /></ns0:Relationships>
</file>

<file path=ppt/slides/_rels/slide3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notesSlide" Target="../notesSlides/notesSlide34.xml" /></ns0:Relationships>
</file>

<file path=ppt/slides/_rels/slide3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notesSlide" Target="../notesSlides/notesSlide35.xml" /></ns0:Relationships>
</file>

<file path=ppt/slides/_rels/slide3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notesSlide" Target="../notesSlides/notesSlide36.xml" /></ns0:Relationships>
</file>

<file path=ppt/slides/_rels/slide3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notesSlide" Target="../notesSlides/notesSlide37.xml" /></ns0:Relationships>
</file>

<file path=ppt/slides/_rels/slide38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notesSlide" Target="../notesSlides/notesSlide38.xml" /></ns0:Relationships>
</file>

<file path=ppt/slides/_rels/slide39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notesSlide" Target="../notesSlides/notesSlide39.xml" /></ns0:Relationships>
</file>

<file path=ppt/slides/_rels/slide40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notesSlide" Target="../notesSlides/notesSlide40.xml" /></ns0:Relationships>
</file>

<file path=ppt/slides/_rels/slide4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notesSlide" Target="../notesSlides/notesSlide41.xml" /></ns0:Relationships>
</file>

<file path=ppt/slides/_rels/slide4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notesSlide" Target="../notesSlides/notesSlide42.xml" /></ns0:Relationships>
</file>

<file path=ppt/slides/_rels/slide4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notesSlide" Target="../notesSlides/notesSlide43.xml" /></ns0:Relationships>
</file>

<file path=ppt/slides/_rels/slide4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notesSlide" Target="../notesSlides/notesSlide44.xml" /></ns0:Relationships>
</file>

<file path=ppt/slides/_rels/slide4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notesSlide" Target="../notesSlides/notesSlide45.xml" /></ns0:Relationships>
</file>

<file path=ppt/slides/_rels/slide4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notesSlide" Target="../notesSlides/notesSlide46.xml" /></ns0:Relationships>
</file>

<file path=ppt/slides/_rels/slide4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notesSlide" Target="../notesSlides/notesSlide47.xml" /></ns0:Relationships>
</file>

<file path=ppt/slides/_rels/slide48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notesSlide" Target="../notesSlides/notesSlide48.xml" /></ns0:Relationships>
</file>

<file path=ppt/slides/_rels/slide49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notesSlide" Target="../notesSlides/notesSlide49.xml" /></ns0:Relationships>
</file>

<file path=ppt/slides/_rels/slide50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notesSlide" Target="../notesSlides/notesSlide50.xml" /></ns0:Relationships>
</file>

<file path=ppt/slides/_rels/slide5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notesSlide" Target="../notesSlides/notesSlide51.xml" /></ns0:Relationships>
</file>

<file path=ppt/slides/_rels/slide5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notesSlide" Target="../notesSlides/notesSlide52.xml" /></ns0:Relationships>
</file>

<file path=ppt/slides/_rels/slide5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notesSlide" Target="../notesSlides/notesSlide53.xml" /></ns0:Relationships>
</file>

<file path=ppt/slides/slide1.xml><?xml version="1.0" encoding="utf-8"?>
<p:sld xmlns:a="http://schemas.openxmlformats.org/drawingml/2006/main" xmlns:p="http://schemas.openxmlformats.org/presentationml/2006/main">
  <p:cSld name="01 MC Accreditation Hub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 txBox="1"/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0F9E92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3" name="Course label"/>
          <p:cNvSpPr txBox="1"/>
          <p:nvPr/>
        </p:nvSpPr>
        <p:spPr>
          <a:xfrm>
            <a:off x="666750" y="619125"/>
            <a:ext cx="8572500" cy="4000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100" b="1">
                <a:solidFill>
                  <a:srgbClr val="71E0D3"/>
                </a:solidFill>
                <a:latin typeface="Aptos"/>
              </a:rPr>
              <a:t>MIT 007 — Cloud Computing</a:t>
            </a:r>
            <a:endParaRPr lang="en-US"/>
          </a:p>
        </p:txBody>
      </p:sp>
      <p:sp>
        <p:nvSpPr>
          <p:cNvPr id="4" name="Title"/>
          <p:cNvSpPr txBox="1"/>
          <p:nvPr/>
        </p:nvSpPr>
        <p:spPr>
          <a:xfrm>
            <a:off x="647700" y="1666875"/>
            <a:ext cx="10858500" cy="1238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5800" b="1">
                <a:solidFill>
                  <a:srgbClr val="FFFFFF"/>
                </a:solidFill>
                <a:latin typeface="Aptos"/>
              </a:rPr>
              <a:t>MC Accreditation Hub</a:t>
            </a:r>
            <a:endParaRPr lang="en-US"/>
          </a:p>
        </p:txBody>
      </p:sp>
      <p:sp>
        <p:nvSpPr>
          <p:cNvPr id="5" name="Subtitle"/>
          <p:cNvSpPr txBox="1"/>
          <p:nvPr/>
        </p:nvSpPr>
        <p:spPr>
          <a:xfrm>
            <a:off x="676275" y="3105150"/>
            <a:ext cx="10477500" cy="14287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3000" b="0">
                <a:solidFill>
                  <a:srgbClr val="E4EFF4"/>
                </a:solidFill>
                <a:latin typeface="Aptos"/>
              </a:rPr>
              <a:t>A digital evidence and compliance platform for the Graduate School of Mabini Colleges, Inc.</a:t>
            </a:r>
            <a:endParaRPr lang="en-US"/>
          </a:p>
        </p:txBody>
      </p:sp>
      <p:sp>
        <p:nvSpPr>
          <p:cNvPr id="6" name="Attribution"/>
          <p:cNvSpPr txBox="1"/>
          <p:nvPr/>
        </p:nvSpPr>
        <p:spPr>
          <a:xfrm>
            <a:off x="685800" y="5238750"/>
            <a:ext cx="10287000" cy="71437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100" b="0">
                <a:solidFill>
                  <a:srgbClr val="BED5E4"/>
                </a:solidFill>
                <a:latin typeface="Aptos"/>
              </a:rPr>
              <a:t>Proponent: Rainell John O. Abanto</a:t>
            </a:r>
            <a:endParaRPr lang="en-US"/>
          </a:p>
          <a:p>
            <a:pPr algn="l"/>
            <a:r>
              <a:rPr lang="en-US" sz="2100" b="0">
                <a:solidFill>
                  <a:srgbClr val="BED5E4"/>
                </a:solidFill>
                <a:latin typeface="Aptos"/>
              </a:rPr>
              <a:t>Course presentation · October 2026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 name="02 The accreditation records problem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 txBox="1"/>
          <p:nvPr/>
        </p:nvSpPr>
        <p:spPr>
          <a:xfrm>
            <a:off x="0" y="0"/>
            <a:ext cx="12192000" cy="123825"/>
          </a:xfrm>
          <a:prstGeom prst="rect">
            <a:avLst/>
          </a:prstGeom>
          <a:solidFill>
            <a:srgbClr val="0F9E92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3" name="Section"/>
          <p:cNvSpPr txBox="1"/>
          <p:nvPr/>
        </p:nvSpPr>
        <p:spPr>
          <a:xfrm>
            <a:off x="495300" y="323850"/>
            <a:ext cx="809625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700" b="1">
                <a:solidFill>
                  <a:srgbClr val="0F9E92"/>
                </a:solidFill>
                <a:latin typeface="Aptos"/>
              </a:rPr>
              <a:t>PROJECT</a:t>
            </a:r>
            <a:endParaRPr lang="en-US"/>
          </a:p>
        </p:txBody>
      </p:sp>
      <p:sp>
        <p:nvSpPr>
          <p:cNvPr id="4" name="Status"/>
          <p:cNvSpPr txBox="1"/>
          <p:nvPr/>
        </p:nvSpPr>
        <p:spPr>
          <a:xfrm>
            <a:off x="8810625" y="3048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600" b="0">
                <a:solidFill>
                  <a:srgbClr val="486078"/>
                </a:solidFill>
                <a:latin typeface="Aptos"/>
              </a:rPr>
              <a:t>PROJECT RATIONALE</a:t>
            </a:r>
            <a:endParaRPr lang="en-US"/>
          </a:p>
        </p:txBody>
      </p:sp>
      <p:sp>
        <p:nvSpPr>
          <p:cNvPr id="5" name="Title"/>
          <p:cNvSpPr txBox="1"/>
          <p:nvPr/>
        </p:nvSpPr>
        <p:spPr>
          <a:xfrm>
            <a:off x="495300" y="781050"/>
            <a:ext cx="11144250" cy="71437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4200" b="1">
                <a:solidFill>
                  <a:srgbClr val="0B2545"/>
                </a:solidFill>
                <a:latin typeface="Aptos"/>
              </a:rPr>
              <a:t>The accreditation records problem</a:t>
            </a:r>
            <a:endParaRPr lang="en-US"/>
          </a:p>
        </p:txBody>
      </p:sp>
      <p:sp>
        <p:nvSpPr>
          <p:cNvPr id="6" name="Lead"/>
          <p:cNvSpPr txBox="1"/>
          <p:nvPr/>
        </p:nvSpPr>
        <p:spPr>
          <a:xfrm>
            <a:off x="523875" y="1552575"/>
            <a:ext cx="11049000" cy="7334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>Evidence scattered across offices, folders, and devices takes time to verify and retrieve.</a:t>
            </a:r>
            <a:endParaRPr lang="en-US"/>
          </a:p>
        </p:txBody>
      </p:sp>
      <p:sp>
        <p:nvSpPr>
          <p:cNvPr id="7" name="Point 1"/>
          <p:cNvSpPr txBox="1"/>
          <p:nvPr/>
        </p:nvSpPr>
        <p:spPr>
          <a:xfrm>
            <a:off x="666750" y="24479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Requirements and files may be tracked separately.</a:t>
            </a:r>
            <a:endParaRPr lang="en-US"/>
          </a:p>
        </p:txBody>
      </p:sp>
      <p:sp>
        <p:nvSpPr>
          <p:cNvPr id="8" name="Point 2"/>
          <p:cNvSpPr txBox="1"/>
          <p:nvPr/>
        </p:nvSpPr>
        <p:spPr>
          <a:xfrm>
            <a:off x="666750" y="30956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Teams need to know which exact version was reviewed.</a:t>
            </a:r>
            <a:endParaRPr lang="en-US"/>
          </a:p>
        </p:txBody>
      </p:sp>
      <p:sp>
        <p:nvSpPr>
          <p:cNvPr id="9" name="Point 3"/>
          <p:cNvSpPr txBox="1"/>
          <p:nvPr/>
        </p:nvSpPr>
        <p:spPr>
          <a:xfrm>
            <a:off x="666750" y="37433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Missing work is hard to see without a shared status view.</a:t>
            </a:r>
            <a:endParaRPr lang="en-US"/>
          </a:p>
        </p:txBody>
      </p:sp>
      <p:sp>
        <p:nvSpPr>
          <p:cNvPr id="10" name="Point 4"/>
          <p:cNvSpPr txBox="1"/>
          <p:nvPr/>
        </p:nvSpPr>
        <p:spPr>
          <a:xfrm>
            <a:off x="666750" y="43910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The presentation describes this problem; no time-savings study has been completed.</a:t>
            </a:r>
            <a:endParaRPr lang="en-US"/>
          </a:p>
        </p:txBody>
      </p:sp>
      <p:sp>
        <p:nvSpPr>
          <p:cNvPr id="11" name="Footer rule"/>
          <p:cNvSpPr txBox="1"/>
          <p:nvPr/>
        </p:nvSpPr>
        <p:spPr>
          <a:xfrm>
            <a:off x="495300" y="6334125"/>
            <a:ext cx="11163300" cy="19050"/>
          </a:xfrm>
          <a:prstGeom prst="rect">
            <a:avLst/>
          </a:prstGeom>
          <a:solidFill>
            <a:srgbClr val="D6E2E9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12" name="Footer"/>
          <p:cNvSpPr txBox="1"/>
          <p:nvPr/>
        </p:nvSpPr>
        <p:spPr>
          <a:xfrm>
            <a:off x="504825" y="6438900"/>
            <a:ext cx="962025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300" b="0">
                <a:solidFill>
                  <a:srgbClr val="486078"/>
                </a:solidFill>
                <a:latin typeface="Aptos"/>
              </a:rPr>
              <a:t>MC Accreditation Hub  ·  MIT 007  ·  Fictional local evidence unless marked otherwise</a:t>
            </a:r>
            <a:endParaRPr lang="en-US"/>
          </a:p>
        </p:txBody>
      </p:sp>
      <p:sp>
        <p:nvSpPr>
          <p:cNvPr id="13" name="Page"/>
          <p:cNvSpPr txBox="1"/>
          <p:nvPr/>
        </p:nvSpPr>
        <p:spPr>
          <a:xfrm>
            <a:off x="10572750" y="6438900"/>
            <a:ext cx="114300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300" b="0">
                <a:solidFill>
                  <a:srgbClr val="486078"/>
                </a:solidFill>
                <a:latin typeface="Aptos"/>
              </a:rPr>
              <a:t>02 / 53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 name="03 Project objectives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 txBox="1"/>
          <p:nvPr/>
        </p:nvSpPr>
        <p:spPr>
          <a:xfrm>
            <a:off x="0" y="0"/>
            <a:ext cx="12192000" cy="123825"/>
          </a:xfrm>
          <a:prstGeom prst="rect">
            <a:avLst/>
          </a:prstGeom>
          <a:solidFill>
            <a:srgbClr val="0F9E92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3" name="Section"/>
          <p:cNvSpPr txBox="1"/>
          <p:nvPr/>
        </p:nvSpPr>
        <p:spPr>
          <a:xfrm>
            <a:off x="495300" y="323850"/>
            <a:ext cx="809625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700" b="1">
                <a:solidFill>
                  <a:srgbClr val="0F9E92"/>
                </a:solidFill>
                <a:latin typeface="Aptos"/>
              </a:rPr>
              <a:t>PROJECT</a:t>
            </a:r>
            <a:endParaRPr lang="en-US"/>
          </a:p>
        </p:txBody>
      </p:sp>
      <p:sp>
        <p:nvSpPr>
          <p:cNvPr id="4" name="Status"/>
          <p:cNvSpPr txBox="1"/>
          <p:nvPr/>
        </p:nvSpPr>
        <p:spPr>
          <a:xfrm>
            <a:off x="8810625" y="3048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600" b="0">
                <a:solidFill>
                  <a:srgbClr val="486078"/>
                </a:solidFill>
                <a:latin typeface="Aptos"/>
              </a:rPr>
              <a:t>PROJECT SCOPE</a:t>
            </a:r>
            <a:endParaRPr lang="en-US"/>
          </a:p>
        </p:txBody>
      </p:sp>
      <p:sp>
        <p:nvSpPr>
          <p:cNvPr id="5" name="Title"/>
          <p:cNvSpPr txBox="1"/>
          <p:nvPr/>
        </p:nvSpPr>
        <p:spPr>
          <a:xfrm>
            <a:off x="495300" y="781050"/>
            <a:ext cx="11144250" cy="71437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4200" b="1">
                <a:solidFill>
                  <a:srgbClr val="0B2545"/>
                </a:solidFill>
                <a:latin typeface="Aptos"/>
              </a:rPr>
              <a:t>Project objectives</a:t>
            </a:r>
            <a:endParaRPr lang="en-US"/>
          </a:p>
        </p:txBody>
      </p:sp>
      <p:sp>
        <p:nvSpPr>
          <p:cNvPr id="6" name="Lead"/>
          <p:cNvSpPr txBox="1"/>
          <p:nvPr/>
        </p:nvSpPr>
        <p:spPr>
          <a:xfrm>
            <a:off x="523875" y="1552575"/>
            <a:ext cx="11049000" cy="7334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>The Hub brings requirements, files, review, monitoring, and reporting into one workflow.</a:t>
            </a:r>
            <a:endParaRPr lang="en-US"/>
          </a:p>
        </p:txBody>
      </p:sp>
      <p:sp>
        <p:nvSpPr>
          <p:cNvPr id="7" name="Point 1"/>
          <p:cNvSpPr txBox="1"/>
          <p:nvPr/>
        </p:nvSpPr>
        <p:spPr>
          <a:xfrm>
            <a:off x="666750" y="24479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Centralize accreditation-related records.</a:t>
            </a:r>
            <a:endParaRPr lang="en-US"/>
          </a:p>
        </p:txBody>
      </p:sp>
      <p:sp>
        <p:nvSpPr>
          <p:cNvPr id="8" name="Point 2"/>
          <p:cNvSpPr txBox="1"/>
          <p:nvPr/>
        </p:nvSpPr>
        <p:spPr>
          <a:xfrm>
            <a:off x="666750" y="30956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Classify evidence by area and requirement.</a:t>
            </a:r>
            <a:endParaRPr lang="en-US"/>
          </a:p>
        </p:txBody>
      </p:sp>
      <p:sp>
        <p:nvSpPr>
          <p:cNvPr id="9" name="Point 3"/>
          <p:cNvSpPr txBox="1"/>
          <p:nvPr/>
        </p:nvSpPr>
        <p:spPr>
          <a:xfrm>
            <a:off x="666750" y="37433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Track missing and incomplete work.</a:t>
            </a:r>
            <a:endParaRPr lang="en-US"/>
          </a:p>
        </p:txBody>
      </p:sp>
      <p:sp>
        <p:nvSpPr>
          <p:cNvPr id="10" name="Point 4"/>
          <p:cNvSpPr txBox="1"/>
          <p:nvPr/>
        </p:nvSpPr>
        <p:spPr>
          <a:xfrm>
            <a:off x="666750" y="43910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Review submitted evidence independently.</a:t>
            </a:r>
            <a:endParaRPr lang="en-US"/>
          </a:p>
        </p:txBody>
      </p:sp>
      <p:sp>
        <p:nvSpPr>
          <p:cNvPr id="11" name="Point 5"/>
          <p:cNvSpPr txBox="1"/>
          <p:nvPr/>
        </p:nvSpPr>
        <p:spPr>
          <a:xfrm>
            <a:off x="666750" y="50387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Retrieve authorized versions and produce preparation reports.</a:t>
            </a:r>
            <a:endParaRPr lang="en-US"/>
          </a:p>
        </p:txBody>
      </p:sp>
      <p:sp>
        <p:nvSpPr>
          <p:cNvPr id="12" name="Footer rule"/>
          <p:cNvSpPr txBox="1"/>
          <p:nvPr/>
        </p:nvSpPr>
        <p:spPr>
          <a:xfrm>
            <a:off x="495300" y="6334125"/>
            <a:ext cx="11163300" cy="19050"/>
          </a:xfrm>
          <a:prstGeom prst="rect">
            <a:avLst/>
          </a:prstGeom>
          <a:solidFill>
            <a:srgbClr val="D6E2E9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13" name="Footer"/>
          <p:cNvSpPr txBox="1"/>
          <p:nvPr/>
        </p:nvSpPr>
        <p:spPr>
          <a:xfrm>
            <a:off x="504825" y="6438900"/>
            <a:ext cx="962025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300" b="0">
                <a:solidFill>
                  <a:srgbClr val="486078"/>
                </a:solidFill>
                <a:latin typeface="Aptos"/>
              </a:rPr>
              <a:t>MC Accreditation Hub  ·  MIT 007  ·  Fictional local evidence unless marked otherwise</a:t>
            </a:r>
            <a:endParaRPr lang="en-US"/>
          </a:p>
        </p:txBody>
      </p:sp>
      <p:sp>
        <p:nvSpPr>
          <p:cNvPr id="14" name="Page"/>
          <p:cNvSpPr txBox="1"/>
          <p:nvPr/>
        </p:nvSpPr>
        <p:spPr>
          <a:xfrm>
            <a:off x="10572750" y="6438900"/>
            <a:ext cx="114300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300" b="0">
                <a:solidFill>
                  <a:srgbClr val="486078"/>
                </a:solidFill>
                <a:latin typeface="Aptos"/>
              </a:rPr>
              <a:t>03 / 53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 name="04 Scope and current state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 txBox="1"/>
          <p:nvPr/>
        </p:nvSpPr>
        <p:spPr>
          <a:xfrm>
            <a:off x="0" y="0"/>
            <a:ext cx="12192000" cy="123825"/>
          </a:xfrm>
          <a:prstGeom prst="rect">
            <a:avLst/>
          </a:prstGeom>
          <a:solidFill>
            <a:srgbClr val="0F9E92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3" name="Section"/>
          <p:cNvSpPr txBox="1"/>
          <p:nvPr/>
        </p:nvSpPr>
        <p:spPr>
          <a:xfrm>
            <a:off x="495300" y="323850"/>
            <a:ext cx="809625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700" b="1">
                <a:solidFill>
                  <a:srgbClr val="0F9E92"/>
                </a:solidFill>
                <a:latin typeface="Aptos"/>
              </a:rPr>
              <a:t>PROJECT</a:t>
            </a:r>
            <a:endParaRPr lang="en-US"/>
          </a:p>
        </p:txBody>
      </p:sp>
      <p:sp>
        <p:nvSpPr>
          <p:cNvPr id="4" name="Status"/>
          <p:cNvSpPr txBox="1"/>
          <p:nvPr/>
        </p:nvSpPr>
        <p:spPr>
          <a:xfrm>
            <a:off x="8810625" y="3048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600" b="0">
                <a:solidFill>
                  <a:srgbClr val="486078"/>
                </a:solidFill>
                <a:latin typeface="Aptos"/>
              </a:rPr>
              <a:t>LOCAL IMPLEMENTATION</a:t>
            </a:r>
            <a:endParaRPr lang="en-US"/>
          </a:p>
        </p:txBody>
      </p:sp>
      <p:sp>
        <p:nvSpPr>
          <p:cNvPr id="5" name="Title"/>
          <p:cNvSpPr txBox="1"/>
          <p:nvPr/>
        </p:nvSpPr>
        <p:spPr>
          <a:xfrm>
            <a:off x="495300" y="781050"/>
            <a:ext cx="11144250" cy="71437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4200" b="1">
                <a:solidFill>
                  <a:srgbClr val="0B2545"/>
                </a:solidFill>
                <a:latin typeface="Aptos"/>
              </a:rPr>
              <a:t>Scope and current state</a:t>
            </a:r>
            <a:endParaRPr lang="en-US"/>
          </a:p>
        </p:txBody>
      </p:sp>
      <p:sp>
        <p:nvSpPr>
          <p:cNvPr id="6" name="Lead"/>
          <p:cNvSpPr txBox="1"/>
          <p:nvPr/>
        </p:nvSpPr>
        <p:spPr>
          <a:xfrm>
            <a:off x="523875" y="1552575"/>
            <a:ext cx="11049000" cy="7334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>A working local React and Django system supports the core evidence workflow.</a:t>
            </a:r>
            <a:endParaRPr lang="en-US"/>
          </a:p>
        </p:txBody>
      </p:sp>
      <p:sp>
        <p:nvSpPr>
          <p:cNvPr id="7" name="Point 1"/>
          <p:cNvSpPr txBox="1"/>
          <p:nvPr/>
        </p:nvSpPr>
        <p:spPr>
          <a:xfrm>
            <a:off x="666750" y="2447925"/>
            <a:ext cx="10858500" cy="7239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Implemented locally: accounts and scoped roles, cycles, requirements, evidence versions, package review, certification, search, reports, and audit.</a:t>
            </a:r>
            <a:endParaRPr lang="en-US"/>
          </a:p>
        </p:txBody>
      </p:sp>
      <p:sp>
        <p:nvSpPr>
          <p:cNvPr id="8" name="Point 2"/>
          <p:cNvSpPr txBox="1"/>
          <p:nvPr/>
        </p:nvSpPr>
        <p:spPr>
          <a:xfrm>
            <a:off x="666750" y="32861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Fictional demo data only; the sample instrument is not official PACUCOA criteria.</a:t>
            </a:r>
            <a:endParaRPr lang="en-US"/>
          </a:p>
        </p:txBody>
      </p:sp>
      <p:sp>
        <p:nvSpPr>
          <p:cNvPr id="9" name="Point 3"/>
          <p:cNvSpPr txBox="1"/>
          <p:nvPr/>
        </p:nvSpPr>
        <p:spPr>
          <a:xfrm>
            <a:off x="666750" y="39338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School deployment, real-file intake, and institutional approval remain open.</a:t>
            </a:r>
            <a:endParaRPr lang="en-US"/>
          </a:p>
        </p:txBody>
      </p:sp>
      <p:sp>
        <p:nvSpPr>
          <p:cNvPr id="10" name="Footer rule"/>
          <p:cNvSpPr txBox="1"/>
          <p:nvPr/>
        </p:nvSpPr>
        <p:spPr>
          <a:xfrm>
            <a:off x="495300" y="6334125"/>
            <a:ext cx="11163300" cy="19050"/>
          </a:xfrm>
          <a:prstGeom prst="rect">
            <a:avLst/>
          </a:prstGeom>
          <a:solidFill>
            <a:srgbClr val="D6E2E9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11" name="Footer"/>
          <p:cNvSpPr txBox="1"/>
          <p:nvPr/>
        </p:nvSpPr>
        <p:spPr>
          <a:xfrm>
            <a:off x="504825" y="6438900"/>
            <a:ext cx="962025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300" b="0">
                <a:solidFill>
                  <a:srgbClr val="486078"/>
                </a:solidFill>
                <a:latin typeface="Aptos"/>
              </a:rPr>
              <a:t>MC Accreditation Hub  ·  MIT 007  ·  Fictional local evidence unless marked otherwise</a:t>
            </a:r>
            <a:endParaRPr lang="en-US"/>
          </a:p>
        </p:txBody>
      </p:sp>
      <p:sp>
        <p:nvSpPr>
          <p:cNvPr id="12" name="Page"/>
          <p:cNvSpPr txBox="1"/>
          <p:nvPr/>
        </p:nvSpPr>
        <p:spPr>
          <a:xfrm>
            <a:off x="10572750" y="6438900"/>
            <a:ext cx="114300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300" b="0">
                <a:solidFill>
                  <a:srgbClr val="486078"/>
                </a:solidFill>
                <a:latin typeface="Aptos"/>
              </a:rPr>
              <a:t>04 / 53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 name="05 Users and responsibilities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 txBox="1"/>
          <p:nvPr/>
        </p:nvSpPr>
        <p:spPr>
          <a:xfrm>
            <a:off x="0" y="0"/>
            <a:ext cx="12192000" cy="123825"/>
          </a:xfrm>
          <a:prstGeom prst="rect">
            <a:avLst/>
          </a:prstGeom>
          <a:solidFill>
            <a:srgbClr val="0F9E92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3" name="Section"/>
          <p:cNvSpPr txBox="1"/>
          <p:nvPr/>
        </p:nvSpPr>
        <p:spPr>
          <a:xfrm>
            <a:off x="495300" y="323850"/>
            <a:ext cx="809625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700" b="1">
                <a:solidFill>
                  <a:srgbClr val="0F9E92"/>
                </a:solidFill>
                <a:latin typeface="Aptos"/>
              </a:rPr>
              <a:t>PROJECT</a:t>
            </a:r>
            <a:endParaRPr lang="en-US"/>
          </a:p>
        </p:txBody>
      </p:sp>
      <p:sp>
        <p:nvSpPr>
          <p:cNvPr id="4" name="Status"/>
          <p:cNvSpPr txBox="1"/>
          <p:nvPr/>
        </p:nvSpPr>
        <p:spPr>
          <a:xfrm>
            <a:off x="8810625" y="3048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600" b="0">
                <a:solidFill>
                  <a:srgbClr val="486078"/>
                </a:solidFill>
                <a:latin typeface="Aptos"/>
              </a:rPr>
              <a:t>LOCAL / PENDING POLICY</a:t>
            </a:r>
            <a:endParaRPr lang="en-US"/>
          </a:p>
        </p:txBody>
      </p:sp>
      <p:sp>
        <p:nvSpPr>
          <p:cNvPr id="5" name="Title"/>
          <p:cNvSpPr txBox="1"/>
          <p:nvPr/>
        </p:nvSpPr>
        <p:spPr>
          <a:xfrm>
            <a:off x="495300" y="781050"/>
            <a:ext cx="11144250" cy="71437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4200" b="1">
                <a:solidFill>
                  <a:srgbClr val="0B2545"/>
                </a:solidFill>
                <a:latin typeface="Aptos"/>
              </a:rPr>
              <a:t>Users and responsibilities</a:t>
            </a:r>
            <a:endParaRPr lang="en-US"/>
          </a:p>
        </p:txBody>
      </p:sp>
      <p:sp>
        <p:nvSpPr>
          <p:cNvPr id="6" name="Lead"/>
          <p:cNvSpPr txBox="1"/>
          <p:nvPr/>
        </p:nvSpPr>
        <p:spPr>
          <a:xfrm>
            <a:off x="523875" y="1552575"/>
            <a:ext cx="11049000" cy="7334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>Academic and technical duties have separate authority.</a:t>
            </a:r>
            <a:endParaRPr lang="en-US"/>
          </a:p>
        </p:txBody>
      </p:sp>
      <p:sp>
        <p:nvSpPr>
          <p:cNvPr id="7" name="Point 1"/>
          <p:cNvSpPr txBox="1"/>
          <p:nvPr/>
        </p:nvSpPr>
        <p:spPr>
          <a:xfrm>
            <a:off x="666750" y="24479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Custodian contributes assigned evidence; Reviewer makes an independent package decision.</a:t>
            </a:r>
            <a:endParaRPr lang="en-US"/>
          </a:p>
        </p:txBody>
      </p:sp>
      <p:sp>
        <p:nvSpPr>
          <p:cNvPr id="8" name="Point 2"/>
          <p:cNvSpPr txBox="1"/>
          <p:nvPr/>
        </p:nvSpPr>
        <p:spPr>
          <a:xfrm>
            <a:off x="666750" y="30956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Coordinator manages requirements and deliberately certifies completion.</a:t>
            </a:r>
            <a:endParaRPr lang="en-US"/>
          </a:p>
        </p:txBody>
      </p:sp>
      <p:sp>
        <p:nvSpPr>
          <p:cNvPr id="9" name="Point 3"/>
          <p:cNvSpPr txBox="1"/>
          <p:nvPr/>
        </p:nvSpPr>
        <p:spPr>
          <a:xfrm>
            <a:off x="666750" y="3743325"/>
            <a:ext cx="10858500" cy="7239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Viewer monitors approved evidence; product Administrator has no automatic evidence authority.</a:t>
            </a:r>
            <a:endParaRPr lang="en-US"/>
          </a:p>
        </p:txBody>
      </p:sp>
      <p:sp>
        <p:nvSpPr>
          <p:cNvPr id="10" name="Point 4"/>
          <p:cNvSpPr txBox="1"/>
          <p:nvPr/>
        </p:nvSpPr>
        <p:spPr>
          <a:xfrm>
            <a:off x="666750" y="45815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School IT operating roles require separate named assignments.</a:t>
            </a:r>
            <a:endParaRPr lang="en-US"/>
          </a:p>
        </p:txBody>
      </p:sp>
      <p:sp>
        <p:nvSpPr>
          <p:cNvPr id="11" name="Footer rule"/>
          <p:cNvSpPr txBox="1"/>
          <p:nvPr/>
        </p:nvSpPr>
        <p:spPr>
          <a:xfrm>
            <a:off x="495300" y="6334125"/>
            <a:ext cx="11163300" cy="19050"/>
          </a:xfrm>
          <a:prstGeom prst="rect">
            <a:avLst/>
          </a:prstGeom>
          <a:solidFill>
            <a:srgbClr val="D6E2E9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12" name="Footer"/>
          <p:cNvSpPr txBox="1"/>
          <p:nvPr/>
        </p:nvSpPr>
        <p:spPr>
          <a:xfrm>
            <a:off x="504825" y="6438900"/>
            <a:ext cx="962025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300" b="0">
                <a:solidFill>
                  <a:srgbClr val="486078"/>
                </a:solidFill>
                <a:latin typeface="Aptos"/>
              </a:rPr>
              <a:t>MC Accreditation Hub  ·  MIT 007  ·  Fictional local evidence unless marked otherwise</a:t>
            </a:r>
            <a:endParaRPr lang="en-US"/>
          </a:p>
        </p:txBody>
      </p:sp>
      <p:sp>
        <p:nvSpPr>
          <p:cNvPr id="13" name="Page"/>
          <p:cNvSpPr txBox="1"/>
          <p:nvPr/>
        </p:nvSpPr>
        <p:spPr>
          <a:xfrm>
            <a:off x="10572750" y="6438900"/>
            <a:ext cx="114300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300" b="0">
                <a:solidFill>
                  <a:srgbClr val="486078"/>
                </a:solidFill>
                <a:latin typeface="Aptos"/>
              </a:rPr>
              <a:t>05 / 53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 name="06 End-to-end evidence workflow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 txBox="1"/>
          <p:nvPr/>
        </p:nvSpPr>
        <p:spPr>
          <a:xfrm>
            <a:off x="0" y="0"/>
            <a:ext cx="12192000" cy="123825"/>
          </a:xfrm>
          <a:prstGeom prst="rect">
            <a:avLst/>
          </a:prstGeom>
          <a:solidFill>
            <a:srgbClr val="0F9E92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3" name="Section"/>
          <p:cNvSpPr txBox="1"/>
          <p:nvPr/>
        </p:nvSpPr>
        <p:spPr>
          <a:xfrm>
            <a:off x="495300" y="323850"/>
            <a:ext cx="809625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700" b="1">
                <a:solidFill>
                  <a:srgbClr val="0F9E92"/>
                </a:solidFill>
                <a:latin typeface="Aptos"/>
              </a:rPr>
              <a:t>PROJECT</a:t>
            </a:r>
            <a:endParaRPr lang="en-US"/>
          </a:p>
        </p:txBody>
      </p:sp>
      <p:sp>
        <p:nvSpPr>
          <p:cNvPr id="4" name="Status"/>
          <p:cNvSpPr txBox="1"/>
          <p:nvPr/>
        </p:nvSpPr>
        <p:spPr>
          <a:xfrm>
            <a:off x="8810625" y="3048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600" b="0">
                <a:solidFill>
                  <a:srgbClr val="486078"/>
                </a:solidFill>
                <a:latin typeface="Aptos"/>
              </a:rPr>
              <a:t>LOCAL IMPLEMENTATION</a:t>
            </a:r>
            <a:endParaRPr lang="en-US"/>
          </a:p>
        </p:txBody>
      </p:sp>
      <p:sp>
        <p:nvSpPr>
          <p:cNvPr id="5" name="Title"/>
          <p:cNvSpPr txBox="1"/>
          <p:nvPr/>
        </p:nvSpPr>
        <p:spPr>
          <a:xfrm>
            <a:off x="495300" y="781050"/>
            <a:ext cx="11144250" cy="71437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4200" b="1">
                <a:solidFill>
                  <a:srgbClr val="0B2545"/>
                </a:solidFill>
                <a:latin typeface="Aptos"/>
              </a:rPr>
              <a:t>End-to-end evidence workflow</a:t>
            </a:r>
            <a:endParaRPr lang="en-US"/>
          </a:p>
        </p:txBody>
      </p:sp>
      <p:sp>
        <p:nvSpPr>
          <p:cNvPr id="6" name="Lead"/>
          <p:cNvSpPr txBox="1"/>
          <p:nvPr/>
        </p:nvSpPr>
        <p:spPr>
          <a:xfrm>
            <a:off x="523875" y="1552575"/>
            <a:ext cx="11049000" cy="7334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>A requirement becomes complete only after evidence review and a Coordinator decision.</a:t>
            </a:r>
            <a:endParaRPr lang="en-US"/>
          </a:p>
        </p:txBody>
      </p:sp>
      <p:sp>
        <p:nvSpPr>
          <p:cNvPr id="7" name="Point 1"/>
          <p:cNvSpPr txBox="1"/>
          <p:nvPr/>
        </p:nvSpPr>
        <p:spPr>
          <a:xfrm>
            <a:off x="666750" y="24479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Requirement and mandatory items → assigned contributor → versioned upload and mapping.</a:t>
            </a:r>
            <a:endParaRPr lang="en-US"/>
          </a:p>
        </p:txBody>
      </p:sp>
      <p:sp>
        <p:nvSpPr>
          <p:cNvPr id="8" name="Point 2"/>
          <p:cNvSpPr txBox="1"/>
          <p:nvPr/>
        </p:nvSpPr>
        <p:spPr>
          <a:xfrm>
            <a:off x="666750" y="30956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Draft package → submit → independent Reviewer approval or revision request.</a:t>
            </a:r>
            <a:endParaRPr lang="en-US"/>
          </a:p>
        </p:txBody>
      </p:sp>
      <p:sp>
        <p:nvSpPr>
          <p:cNvPr id="9" name="Point 3"/>
          <p:cNvSpPr txBox="1"/>
          <p:nvPr/>
        </p:nvSpPr>
        <p:spPr>
          <a:xfrm>
            <a:off x="666750" y="37433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Approved package → Coordinator certification with rationale → readiness update.</a:t>
            </a:r>
            <a:endParaRPr lang="en-US"/>
          </a:p>
        </p:txBody>
      </p:sp>
      <p:sp>
        <p:nvSpPr>
          <p:cNvPr id="10" name="Point 4"/>
          <p:cNvSpPr txBox="1"/>
          <p:nvPr/>
        </p:nvSpPr>
        <p:spPr>
          <a:xfrm>
            <a:off x="666750" y="43910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History retains the pinned version, decision, and criteria context.</a:t>
            </a:r>
            <a:endParaRPr lang="en-US"/>
          </a:p>
        </p:txBody>
      </p:sp>
      <p:sp>
        <p:nvSpPr>
          <p:cNvPr id="11" name="Footer rule"/>
          <p:cNvSpPr txBox="1"/>
          <p:nvPr/>
        </p:nvSpPr>
        <p:spPr>
          <a:xfrm>
            <a:off x="495300" y="6334125"/>
            <a:ext cx="11163300" cy="19050"/>
          </a:xfrm>
          <a:prstGeom prst="rect">
            <a:avLst/>
          </a:prstGeom>
          <a:solidFill>
            <a:srgbClr val="D6E2E9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12" name="Footer"/>
          <p:cNvSpPr txBox="1"/>
          <p:nvPr/>
        </p:nvSpPr>
        <p:spPr>
          <a:xfrm>
            <a:off x="504825" y="6438900"/>
            <a:ext cx="962025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300" b="0">
                <a:solidFill>
                  <a:srgbClr val="486078"/>
                </a:solidFill>
                <a:latin typeface="Aptos"/>
              </a:rPr>
              <a:t>MC Accreditation Hub  ·  MIT 007  ·  Fictional local evidence unless marked otherwise</a:t>
            </a:r>
            <a:endParaRPr lang="en-US"/>
          </a:p>
        </p:txBody>
      </p:sp>
      <p:sp>
        <p:nvSpPr>
          <p:cNvPr id="13" name="Page"/>
          <p:cNvSpPr txBox="1"/>
          <p:nvPr/>
        </p:nvSpPr>
        <p:spPr>
          <a:xfrm>
            <a:off x="10572750" y="6438900"/>
            <a:ext cx="114300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300" b="0">
                <a:solidFill>
                  <a:srgbClr val="486078"/>
                </a:solidFill>
                <a:latin typeface="Aptos"/>
              </a:rPr>
              <a:t>06 / 53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 name="07 Technology architecture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 txBox="1"/>
          <p:nvPr/>
        </p:nvSpPr>
        <p:spPr>
          <a:xfrm>
            <a:off x="0" y="0"/>
            <a:ext cx="12192000" cy="123825"/>
          </a:xfrm>
          <a:prstGeom prst="rect">
            <a:avLst/>
          </a:prstGeom>
          <a:solidFill>
            <a:srgbClr val="0F9E92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3" name="Section"/>
          <p:cNvSpPr txBox="1"/>
          <p:nvPr/>
        </p:nvSpPr>
        <p:spPr>
          <a:xfrm>
            <a:off x="495300" y="323850"/>
            <a:ext cx="809625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700" b="1">
                <a:solidFill>
                  <a:srgbClr val="0F9E92"/>
                </a:solidFill>
                <a:latin typeface="Aptos"/>
              </a:rPr>
              <a:t>PROJECT</a:t>
            </a:r>
            <a:endParaRPr lang="en-US"/>
          </a:p>
        </p:txBody>
      </p:sp>
      <p:sp>
        <p:nvSpPr>
          <p:cNvPr id="4" name="Status"/>
          <p:cNvSpPr txBox="1"/>
          <p:nvPr/>
        </p:nvSpPr>
        <p:spPr>
          <a:xfrm>
            <a:off x="8810625" y="3048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600" b="0">
                <a:solidFill>
                  <a:srgbClr val="486078"/>
                </a:solidFill>
                <a:latin typeface="Aptos"/>
              </a:rPr>
              <a:t>LOCAL IMPLEMENTATION</a:t>
            </a:r>
            <a:endParaRPr lang="en-US"/>
          </a:p>
        </p:txBody>
      </p:sp>
      <p:sp>
        <p:nvSpPr>
          <p:cNvPr id="5" name="Title"/>
          <p:cNvSpPr txBox="1"/>
          <p:nvPr/>
        </p:nvSpPr>
        <p:spPr>
          <a:xfrm>
            <a:off x="495300" y="781050"/>
            <a:ext cx="11144250" cy="71437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4200" b="1">
                <a:solidFill>
                  <a:srgbClr val="0B2545"/>
                </a:solidFill>
                <a:latin typeface="Aptos"/>
              </a:rPr>
              <a:t>Technology architecture</a:t>
            </a:r>
            <a:endParaRPr lang="en-US"/>
          </a:p>
        </p:txBody>
      </p:sp>
      <p:sp>
        <p:nvSpPr>
          <p:cNvPr id="6" name="Lead"/>
          <p:cNvSpPr txBox="1"/>
          <p:nvPr/>
        </p:nvSpPr>
        <p:spPr>
          <a:xfrm>
            <a:off x="523875" y="1552575"/>
            <a:ext cx="11049000" cy="7334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>The browser uses a same-origin application API; PostgreSQL and private file storage stay behind Django.</a:t>
            </a:r>
            <a:endParaRPr lang="en-US"/>
          </a:p>
        </p:txBody>
      </p:sp>
      <p:sp>
        <p:nvSpPr>
          <p:cNvPr id="7" name="BROWSER panel"/>
          <p:cNvSpPr txBox="1"/>
          <p:nvPr/>
        </p:nvSpPr>
        <p:spPr>
          <a:xfrm>
            <a:off x="571500" y="2762250"/>
            <a:ext cx="2619375" cy="1857375"/>
          </a:xfrm>
          <a:prstGeom prst="rect">
            <a:avLst/>
          </a:prstGeom>
          <a:solidFill>
            <a:srgbClr val="E4EFF4"/>
          </a:solidFill>
          <a:ln w="9525">
            <a:solidFill>
              <a:srgbClr val="D6E2E9"/>
            </a:solidFill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8" name="BROWSER heading"/>
          <p:cNvSpPr txBox="1"/>
          <p:nvPr/>
        </p:nvSpPr>
        <p:spPr>
          <a:xfrm>
            <a:off x="723900" y="2952750"/>
            <a:ext cx="2314575" cy="3619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100" b="1">
                <a:solidFill>
                  <a:srgbClr val="0B2545"/>
                </a:solidFill>
                <a:latin typeface="Aptos"/>
              </a:rPr>
              <a:t>BROWSER</a:t>
            </a:r>
            <a:endParaRPr lang="en-US"/>
          </a:p>
        </p:txBody>
      </p:sp>
      <p:sp>
        <p:nvSpPr>
          <p:cNvPr id="9" name="BROWSER detail"/>
          <p:cNvSpPr txBox="1"/>
          <p:nvPr/>
        </p:nvSpPr>
        <p:spPr>
          <a:xfrm>
            <a:off x="723900" y="3381375"/>
            <a:ext cx="2314575" cy="117157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800" b="0">
                <a:solidFill>
                  <a:srgbClr val="14263D"/>
                </a:solidFill>
                <a:latin typeface="Aptos"/>
              </a:rPr>
              <a:t>React · Vite · TypeScript</a:t>
            </a:r>
            <a:endParaRPr lang="en-US"/>
          </a:p>
          <a:p>
            <a:pPr algn="l"/>
            <a:r>
              <a:rPr lang="en-US" sz="1800" b="0">
                <a:solidFill>
                  <a:srgbClr val="14263D"/>
                </a:solidFill>
                <a:latin typeface="Aptos"/>
              </a:rPr>
              <a:t>Session + CSRF</a:t>
            </a:r>
            <a:endParaRPr lang="en-US"/>
          </a:p>
        </p:txBody>
      </p:sp>
      <p:sp>
        <p:nvSpPr>
          <p:cNvPr id="10" name="APPLICATION API panel"/>
          <p:cNvSpPr txBox="1"/>
          <p:nvPr/>
        </p:nvSpPr>
        <p:spPr>
          <a:xfrm>
            <a:off x="4048125" y="2762250"/>
            <a:ext cx="3238500" cy="1857375"/>
          </a:xfrm>
          <a:prstGeom prst="rect">
            <a:avLst/>
          </a:prstGeom>
          <a:solidFill>
            <a:srgbClr val="E4EFF4"/>
          </a:solidFill>
          <a:ln w="9525">
            <a:solidFill>
              <a:srgbClr val="D6E2E9"/>
            </a:solidFill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11" name="APPLICATION API heading"/>
          <p:cNvSpPr txBox="1"/>
          <p:nvPr/>
        </p:nvSpPr>
        <p:spPr>
          <a:xfrm>
            <a:off x="4200525" y="2952750"/>
            <a:ext cx="2933700" cy="3619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100" b="1">
                <a:solidFill>
                  <a:srgbClr val="0B2545"/>
                </a:solidFill>
                <a:latin typeface="Aptos"/>
              </a:rPr>
              <a:t>APPLICATION API</a:t>
            </a:r>
            <a:endParaRPr lang="en-US"/>
          </a:p>
        </p:txBody>
      </p:sp>
      <p:sp>
        <p:nvSpPr>
          <p:cNvPr id="12" name="APPLICATION API detail"/>
          <p:cNvSpPr txBox="1"/>
          <p:nvPr/>
        </p:nvSpPr>
        <p:spPr>
          <a:xfrm>
            <a:off x="4200525" y="3381375"/>
            <a:ext cx="2933700" cy="117157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800" b="0">
                <a:solidFill>
                  <a:srgbClr val="14263D"/>
                </a:solidFill>
                <a:latin typeface="Aptos"/>
              </a:rPr>
              <a:t>Django REST Framework</a:t>
            </a:r>
            <a:endParaRPr lang="en-US"/>
          </a:p>
          <a:p>
            <a:pPr algn="l"/>
            <a:r>
              <a:rPr lang="en-US" sz="1800" b="0">
                <a:solidFill>
                  <a:srgbClr val="14263D"/>
                </a:solidFill>
                <a:latin typeface="Aptos"/>
              </a:rPr>
              <a:t>Scope + workflow + audit</a:t>
            </a:r>
            <a:endParaRPr lang="en-US"/>
          </a:p>
        </p:txBody>
      </p:sp>
      <p:sp>
        <p:nvSpPr>
          <p:cNvPr id="13" name="POSTGRESQL panel"/>
          <p:cNvSpPr txBox="1"/>
          <p:nvPr/>
        </p:nvSpPr>
        <p:spPr>
          <a:xfrm>
            <a:off x="8524875" y="2428875"/>
            <a:ext cx="2857500" cy="1143000"/>
          </a:xfrm>
          <a:prstGeom prst="rect">
            <a:avLst/>
          </a:prstGeom>
          <a:solidFill>
            <a:srgbClr val="E4EFF4"/>
          </a:solidFill>
          <a:ln w="9525">
            <a:solidFill>
              <a:srgbClr val="D6E2E9"/>
            </a:solidFill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14" name="POSTGRESQL heading"/>
          <p:cNvSpPr txBox="1"/>
          <p:nvPr/>
        </p:nvSpPr>
        <p:spPr>
          <a:xfrm>
            <a:off x="8677275" y="2619375"/>
            <a:ext cx="2552700" cy="3619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100" b="1">
                <a:solidFill>
                  <a:srgbClr val="0B2545"/>
                </a:solidFill>
                <a:latin typeface="Aptos"/>
              </a:rPr>
              <a:t>POSTGRESQL</a:t>
            </a:r>
            <a:endParaRPr lang="en-US"/>
          </a:p>
        </p:txBody>
      </p:sp>
      <p:sp>
        <p:nvSpPr>
          <p:cNvPr id="15" name="POSTGRESQL detail"/>
          <p:cNvSpPr txBox="1"/>
          <p:nvPr/>
        </p:nvSpPr>
        <p:spPr>
          <a:xfrm>
            <a:off x="8677275" y="3048000"/>
            <a:ext cx="255270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800" b="0">
                <a:solidFill>
                  <a:srgbClr val="14263D"/>
                </a:solidFill>
                <a:latin typeface="Aptos"/>
              </a:rPr>
              <a:t>Relational records</a:t>
            </a:r>
            <a:endParaRPr lang="en-US"/>
          </a:p>
          <a:p>
            <a:pPr algn="l"/>
            <a:r>
              <a:rPr lang="en-US" sz="1800" b="0">
                <a:solidFill>
                  <a:srgbClr val="14263D"/>
                </a:solidFill>
                <a:latin typeface="Aptos"/>
              </a:rPr>
              <a:t>History + constraints</a:t>
            </a:r>
            <a:endParaRPr lang="en-US"/>
          </a:p>
        </p:txBody>
      </p:sp>
      <p:sp>
        <p:nvSpPr>
          <p:cNvPr id="16" name="PRIVATE MEDIA panel"/>
          <p:cNvSpPr txBox="1"/>
          <p:nvPr/>
        </p:nvSpPr>
        <p:spPr>
          <a:xfrm>
            <a:off x="8524875" y="3857625"/>
            <a:ext cx="2857500" cy="1143000"/>
          </a:xfrm>
          <a:prstGeom prst="rect">
            <a:avLst/>
          </a:prstGeom>
          <a:solidFill>
            <a:srgbClr val="E4EFF4"/>
          </a:solidFill>
          <a:ln w="9525">
            <a:solidFill>
              <a:srgbClr val="D6E2E9"/>
            </a:solidFill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17" name="PRIVATE MEDIA heading"/>
          <p:cNvSpPr txBox="1"/>
          <p:nvPr/>
        </p:nvSpPr>
        <p:spPr>
          <a:xfrm>
            <a:off x="8677275" y="4048125"/>
            <a:ext cx="2552700" cy="3619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100" b="1">
                <a:solidFill>
                  <a:srgbClr val="0B2545"/>
                </a:solidFill>
                <a:latin typeface="Aptos"/>
              </a:rPr>
              <a:t>PRIVATE MEDIA</a:t>
            </a:r>
            <a:endParaRPr lang="en-US"/>
          </a:p>
        </p:txBody>
      </p:sp>
      <p:sp>
        <p:nvSpPr>
          <p:cNvPr id="18" name="PRIVATE MEDIA detail"/>
          <p:cNvSpPr txBox="1"/>
          <p:nvPr/>
        </p:nvSpPr>
        <p:spPr>
          <a:xfrm>
            <a:off x="8677275" y="4476750"/>
            <a:ext cx="255270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800" b="0">
                <a:solidFill>
                  <a:srgbClr val="14263D"/>
                </a:solidFill>
                <a:latin typeface="Aptos"/>
              </a:rPr>
              <a:t>Versioned bytes</a:t>
            </a:r>
            <a:endParaRPr lang="en-US"/>
          </a:p>
          <a:p>
            <a:pPr algn="l"/>
            <a:r>
              <a:rPr lang="en-US" sz="1800" b="0">
                <a:solidFill>
                  <a:srgbClr val="14263D"/>
                </a:solidFill>
                <a:latin typeface="Aptos"/>
              </a:rPr>
              <a:t>Protected downloads</a:t>
            </a:r>
            <a:endParaRPr lang="en-US"/>
          </a:p>
        </p:txBody>
      </p:sp>
      <p:sp>
        <p:nvSpPr>
          <p:cNvPr id="19" name="Browser to API"/>
          <p:cNvSpPr txBox="1"/>
          <p:nvPr/>
        </p:nvSpPr>
        <p:spPr>
          <a:xfrm>
            <a:off x="3333750" y="3352800"/>
            <a:ext cx="638175" cy="6667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4200" b="1">
                <a:solidFill>
                  <a:srgbClr val="0F9E92"/>
                </a:solidFill>
                <a:latin typeface="Aptos"/>
              </a:rPr>
              <a:t>→</a:t>
            </a:r>
            <a:endParaRPr lang="en-US"/>
          </a:p>
        </p:txBody>
      </p:sp>
      <p:sp>
        <p:nvSpPr>
          <p:cNvPr id="20" name="API to database"/>
          <p:cNvSpPr txBox="1"/>
          <p:nvPr/>
        </p:nvSpPr>
        <p:spPr>
          <a:xfrm>
            <a:off x="7524750" y="2876550"/>
            <a:ext cx="857250" cy="5715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4200" b="1">
                <a:solidFill>
                  <a:srgbClr val="0F9E92"/>
                </a:solidFill>
                <a:latin typeface="Aptos"/>
              </a:rPr>
              <a:t>→</a:t>
            </a:r>
            <a:endParaRPr lang="en-US"/>
          </a:p>
        </p:txBody>
      </p:sp>
      <p:sp>
        <p:nvSpPr>
          <p:cNvPr id="21" name="API to media"/>
          <p:cNvSpPr txBox="1"/>
          <p:nvPr/>
        </p:nvSpPr>
        <p:spPr>
          <a:xfrm>
            <a:off x="7524750" y="4238625"/>
            <a:ext cx="857250" cy="5715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4200" b="1">
                <a:solidFill>
                  <a:srgbClr val="0F9E92"/>
                </a:solidFill>
                <a:latin typeface="Aptos"/>
              </a:rPr>
              <a:t>→</a:t>
            </a:r>
            <a:endParaRPr lang="en-US"/>
          </a:p>
        </p:txBody>
      </p:sp>
      <p:sp>
        <p:nvSpPr>
          <p:cNvPr id="22" name="Architecture boundary"/>
          <p:cNvSpPr txBox="1"/>
          <p:nvPr/>
        </p:nvSpPr>
        <p:spPr>
          <a:xfrm>
            <a:off x="590550" y="5286375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100" b="0">
                <a:solidFill>
                  <a:srgbClr val="14263D"/>
                </a:solidFill>
                <a:latin typeface="Aptos"/>
              </a:rPr>
              <a:t>Django authorizes every metadata query and file response; no public evidence route.</a:t>
            </a:r>
            <a:endParaRPr lang="en-US"/>
          </a:p>
        </p:txBody>
      </p:sp>
      <p:sp>
        <p:nvSpPr>
          <p:cNvPr id="23" name="Footer rule"/>
          <p:cNvSpPr txBox="1"/>
          <p:nvPr/>
        </p:nvSpPr>
        <p:spPr>
          <a:xfrm>
            <a:off x="495300" y="6334125"/>
            <a:ext cx="11163300" cy="19050"/>
          </a:xfrm>
          <a:prstGeom prst="rect">
            <a:avLst/>
          </a:prstGeom>
          <a:solidFill>
            <a:srgbClr val="D6E2E9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24" name="Footer"/>
          <p:cNvSpPr txBox="1"/>
          <p:nvPr/>
        </p:nvSpPr>
        <p:spPr>
          <a:xfrm>
            <a:off x="504825" y="6438900"/>
            <a:ext cx="962025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300" b="0">
                <a:solidFill>
                  <a:srgbClr val="486078"/>
                </a:solidFill>
                <a:latin typeface="Aptos"/>
              </a:rPr>
              <a:t>MC Accreditation Hub  ·  MIT 007  ·  Fictional local evidence unless marked otherwise</a:t>
            </a:r>
            <a:endParaRPr lang="en-US"/>
          </a:p>
        </p:txBody>
      </p:sp>
      <p:sp>
        <p:nvSpPr>
          <p:cNvPr id="25" name="Page"/>
          <p:cNvSpPr txBox="1"/>
          <p:nvPr/>
        </p:nvSpPr>
        <p:spPr>
          <a:xfrm>
            <a:off x="10572750" y="6438900"/>
            <a:ext cx="114300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300" b="0">
                <a:solidFill>
                  <a:srgbClr val="486078"/>
                </a:solidFill>
                <a:latin typeface="Aptos"/>
              </a:rPr>
              <a:t>07 / 53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 name="08 Request and evidence data flow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 txBox="1"/>
          <p:nvPr/>
        </p:nvSpPr>
        <p:spPr>
          <a:xfrm>
            <a:off x="0" y="0"/>
            <a:ext cx="12192000" cy="123825"/>
          </a:xfrm>
          <a:prstGeom prst="rect">
            <a:avLst/>
          </a:prstGeom>
          <a:solidFill>
            <a:srgbClr val="0F9E92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3" name="Section"/>
          <p:cNvSpPr txBox="1"/>
          <p:nvPr/>
        </p:nvSpPr>
        <p:spPr>
          <a:xfrm>
            <a:off x="495300" y="323850"/>
            <a:ext cx="809625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700" b="1">
                <a:solidFill>
                  <a:srgbClr val="0F9E92"/>
                </a:solidFill>
                <a:latin typeface="Aptos"/>
              </a:rPr>
              <a:t>PROJECT</a:t>
            </a:r>
            <a:endParaRPr lang="en-US"/>
          </a:p>
        </p:txBody>
      </p:sp>
      <p:sp>
        <p:nvSpPr>
          <p:cNvPr id="4" name="Status"/>
          <p:cNvSpPr txBox="1"/>
          <p:nvPr/>
        </p:nvSpPr>
        <p:spPr>
          <a:xfrm>
            <a:off x="8810625" y="3048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600" b="0">
                <a:solidFill>
                  <a:srgbClr val="486078"/>
                </a:solidFill>
                <a:latin typeface="Aptos"/>
              </a:rPr>
              <a:t>LOCAL IMPLEMENTATION</a:t>
            </a:r>
            <a:endParaRPr lang="en-US"/>
          </a:p>
        </p:txBody>
      </p:sp>
      <p:sp>
        <p:nvSpPr>
          <p:cNvPr id="5" name="Title"/>
          <p:cNvSpPr txBox="1"/>
          <p:nvPr/>
        </p:nvSpPr>
        <p:spPr>
          <a:xfrm>
            <a:off x="495300" y="781050"/>
            <a:ext cx="11144250" cy="71437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4200" b="1">
                <a:solidFill>
                  <a:srgbClr val="0B2545"/>
                </a:solidFill>
                <a:latin typeface="Aptos"/>
              </a:rPr>
              <a:t>Request and evidence data flow</a:t>
            </a:r>
            <a:endParaRPr lang="en-US"/>
          </a:p>
        </p:txBody>
      </p:sp>
      <p:sp>
        <p:nvSpPr>
          <p:cNvPr id="6" name="Lead"/>
          <p:cNvSpPr txBox="1"/>
          <p:nvPr/>
        </p:nvSpPr>
        <p:spPr>
          <a:xfrm>
            <a:off x="523875" y="1552575"/>
            <a:ext cx="11049000" cy="7334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>Each request checks identity, scope, record state, and exact file availability.</a:t>
            </a:r>
            <a:endParaRPr lang="en-US"/>
          </a:p>
        </p:txBody>
      </p:sp>
      <p:sp>
        <p:nvSpPr>
          <p:cNvPr id="7" name="Point 1"/>
          <p:cNvSpPr txBox="1"/>
          <p:nvPr/>
        </p:nvSpPr>
        <p:spPr>
          <a:xfrm>
            <a:off x="666750" y="24479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Browser → /api/ session and CSRF → Django authorization.</a:t>
            </a:r>
            <a:endParaRPr lang="en-US"/>
          </a:p>
        </p:txBody>
      </p:sp>
      <p:sp>
        <p:nvSpPr>
          <p:cNvPr id="8" name="Point 2"/>
          <p:cNvSpPr txBox="1"/>
          <p:nvPr/>
        </p:nvSpPr>
        <p:spPr>
          <a:xfrm>
            <a:off x="666750" y="30956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Django reads/writes PostgreSQL records and private file bytes.</a:t>
            </a:r>
            <a:endParaRPr lang="en-US"/>
          </a:p>
        </p:txBody>
      </p:sp>
      <p:sp>
        <p:nvSpPr>
          <p:cNvPr id="9" name="Point 3"/>
          <p:cNvSpPr txBox="1"/>
          <p:nvPr/>
        </p:nvSpPr>
        <p:spPr>
          <a:xfrm>
            <a:off x="666750" y="37433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Upload scans the exact checksum; failed or absent verdicts quarantine the version.</a:t>
            </a:r>
            <a:endParaRPr lang="en-US"/>
          </a:p>
        </p:txBody>
      </p:sp>
      <p:sp>
        <p:nvSpPr>
          <p:cNvPr id="10" name="Point 4"/>
          <p:cNvSpPr txBox="1"/>
          <p:nvPr/>
        </p:nvSpPr>
        <p:spPr>
          <a:xfrm>
            <a:off x="666750" y="43910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Approved evidence access remains scoped and audited.</a:t>
            </a:r>
            <a:endParaRPr lang="en-US"/>
          </a:p>
        </p:txBody>
      </p:sp>
      <p:sp>
        <p:nvSpPr>
          <p:cNvPr id="11" name="Footer rule"/>
          <p:cNvSpPr txBox="1"/>
          <p:nvPr/>
        </p:nvSpPr>
        <p:spPr>
          <a:xfrm>
            <a:off x="495300" y="6334125"/>
            <a:ext cx="11163300" cy="19050"/>
          </a:xfrm>
          <a:prstGeom prst="rect">
            <a:avLst/>
          </a:prstGeom>
          <a:solidFill>
            <a:srgbClr val="D6E2E9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12" name="Footer"/>
          <p:cNvSpPr txBox="1"/>
          <p:nvPr/>
        </p:nvSpPr>
        <p:spPr>
          <a:xfrm>
            <a:off x="504825" y="6438900"/>
            <a:ext cx="962025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300" b="0">
                <a:solidFill>
                  <a:srgbClr val="486078"/>
                </a:solidFill>
                <a:latin typeface="Aptos"/>
              </a:rPr>
              <a:t>MC Accreditation Hub  ·  MIT 007  ·  Fictional local evidence unless marked otherwise</a:t>
            </a:r>
            <a:endParaRPr lang="en-US"/>
          </a:p>
        </p:txBody>
      </p:sp>
      <p:sp>
        <p:nvSpPr>
          <p:cNvPr id="13" name="Page"/>
          <p:cNvSpPr txBox="1"/>
          <p:nvPr/>
        </p:nvSpPr>
        <p:spPr>
          <a:xfrm>
            <a:off x="10572750" y="6438900"/>
            <a:ext cx="114300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300" b="0">
                <a:solidFill>
                  <a:srgbClr val="486078"/>
                </a:solidFill>
                <a:latin typeface="Aptos"/>
              </a:rPr>
              <a:t>08 / 53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 name="09 Core data relationships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 txBox="1"/>
          <p:nvPr/>
        </p:nvSpPr>
        <p:spPr>
          <a:xfrm>
            <a:off x="0" y="0"/>
            <a:ext cx="12192000" cy="123825"/>
          </a:xfrm>
          <a:prstGeom prst="rect">
            <a:avLst/>
          </a:prstGeom>
          <a:solidFill>
            <a:srgbClr val="0F9E92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3" name="Section"/>
          <p:cNvSpPr txBox="1"/>
          <p:nvPr/>
        </p:nvSpPr>
        <p:spPr>
          <a:xfrm>
            <a:off x="495300" y="323850"/>
            <a:ext cx="809625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700" b="1">
                <a:solidFill>
                  <a:srgbClr val="0F9E92"/>
                </a:solidFill>
                <a:latin typeface="Aptos"/>
              </a:rPr>
              <a:t>PROJECT</a:t>
            </a:r>
            <a:endParaRPr lang="en-US"/>
          </a:p>
        </p:txBody>
      </p:sp>
      <p:sp>
        <p:nvSpPr>
          <p:cNvPr id="4" name="Status"/>
          <p:cNvSpPr txBox="1"/>
          <p:nvPr/>
        </p:nvSpPr>
        <p:spPr>
          <a:xfrm>
            <a:off x="8810625" y="3048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600" b="0">
                <a:solidFill>
                  <a:srgbClr val="486078"/>
                </a:solidFill>
                <a:latin typeface="Aptos"/>
              </a:rPr>
              <a:t>LOCAL IMPLEMENTATION</a:t>
            </a:r>
            <a:endParaRPr lang="en-US"/>
          </a:p>
        </p:txBody>
      </p:sp>
      <p:sp>
        <p:nvSpPr>
          <p:cNvPr id="5" name="Title"/>
          <p:cNvSpPr txBox="1"/>
          <p:nvPr/>
        </p:nvSpPr>
        <p:spPr>
          <a:xfrm>
            <a:off x="495300" y="781050"/>
            <a:ext cx="11144250" cy="71437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4200" b="1">
                <a:solidFill>
                  <a:srgbClr val="0B2545"/>
                </a:solidFill>
                <a:latin typeface="Aptos"/>
              </a:rPr>
              <a:t>Core data relationships</a:t>
            </a:r>
            <a:endParaRPr lang="en-US"/>
          </a:p>
        </p:txBody>
      </p:sp>
      <p:sp>
        <p:nvSpPr>
          <p:cNvPr id="6" name="Lead"/>
          <p:cNvSpPr txBox="1"/>
          <p:nvPr/>
        </p:nvSpPr>
        <p:spPr>
          <a:xfrm>
            <a:off x="523875" y="1552575"/>
            <a:ext cx="11049000" cy="7334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>Cycles contain areas and requirements; evidence and decisions preserve exact history.</a:t>
            </a:r>
            <a:endParaRPr lang="en-US"/>
          </a:p>
        </p:txBody>
      </p:sp>
      <p:sp>
        <p:nvSpPr>
          <p:cNvPr id="7" name="Point 1"/>
          <p:cNvSpPr txBox="1"/>
          <p:nvPr/>
        </p:nvSpPr>
        <p:spPr>
          <a:xfrm>
            <a:off x="666750" y="24479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Cycle → Area → Requirement → Evidence Item.</a:t>
            </a:r>
            <a:endParaRPr lang="en-US"/>
          </a:p>
        </p:txBody>
      </p:sp>
      <p:sp>
        <p:nvSpPr>
          <p:cNvPr id="8" name="Point 2"/>
          <p:cNvSpPr txBox="1"/>
          <p:nvPr/>
        </p:nvSpPr>
        <p:spPr>
          <a:xfrm>
            <a:off x="666750" y="30956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Document → immutable Document Version → scan verdict and item mapping.</a:t>
            </a:r>
            <a:endParaRPr lang="en-US"/>
          </a:p>
        </p:txBody>
      </p:sp>
      <p:sp>
        <p:nvSpPr>
          <p:cNvPr id="9" name="Point 3"/>
          <p:cNvSpPr txBox="1"/>
          <p:nvPr/>
        </p:nvSpPr>
        <p:spPr>
          <a:xfrm>
            <a:off x="666750" y="37433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Requirement → Package Attempt → pinned versions → Reviewer decision.</a:t>
            </a:r>
            <a:endParaRPr lang="en-US"/>
          </a:p>
        </p:txBody>
      </p:sp>
      <p:sp>
        <p:nvSpPr>
          <p:cNvPr id="10" name="Point 4"/>
          <p:cNvSpPr txBox="1"/>
          <p:nvPr/>
        </p:nvSpPr>
        <p:spPr>
          <a:xfrm>
            <a:off x="666750" y="43910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Requirement → Coordinator certification; Audit Event records actions.</a:t>
            </a:r>
            <a:endParaRPr lang="en-US"/>
          </a:p>
        </p:txBody>
      </p:sp>
      <p:sp>
        <p:nvSpPr>
          <p:cNvPr id="11" name="Footer rule"/>
          <p:cNvSpPr txBox="1"/>
          <p:nvPr/>
        </p:nvSpPr>
        <p:spPr>
          <a:xfrm>
            <a:off x="495300" y="6334125"/>
            <a:ext cx="11163300" cy="19050"/>
          </a:xfrm>
          <a:prstGeom prst="rect">
            <a:avLst/>
          </a:prstGeom>
          <a:solidFill>
            <a:srgbClr val="D6E2E9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12" name="Footer"/>
          <p:cNvSpPr txBox="1"/>
          <p:nvPr/>
        </p:nvSpPr>
        <p:spPr>
          <a:xfrm>
            <a:off x="504825" y="6438900"/>
            <a:ext cx="962025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300" b="0">
                <a:solidFill>
                  <a:srgbClr val="486078"/>
                </a:solidFill>
                <a:latin typeface="Aptos"/>
              </a:rPr>
              <a:t>MC Accreditation Hub  ·  MIT 007  ·  Fictional local evidence unless marked otherwise</a:t>
            </a:r>
            <a:endParaRPr lang="en-US"/>
          </a:p>
        </p:txBody>
      </p:sp>
      <p:sp>
        <p:nvSpPr>
          <p:cNvPr id="13" name="Page"/>
          <p:cNvSpPr txBox="1"/>
          <p:nvPr/>
        </p:nvSpPr>
        <p:spPr>
          <a:xfrm>
            <a:off x="10572750" y="6438900"/>
            <a:ext cx="114300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300" b="0">
                <a:solidFill>
                  <a:srgbClr val="486078"/>
                </a:solidFill>
                <a:latin typeface="Aptos"/>
              </a:rPr>
              <a:t>09 / 53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 name="10 Cycles and requirements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 txBox="1"/>
          <p:nvPr/>
        </p:nvSpPr>
        <p:spPr>
          <a:xfrm>
            <a:off x="0" y="0"/>
            <a:ext cx="12192000" cy="123825"/>
          </a:xfrm>
          <a:prstGeom prst="rect">
            <a:avLst/>
          </a:prstGeom>
          <a:solidFill>
            <a:srgbClr val="0F9E92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3" name="Section"/>
          <p:cNvSpPr txBox="1"/>
          <p:nvPr/>
        </p:nvSpPr>
        <p:spPr>
          <a:xfrm>
            <a:off x="495300" y="323850"/>
            <a:ext cx="809625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700" b="1">
                <a:solidFill>
                  <a:srgbClr val="0F9E92"/>
                </a:solidFill>
                <a:latin typeface="Aptos"/>
              </a:rPr>
              <a:t>PROJECT</a:t>
            </a:r>
            <a:endParaRPr lang="en-US"/>
          </a:p>
        </p:txBody>
      </p:sp>
      <p:sp>
        <p:nvSpPr>
          <p:cNvPr id="4" name="Status"/>
          <p:cNvSpPr txBox="1"/>
          <p:nvPr/>
        </p:nvSpPr>
        <p:spPr>
          <a:xfrm>
            <a:off x="8810625" y="3048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600" b="0">
                <a:solidFill>
                  <a:srgbClr val="486078"/>
                </a:solidFill>
                <a:latin typeface="Aptos"/>
              </a:rPr>
              <a:t>LOCAL IMPLEMENTATION</a:t>
            </a:r>
            <a:endParaRPr lang="en-US"/>
          </a:p>
        </p:txBody>
      </p:sp>
      <p:sp>
        <p:nvSpPr>
          <p:cNvPr id="5" name="Title"/>
          <p:cNvSpPr txBox="1"/>
          <p:nvPr/>
        </p:nvSpPr>
        <p:spPr>
          <a:xfrm>
            <a:off x="495300" y="781050"/>
            <a:ext cx="11144250" cy="71437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4200" b="1">
                <a:solidFill>
                  <a:srgbClr val="0B2545"/>
                </a:solidFill>
                <a:latin typeface="Aptos"/>
              </a:rPr>
              <a:t>Cycles and requirements</a:t>
            </a:r>
            <a:endParaRPr lang="en-US"/>
          </a:p>
        </p:txBody>
      </p:sp>
      <p:sp>
        <p:nvSpPr>
          <p:cNvPr id="6" name="Lead"/>
          <p:cNvSpPr txBox="1"/>
          <p:nvPr/>
        </p:nvSpPr>
        <p:spPr>
          <a:xfrm>
            <a:off x="523875" y="1552575"/>
            <a:ext cx="11049000" cy="7334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>Academic work is scoped to an assessment cycle and its areas.</a:t>
            </a:r>
            <a:endParaRPr lang="en-US"/>
          </a:p>
        </p:txBody>
      </p:sp>
      <p:sp>
        <p:nvSpPr>
          <p:cNvPr id="7" name="Point 1"/>
          <p:cNvSpPr txBox="1"/>
          <p:nvPr/>
        </p:nvSpPr>
        <p:spPr>
          <a:xfrm>
            <a:off x="666750" y="24479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Requirements include criteria, mandatory items, responsible office, and optional deadline.</a:t>
            </a:r>
            <a:endParaRPr lang="en-US"/>
          </a:p>
        </p:txBody>
      </p:sp>
      <p:sp>
        <p:nvSpPr>
          <p:cNvPr id="8" name="Point 2"/>
          <p:cNvSpPr txBox="1"/>
          <p:nvPr/>
        </p:nvSpPr>
        <p:spPr>
          <a:xfrm>
            <a:off x="666750" y="30956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Active and applicable requirements form the readiness denominator.</a:t>
            </a:r>
            <a:endParaRPr lang="en-US"/>
          </a:p>
        </p:txBody>
      </p:sp>
      <p:sp>
        <p:nvSpPr>
          <p:cNvPr id="9" name="Point 3"/>
          <p:cNvSpPr txBox="1"/>
          <p:nvPr/>
        </p:nvSpPr>
        <p:spPr>
          <a:xfrm>
            <a:off x="666750" y="37433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Closed cycles reject ordinary writes; archive is a separate reasoned lifecycle action.</a:t>
            </a:r>
            <a:endParaRPr lang="en-US"/>
          </a:p>
        </p:txBody>
      </p:sp>
      <p:sp>
        <p:nvSpPr>
          <p:cNvPr id="10" name="Point 4"/>
          <p:cNvSpPr txBox="1"/>
          <p:nvPr/>
        </p:nvSpPr>
        <p:spPr>
          <a:xfrm>
            <a:off x="666750" y="43910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The demo cycle and eight requirements are fictional.</a:t>
            </a:r>
            <a:endParaRPr lang="en-US"/>
          </a:p>
        </p:txBody>
      </p:sp>
      <p:sp>
        <p:nvSpPr>
          <p:cNvPr id="11" name="Footer rule"/>
          <p:cNvSpPr txBox="1"/>
          <p:nvPr/>
        </p:nvSpPr>
        <p:spPr>
          <a:xfrm>
            <a:off x="495300" y="6334125"/>
            <a:ext cx="11163300" cy="19050"/>
          </a:xfrm>
          <a:prstGeom prst="rect">
            <a:avLst/>
          </a:prstGeom>
          <a:solidFill>
            <a:srgbClr val="D6E2E9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12" name="Footer"/>
          <p:cNvSpPr txBox="1"/>
          <p:nvPr/>
        </p:nvSpPr>
        <p:spPr>
          <a:xfrm>
            <a:off x="504825" y="6438900"/>
            <a:ext cx="962025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300" b="0">
                <a:solidFill>
                  <a:srgbClr val="486078"/>
                </a:solidFill>
                <a:latin typeface="Aptos"/>
              </a:rPr>
              <a:t>MC Accreditation Hub  ·  MIT 007  ·  Fictional local evidence unless marked otherwise</a:t>
            </a:r>
            <a:endParaRPr lang="en-US"/>
          </a:p>
        </p:txBody>
      </p:sp>
      <p:sp>
        <p:nvSpPr>
          <p:cNvPr id="13" name="Page"/>
          <p:cNvSpPr txBox="1"/>
          <p:nvPr/>
        </p:nvSpPr>
        <p:spPr>
          <a:xfrm>
            <a:off x="10572750" y="6438900"/>
            <a:ext cx="114300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300" b="0">
                <a:solidFill>
                  <a:srgbClr val="486078"/>
                </a:solidFill>
                <a:latin typeface="Aptos"/>
              </a:rPr>
              <a:t>10 / 53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 name="11 Assignment and stewardship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 txBox="1"/>
          <p:nvPr/>
        </p:nvSpPr>
        <p:spPr>
          <a:xfrm>
            <a:off x="0" y="0"/>
            <a:ext cx="12192000" cy="123825"/>
          </a:xfrm>
          <a:prstGeom prst="rect">
            <a:avLst/>
          </a:prstGeom>
          <a:solidFill>
            <a:srgbClr val="0F9E92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3" name="Section"/>
          <p:cNvSpPr txBox="1"/>
          <p:nvPr/>
        </p:nvSpPr>
        <p:spPr>
          <a:xfrm>
            <a:off x="495300" y="323850"/>
            <a:ext cx="809625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700" b="1">
                <a:solidFill>
                  <a:srgbClr val="0F9E92"/>
                </a:solidFill>
                <a:latin typeface="Aptos"/>
              </a:rPr>
              <a:t>PROJECT</a:t>
            </a:r>
            <a:endParaRPr lang="en-US"/>
          </a:p>
        </p:txBody>
      </p:sp>
      <p:sp>
        <p:nvSpPr>
          <p:cNvPr id="4" name="Status"/>
          <p:cNvSpPr txBox="1"/>
          <p:nvPr/>
        </p:nvSpPr>
        <p:spPr>
          <a:xfrm>
            <a:off x="8810625" y="3048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600" b="0">
                <a:solidFill>
                  <a:srgbClr val="486078"/>
                </a:solidFill>
                <a:latin typeface="Aptos"/>
              </a:rPr>
              <a:t>LOCAL / PROVISIONAL</a:t>
            </a:r>
            <a:endParaRPr lang="en-US"/>
          </a:p>
        </p:txBody>
      </p:sp>
      <p:sp>
        <p:nvSpPr>
          <p:cNvPr id="5" name="Title"/>
          <p:cNvSpPr txBox="1"/>
          <p:nvPr/>
        </p:nvSpPr>
        <p:spPr>
          <a:xfrm>
            <a:off x="495300" y="781050"/>
            <a:ext cx="11144250" cy="71437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4200" b="1">
                <a:solidFill>
                  <a:srgbClr val="0B2545"/>
                </a:solidFill>
                <a:latin typeface="Aptos"/>
              </a:rPr>
              <a:t>Assignment and stewardship</a:t>
            </a:r>
            <a:endParaRPr lang="en-US"/>
          </a:p>
        </p:txBody>
      </p:sp>
      <p:sp>
        <p:nvSpPr>
          <p:cNvPr id="6" name="Lead"/>
          <p:cNvSpPr txBox="1"/>
          <p:nvPr/>
        </p:nvSpPr>
        <p:spPr>
          <a:xfrm>
            <a:off x="523875" y="1552575"/>
            <a:ext cx="11049000" cy="7334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>A named Custodian assignment controls new requirement work.</a:t>
            </a:r>
            <a:endParaRPr lang="en-US"/>
          </a:p>
        </p:txBody>
      </p:sp>
      <p:sp>
        <p:nvSpPr>
          <p:cNvPr id="7" name="Point 1"/>
          <p:cNvSpPr txBox="1"/>
          <p:nvPr/>
        </p:nvSpPr>
        <p:spPr>
          <a:xfrm>
            <a:off x="666750" y="24479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A document records its owning area and steward.</a:t>
            </a:r>
            <a:endParaRPr lang="en-US"/>
          </a:p>
        </p:txBody>
      </p:sp>
      <p:sp>
        <p:nvSpPr>
          <p:cNvPr id="8" name="Point 2"/>
          <p:cNvSpPr txBox="1"/>
          <p:nvPr/>
        </p:nvSpPr>
        <p:spPr>
          <a:xfrm>
            <a:off x="666750" y="30956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The steward replaces versions; scoped Coordinator exceptions require a reason.</a:t>
            </a:r>
            <a:endParaRPr lang="en-US"/>
          </a:p>
        </p:txBody>
      </p:sp>
      <p:sp>
        <p:nvSpPr>
          <p:cNvPr id="9" name="Point 3"/>
          <p:cNvSpPr txBox="1"/>
          <p:nvPr/>
        </p:nvSpPr>
        <p:spPr>
          <a:xfrm>
            <a:off x="666750" y="37433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A team member cannot silently replace another person’s evidence.</a:t>
            </a:r>
            <a:endParaRPr lang="en-US"/>
          </a:p>
        </p:txBody>
      </p:sp>
      <p:sp>
        <p:nvSpPr>
          <p:cNvPr id="10" name="Point 4"/>
          <p:cNvSpPr txBox="1"/>
          <p:nvPr/>
        </p:nvSpPr>
        <p:spPr>
          <a:xfrm>
            <a:off x="666750" y="43910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Academic owners still need to ratify this institutional role mapping.</a:t>
            </a:r>
            <a:endParaRPr lang="en-US"/>
          </a:p>
        </p:txBody>
      </p:sp>
      <p:sp>
        <p:nvSpPr>
          <p:cNvPr id="11" name="Footer rule"/>
          <p:cNvSpPr txBox="1"/>
          <p:nvPr/>
        </p:nvSpPr>
        <p:spPr>
          <a:xfrm>
            <a:off x="495300" y="6334125"/>
            <a:ext cx="11163300" cy="19050"/>
          </a:xfrm>
          <a:prstGeom prst="rect">
            <a:avLst/>
          </a:prstGeom>
          <a:solidFill>
            <a:srgbClr val="D6E2E9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12" name="Footer"/>
          <p:cNvSpPr txBox="1"/>
          <p:nvPr/>
        </p:nvSpPr>
        <p:spPr>
          <a:xfrm>
            <a:off x="504825" y="6438900"/>
            <a:ext cx="962025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300" b="0">
                <a:solidFill>
                  <a:srgbClr val="486078"/>
                </a:solidFill>
                <a:latin typeface="Aptos"/>
              </a:rPr>
              <a:t>MC Accreditation Hub  ·  MIT 007  ·  Fictional local evidence unless marked otherwise</a:t>
            </a:r>
            <a:endParaRPr lang="en-US"/>
          </a:p>
        </p:txBody>
      </p:sp>
      <p:sp>
        <p:nvSpPr>
          <p:cNvPr id="13" name="Page"/>
          <p:cNvSpPr txBox="1"/>
          <p:nvPr/>
        </p:nvSpPr>
        <p:spPr>
          <a:xfrm>
            <a:off x="10572750" y="6438900"/>
            <a:ext cx="114300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300" b="0">
                <a:solidFill>
                  <a:srgbClr val="486078"/>
                </a:solidFill>
                <a:latin typeface="Aptos"/>
              </a:rPr>
              <a:t>11 / 53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 name="12 Protected evidence versions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 txBox="1"/>
          <p:nvPr/>
        </p:nvSpPr>
        <p:spPr>
          <a:xfrm>
            <a:off x="0" y="0"/>
            <a:ext cx="12192000" cy="123825"/>
          </a:xfrm>
          <a:prstGeom prst="rect">
            <a:avLst/>
          </a:prstGeom>
          <a:solidFill>
            <a:srgbClr val="0F9E92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3" name="Section"/>
          <p:cNvSpPr txBox="1"/>
          <p:nvPr/>
        </p:nvSpPr>
        <p:spPr>
          <a:xfrm>
            <a:off x="495300" y="323850"/>
            <a:ext cx="809625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700" b="1">
                <a:solidFill>
                  <a:srgbClr val="0F9E92"/>
                </a:solidFill>
                <a:latin typeface="Aptos"/>
              </a:rPr>
              <a:t>PROJECT</a:t>
            </a:r>
            <a:endParaRPr lang="en-US"/>
          </a:p>
        </p:txBody>
      </p:sp>
      <p:sp>
        <p:nvSpPr>
          <p:cNvPr id="4" name="Status"/>
          <p:cNvSpPr txBox="1"/>
          <p:nvPr/>
        </p:nvSpPr>
        <p:spPr>
          <a:xfrm>
            <a:off x="8810625" y="3048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600" b="0">
                <a:solidFill>
                  <a:srgbClr val="486078"/>
                </a:solidFill>
                <a:latin typeface="Aptos"/>
              </a:rPr>
              <a:t>LOCAL IMPLEMENTATION</a:t>
            </a:r>
            <a:endParaRPr lang="en-US"/>
          </a:p>
        </p:txBody>
      </p:sp>
      <p:sp>
        <p:nvSpPr>
          <p:cNvPr id="5" name="Title"/>
          <p:cNvSpPr txBox="1"/>
          <p:nvPr/>
        </p:nvSpPr>
        <p:spPr>
          <a:xfrm>
            <a:off x="495300" y="781050"/>
            <a:ext cx="11144250" cy="71437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4200" b="1">
                <a:solidFill>
                  <a:srgbClr val="0B2545"/>
                </a:solidFill>
                <a:latin typeface="Aptos"/>
              </a:rPr>
              <a:t>Protected evidence versions</a:t>
            </a:r>
            <a:endParaRPr lang="en-US"/>
          </a:p>
        </p:txBody>
      </p:sp>
      <p:sp>
        <p:nvSpPr>
          <p:cNvPr id="6" name="Lead"/>
          <p:cNvSpPr txBox="1"/>
          <p:nvPr/>
        </p:nvSpPr>
        <p:spPr>
          <a:xfrm>
            <a:off x="523875" y="1552575"/>
            <a:ext cx="11049000" cy="7334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>Replacement adds an immutable version instead of overwriting reviewed bytes.</a:t>
            </a:r>
            <a:endParaRPr lang="en-US"/>
          </a:p>
        </p:txBody>
      </p:sp>
      <p:sp>
        <p:nvSpPr>
          <p:cNvPr id="7" name="Point 1"/>
          <p:cNvSpPr txBox="1"/>
          <p:nvPr/>
        </p:nvSpPr>
        <p:spPr>
          <a:xfrm>
            <a:off x="666750" y="24479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Each version has its own checksum, uploader, timestamp, and optional validity date.</a:t>
            </a:r>
            <a:endParaRPr lang="en-US"/>
          </a:p>
        </p:txBody>
      </p:sp>
      <p:sp>
        <p:nvSpPr>
          <p:cNvPr id="8" name="Point 2"/>
          <p:cNvSpPr txBox="1"/>
          <p:nvPr/>
        </p:nvSpPr>
        <p:spPr>
          <a:xfrm>
            <a:off x="666750" y="30956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A submitted package pins exact versions and criteria.</a:t>
            </a:r>
            <a:endParaRPr lang="en-US"/>
          </a:p>
        </p:txBody>
      </p:sp>
      <p:sp>
        <p:nvSpPr>
          <p:cNvPr id="9" name="Point 3"/>
          <p:cNvSpPr txBox="1"/>
          <p:nvPr/>
        </p:nvSpPr>
        <p:spPr>
          <a:xfrm>
            <a:off x="666750" y="37433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Older reviews and certifications remain historical after a replacement.</a:t>
            </a:r>
            <a:endParaRPr lang="en-US"/>
          </a:p>
        </p:txBody>
      </p:sp>
      <p:sp>
        <p:nvSpPr>
          <p:cNvPr id="10" name="Point 4"/>
          <p:cNvSpPr txBox="1"/>
          <p:nvPr/>
        </p:nvSpPr>
        <p:spPr>
          <a:xfrm>
            <a:off x="666750" y="43910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Downloads and inline previews require current authorization and a clean matching scan.</a:t>
            </a:r>
            <a:endParaRPr lang="en-US"/>
          </a:p>
        </p:txBody>
      </p:sp>
      <p:sp>
        <p:nvSpPr>
          <p:cNvPr id="11" name="Footer rule"/>
          <p:cNvSpPr txBox="1"/>
          <p:nvPr/>
        </p:nvSpPr>
        <p:spPr>
          <a:xfrm>
            <a:off x="495300" y="6334125"/>
            <a:ext cx="11163300" cy="19050"/>
          </a:xfrm>
          <a:prstGeom prst="rect">
            <a:avLst/>
          </a:prstGeom>
          <a:solidFill>
            <a:srgbClr val="D6E2E9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12" name="Footer"/>
          <p:cNvSpPr txBox="1"/>
          <p:nvPr/>
        </p:nvSpPr>
        <p:spPr>
          <a:xfrm>
            <a:off x="504825" y="6438900"/>
            <a:ext cx="962025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300" b="0">
                <a:solidFill>
                  <a:srgbClr val="486078"/>
                </a:solidFill>
                <a:latin typeface="Aptos"/>
              </a:rPr>
              <a:t>MC Accreditation Hub  ·  MIT 007  ·  Fictional local evidence unless marked otherwise</a:t>
            </a:r>
            <a:endParaRPr lang="en-US"/>
          </a:p>
        </p:txBody>
      </p:sp>
      <p:sp>
        <p:nvSpPr>
          <p:cNvPr id="13" name="Page"/>
          <p:cNvSpPr txBox="1"/>
          <p:nvPr/>
        </p:nvSpPr>
        <p:spPr>
          <a:xfrm>
            <a:off x="10572750" y="6438900"/>
            <a:ext cx="114300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300" b="0">
                <a:solidFill>
                  <a:srgbClr val="486078"/>
                </a:solidFill>
                <a:latin typeface="Aptos"/>
              </a:rPr>
              <a:t>12 / 53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 name="13 Quarantine and scan boundary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 txBox="1"/>
          <p:nvPr/>
        </p:nvSpPr>
        <p:spPr>
          <a:xfrm>
            <a:off x="0" y="0"/>
            <a:ext cx="12192000" cy="123825"/>
          </a:xfrm>
          <a:prstGeom prst="rect">
            <a:avLst/>
          </a:prstGeom>
          <a:solidFill>
            <a:srgbClr val="0F9E92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3" name="Section"/>
          <p:cNvSpPr txBox="1"/>
          <p:nvPr/>
        </p:nvSpPr>
        <p:spPr>
          <a:xfrm>
            <a:off x="495300" y="323850"/>
            <a:ext cx="809625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700" b="1">
                <a:solidFill>
                  <a:srgbClr val="0F9E92"/>
                </a:solidFill>
                <a:latin typeface="Aptos"/>
              </a:rPr>
              <a:t>PROJECT</a:t>
            </a:r>
            <a:endParaRPr lang="en-US"/>
          </a:p>
        </p:txBody>
      </p:sp>
      <p:sp>
        <p:nvSpPr>
          <p:cNvPr id="4" name="Status"/>
          <p:cNvSpPr txBox="1"/>
          <p:nvPr/>
        </p:nvSpPr>
        <p:spPr>
          <a:xfrm>
            <a:off x="8810625" y="3048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600" b="0">
                <a:solidFill>
                  <a:srgbClr val="486078"/>
                </a:solidFill>
                <a:latin typeface="Aptos"/>
              </a:rPr>
              <a:t>DEMO / PENDING APPROVAL</a:t>
            </a:r>
            <a:endParaRPr lang="en-US"/>
          </a:p>
        </p:txBody>
      </p:sp>
      <p:sp>
        <p:nvSpPr>
          <p:cNvPr id="5" name="Title"/>
          <p:cNvSpPr txBox="1"/>
          <p:nvPr/>
        </p:nvSpPr>
        <p:spPr>
          <a:xfrm>
            <a:off x="495300" y="781050"/>
            <a:ext cx="11144250" cy="71437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4200" b="1">
                <a:solidFill>
                  <a:srgbClr val="0B2545"/>
                </a:solidFill>
                <a:latin typeface="Aptos"/>
              </a:rPr>
              <a:t>Quarantine and scan boundary</a:t>
            </a:r>
            <a:endParaRPr lang="en-US"/>
          </a:p>
        </p:txBody>
      </p:sp>
      <p:sp>
        <p:nvSpPr>
          <p:cNvPr id="6" name="Lead"/>
          <p:cNvSpPr txBox="1"/>
          <p:nvPr/>
        </p:nvSpPr>
        <p:spPr>
          <a:xfrm>
            <a:off x="523875" y="1552575"/>
            <a:ext cx="11049000" cy="7334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>A version stays unusable until a configured local scanner records a clean verdict for its checksum.</a:t>
            </a:r>
            <a:endParaRPr lang="en-US"/>
          </a:p>
        </p:txBody>
      </p:sp>
      <p:sp>
        <p:nvSpPr>
          <p:cNvPr id="7" name="Point 1"/>
          <p:cNvSpPr txBox="1"/>
          <p:nvPr/>
        </p:nvSpPr>
        <p:spPr>
          <a:xfrm>
            <a:off x="666750" y="2447925"/>
            <a:ext cx="10858500" cy="7239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Absent, failed, infected, or mismatched scans block preview, download, mapping, review, and certification.</a:t>
            </a:r>
            <a:endParaRPr lang="en-US"/>
          </a:p>
        </p:txBody>
      </p:sp>
      <p:sp>
        <p:nvSpPr>
          <p:cNvPr id="8" name="Point 2"/>
          <p:cNvSpPr txBox="1"/>
          <p:nvPr/>
        </p:nvSpPr>
        <p:spPr>
          <a:xfrm>
            <a:off x="666750" y="32861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The course demonstration uses a guarded synthetic verdict for two fictional PDFs only.</a:t>
            </a:r>
            <a:endParaRPr lang="en-US"/>
          </a:p>
        </p:txBody>
      </p:sp>
      <p:sp>
        <p:nvSpPr>
          <p:cNvPr id="9" name="Point 3"/>
          <p:cNvSpPr txBox="1"/>
          <p:nvPr/>
        </p:nvSpPr>
        <p:spPr>
          <a:xfrm>
            <a:off x="666750" y="39338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School IT has not approved a real scanner or completed target tests.</a:t>
            </a:r>
            <a:endParaRPr lang="en-US"/>
          </a:p>
        </p:txBody>
      </p:sp>
      <p:sp>
        <p:nvSpPr>
          <p:cNvPr id="10" name="Footer rule"/>
          <p:cNvSpPr txBox="1"/>
          <p:nvPr/>
        </p:nvSpPr>
        <p:spPr>
          <a:xfrm>
            <a:off x="495300" y="6334125"/>
            <a:ext cx="11163300" cy="19050"/>
          </a:xfrm>
          <a:prstGeom prst="rect">
            <a:avLst/>
          </a:prstGeom>
          <a:solidFill>
            <a:srgbClr val="D6E2E9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11" name="Footer"/>
          <p:cNvSpPr txBox="1"/>
          <p:nvPr/>
        </p:nvSpPr>
        <p:spPr>
          <a:xfrm>
            <a:off x="504825" y="6438900"/>
            <a:ext cx="962025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300" b="0">
                <a:solidFill>
                  <a:srgbClr val="486078"/>
                </a:solidFill>
                <a:latin typeface="Aptos"/>
              </a:rPr>
              <a:t>MC Accreditation Hub  ·  MIT 007  ·  Fictional local evidence unless marked otherwise</a:t>
            </a:r>
            <a:endParaRPr lang="en-US"/>
          </a:p>
        </p:txBody>
      </p:sp>
      <p:sp>
        <p:nvSpPr>
          <p:cNvPr id="12" name="Page"/>
          <p:cNvSpPr txBox="1"/>
          <p:nvPr/>
        </p:nvSpPr>
        <p:spPr>
          <a:xfrm>
            <a:off x="10572750" y="6438900"/>
            <a:ext cx="114300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300" b="0">
                <a:solidFill>
                  <a:srgbClr val="486078"/>
                </a:solidFill>
                <a:latin typeface="Aptos"/>
              </a:rPr>
              <a:t>13 / 53</a:t>
            </a: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>
  <p:cSld name="14 Package attempts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 txBox="1"/>
          <p:nvPr/>
        </p:nvSpPr>
        <p:spPr>
          <a:xfrm>
            <a:off x="0" y="0"/>
            <a:ext cx="12192000" cy="123825"/>
          </a:xfrm>
          <a:prstGeom prst="rect">
            <a:avLst/>
          </a:prstGeom>
          <a:solidFill>
            <a:srgbClr val="0F9E92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3" name="Section"/>
          <p:cNvSpPr txBox="1"/>
          <p:nvPr/>
        </p:nvSpPr>
        <p:spPr>
          <a:xfrm>
            <a:off x="495300" y="323850"/>
            <a:ext cx="809625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700" b="1">
                <a:solidFill>
                  <a:srgbClr val="0F9E92"/>
                </a:solidFill>
                <a:latin typeface="Aptos"/>
              </a:rPr>
              <a:t>PROJECT</a:t>
            </a:r>
            <a:endParaRPr lang="en-US"/>
          </a:p>
        </p:txBody>
      </p:sp>
      <p:sp>
        <p:nvSpPr>
          <p:cNvPr id="4" name="Status"/>
          <p:cNvSpPr txBox="1"/>
          <p:nvPr/>
        </p:nvSpPr>
        <p:spPr>
          <a:xfrm>
            <a:off x="8810625" y="3048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600" b="0">
                <a:solidFill>
                  <a:srgbClr val="486078"/>
                </a:solidFill>
                <a:latin typeface="Aptos"/>
              </a:rPr>
              <a:t>LOCAL / PROVISIONAL</a:t>
            </a:r>
            <a:endParaRPr lang="en-US"/>
          </a:p>
        </p:txBody>
      </p:sp>
      <p:sp>
        <p:nvSpPr>
          <p:cNvPr id="5" name="Title"/>
          <p:cNvSpPr txBox="1"/>
          <p:nvPr/>
        </p:nvSpPr>
        <p:spPr>
          <a:xfrm>
            <a:off x="495300" y="781050"/>
            <a:ext cx="11144250" cy="71437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4200" b="1">
                <a:solidFill>
                  <a:srgbClr val="0B2545"/>
                </a:solidFill>
                <a:latin typeface="Aptos"/>
              </a:rPr>
              <a:t>Package attempts</a:t>
            </a:r>
            <a:endParaRPr lang="en-US"/>
          </a:p>
        </p:txBody>
      </p:sp>
      <p:sp>
        <p:nvSpPr>
          <p:cNvPr id="6" name="Lead"/>
          <p:cNvSpPr txBox="1"/>
          <p:nvPr/>
        </p:nvSpPr>
        <p:spPr>
          <a:xfrm>
            <a:off x="523875" y="1552575"/>
            <a:ext cx="11049000" cy="7334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>New requirements use deliberate package drafts and immutable submitted attempts.</a:t>
            </a:r>
            <a:endParaRPr lang="en-US"/>
          </a:p>
        </p:txBody>
      </p:sp>
      <p:sp>
        <p:nvSpPr>
          <p:cNvPr id="7" name="Point 1"/>
          <p:cNvSpPr txBox="1"/>
          <p:nvPr/>
        </p:nvSpPr>
        <p:spPr>
          <a:xfrm>
            <a:off x="666750" y="24479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The owner selects exact mapped versions, adds notes, and submits the draft.</a:t>
            </a:r>
            <a:endParaRPr lang="en-US"/>
          </a:p>
        </p:txBody>
      </p:sp>
      <p:sp>
        <p:nvSpPr>
          <p:cNvPr id="8" name="Point 2"/>
          <p:cNvSpPr txBox="1"/>
          <p:nvPr/>
        </p:nvSpPr>
        <p:spPr>
          <a:xfrm>
            <a:off x="666750" y="30956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A pending attempt can be withdrawn before review; revision work creates a new draft.</a:t>
            </a:r>
            <a:endParaRPr lang="en-US"/>
          </a:p>
        </p:txBody>
      </p:sp>
      <p:sp>
        <p:nvSpPr>
          <p:cNvPr id="9" name="Point 3"/>
          <p:cNvSpPr txBox="1"/>
          <p:nvPr/>
        </p:nvSpPr>
        <p:spPr>
          <a:xfrm>
            <a:off x="666750" y="37433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Only one submitted attempt per requirement can await review.</a:t>
            </a:r>
            <a:endParaRPr lang="en-US"/>
          </a:p>
        </p:txBody>
      </p:sp>
      <p:sp>
        <p:nvSpPr>
          <p:cNvPr id="10" name="Point 4"/>
          <p:cNvSpPr txBox="1"/>
          <p:nvPr/>
        </p:nvSpPr>
        <p:spPr>
          <a:xfrm>
            <a:off x="666750" y="43910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Older item-level submissions remain preserved as legacy history.</a:t>
            </a:r>
            <a:endParaRPr lang="en-US"/>
          </a:p>
        </p:txBody>
      </p:sp>
      <p:sp>
        <p:nvSpPr>
          <p:cNvPr id="11" name="Footer rule"/>
          <p:cNvSpPr txBox="1"/>
          <p:nvPr/>
        </p:nvSpPr>
        <p:spPr>
          <a:xfrm>
            <a:off x="495300" y="6334125"/>
            <a:ext cx="11163300" cy="19050"/>
          </a:xfrm>
          <a:prstGeom prst="rect">
            <a:avLst/>
          </a:prstGeom>
          <a:solidFill>
            <a:srgbClr val="D6E2E9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12" name="Footer"/>
          <p:cNvSpPr txBox="1"/>
          <p:nvPr/>
        </p:nvSpPr>
        <p:spPr>
          <a:xfrm>
            <a:off x="504825" y="6438900"/>
            <a:ext cx="962025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300" b="0">
                <a:solidFill>
                  <a:srgbClr val="486078"/>
                </a:solidFill>
                <a:latin typeface="Aptos"/>
              </a:rPr>
              <a:t>MC Accreditation Hub  ·  MIT 007  ·  Fictional local evidence unless marked otherwise</a:t>
            </a:r>
            <a:endParaRPr lang="en-US"/>
          </a:p>
        </p:txBody>
      </p:sp>
      <p:sp>
        <p:nvSpPr>
          <p:cNvPr id="13" name="Page"/>
          <p:cNvSpPr txBox="1"/>
          <p:nvPr/>
        </p:nvSpPr>
        <p:spPr>
          <a:xfrm>
            <a:off x="10572750" y="6438900"/>
            <a:ext cx="114300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300" b="0">
                <a:solidFill>
                  <a:srgbClr val="486078"/>
                </a:solidFill>
                <a:latin typeface="Aptos"/>
              </a:rPr>
              <a:t>14 / 53</a:t>
            </a: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>
  <p:cSld name="15 Independent review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 txBox="1"/>
          <p:nvPr/>
        </p:nvSpPr>
        <p:spPr>
          <a:xfrm>
            <a:off x="0" y="0"/>
            <a:ext cx="12192000" cy="123825"/>
          </a:xfrm>
          <a:prstGeom prst="rect">
            <a:avLst/>
          </a:prstGeom>
          <a:solidFill>
            <a:srgbClr val="0F9E92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3" name="Section"/>
          <p:cNvSpPr txBox="1"/>
          <p:nvPr/>
        </p:nvSpPr>
        <p:spPr>
          <a:xfrm>
            <a:off x="495300" y="323850"/>
            <a:ext cx="809625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700" b="1">
                <a:solidFill>
                  <a:srgbClr val="0F9E92"/>
                </a:solidFill>
                <a:latin typeface="Aptos"/>
              </a:rPr>
              <a:t>PROJECT</a:t>
            </a:r>
            <a:endParaRPr lang="en-US"/>
          </a:p>
        </p:txBody>
      </p:sp>
      <p:sp>
        <p:nvSpPr>
          <p:cNvPr id="4" name="Status"/>
          <p:cNvSpPr txBox="1"/>
          <p:nvPr/>
        </p:nvSpPr>
        <p:spPr>
          <a:xfrm>
            <a:off x="8810625" y="3048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600" b="0">
                <a:solidFill>
                  <a:srgbClr val="486078"/>
                </a:solidFill>
                <a:latin typeface="Aptos"/>
              </a:rPr>
              <a:t>LOCAL / PROVISIONAL</a:t>
            </a:r>
            <a:endParaRPr lang="en-US"/>
          </a:p>
        </p:txBody>
      </p:sp>
      <p:sp>
        <p:nvSpPr>
          <p:cNvPr id="5" name="Title"/>
          <p:cNvSpPr txBox="1"/>
          <p:nvPr/>
        </p:nvSpPr>
        <p:spPr>
          <a:xfrm>
            <a:off x="495300" y="781050"/>
            <a:ext cx="11144250" cy="71437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4200" b="1">
                <a:solidFill>
                  <a:srgbClr val="0B2545"/>
                </a:solidFill>
                <a:latin typeface="Aptos"/>
              </a:rPr>
              <a:t>Independent review</a:t>
            </a:r>
            <a:endParaRPr lang="en-US"/>
          </a:p>
        </p:txBody>
      </p:sp>
      <p:sp>
        <p:nvSpPr>
          <p:cNvPr id="6" name="Lead"/>
          <p:cNvSpPr txBox="1"/>
          <p:nvPr/>
        </p:nvSpPr>
        <p:spPr>
          <a:xfrm>
            <a:off x="523875" y="1552575"/>
            <a:ext cx="11049000" cy="7334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>Reviewers decide on submitted evidence in their assigned area.</a:t>
            </a:r>
            <a:endParaRPr lang="en-US"/>
          </a:p>
        </p:txBody>
      </p:sp>
      <p:sp>
        <p:nvSpPr>
          <p:cNvPr id="7" name="Point 1"/>
          <p:cNvSpPr txBox="1"/>
          <p:nvPr/>
        </p:nvSpPr>
        <p:spPr>
          <a:xfrm>
            <a:off x="666750" y="2447925"/>
            <a:ext cx="10858500" cy="7239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The review dialog shows owner, submitted criteria, current criteria, exact filenames, and checksums.</a:t>
            </a:r>
            <a:endParaRPr lang="en-US"/>
          </a:p>
        </p:txBody>
      </p:sp>
      <p:sp>
        <p:nvSpPr>
          <p:cNvPr id="8" name="Point 2"/>
          <p:cNvSpPr txBox="1"/>
          <p:nvPr/>
        </p:nvSpPr>
        <p:spPr>
          <a:xfrm>
            <a:off x="666750" y="32861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A Reviewer cannot approve their own upload or submission.</a:t>
            </a:r>
            <a:endParaRPr lang="en-US"/>
          </a:p>
        </p:txBody>
      </p:sp>
      <p:sp>
        <p:nvSpPr>
          <p:cNvPr id="9" name="Point 3"/>
          <p:cNvSpPr txBox="1"/>
          <p:nvPr/>
        </p:nvSpPr>
        <p:spPr>
          <a:xfrm>
            <a:off x="666750" y="39338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Current new-package outcomes are Approve and Request revisions.</a:t>
            </a:r>
            <a:endParaRPr lang="en-US"/>
          </a:p>
        </p:txBody>
      </p:sp>
      <p:sp>
        <p:nvSpPr>
          <p:cNvPr id="10" name="Point 4"/>
          <p:cNvSpPr txBox="1"/>
          <p:nvPr/>
        </p:nvSpPr>
        <p:spPr>
          <a:xfrm>
            <a:off x="666750" y="45815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A separate Reject outcome remains pending an Academic Owner rule.</a:t>
            </a:r>
            <a:endParaRPr lang="en-US"/>
          </a:p>
        </p:txBody>
      </p:sp>
      <p:sp>
        <p:nvSpPr>
          <p:cNvPr id="11" name="Footer rule"/>
          <p:cNvSpPr txBox="1"/>
          <p:nvPr/>
        </p:nvSpPr>
        <p:spPr>
          <a:xfrm>
            <a:off x="495300" y="6334125"/>
            <a:ext cx="11163300" cy="19050"/>
          </a:xfrm>
          <a:prstGeom prst="rect">
            <a:avLst/>
          </a:prstGeom>
          <a:solidFill>
            <a:srgbClr val="D6E2E9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12" name="Footer"/>
          <p:cNvSpPr txBox="1"/>
          <p:nvPr/>
        </p:nvSpPr>
        <p:spPr>
          <a:xfrm>
            <a:off x="504825" y="6438900"/>
            <a:ext cx="962025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300" b="0">
                <a:solidFill>
                  <a:srgbClr val="486078"/>
                </a:solidFill>
                <a:latin typeface="Aptos"/>
              </a:rPr>
              <a:t>MC Accreditation Hub  ·  MIT 007  ·  Fictional local evidence unless marked otherwise</a:t>
            </a:r>
            <a:endParaRPr lang="en-US"/>
          </a:p>
        </p:txBody>
      </p:sp>
      <p:sp>
        <p:nvSpPr>
          <p:cNvPr id="13" name="Page"/>
          <p:cNvSpPr txBox="1"/>
          <p:nvPr/>
        </p:nvSpPr>
        <p:spPr>
          <a:xfrm>
            <a:off x="10572750" y="6438900"/>
            <a:ext cx="114300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300" b="0">
                <a:solidFill>
                  <a:srgbClr val="486078"/>
                </a:solidFill>
                <a:latin typeface="Aptos"/>
              </a:rPr>
              <a:t>15 / 53</a:t>
            </a:r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>
  <p:cSld name="16 Coordinator certification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 txBox="1"/>
          <p:nvPr/>
        </p:nvSpPr>
        <p:spPr>
          <a:xfrm>
            <a:off x="0" y="0"/>
            <a:ext cx="12192000" cy="123825"/>
          </a:xfrm>
          <a:prstGeom prst="rect">
            <a:avLst/>
          </a:prstGeom>
          <a:solidFill>
            <a:srgbClr val="0F9E92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3" name="Section"/>
          <p:cNvSpPr txBox="1"/>
          <p:nvPr/>
        </p:nvSpPr>
        <p:spPr>
          <a:xfrm>
            <a:off x="495300" y="323850"/>
            <a:ext cx="809625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700" b="1">
                <a:solidFill>
                  <a:srgbClr val="0F9E92"/>
                </a:solidFill>
                <a:latin typeface="Aptos"/>
              </a:rPr>
              <a:t>PROJECT</a:t>
            </a:r>
            <a:endParaRPr lang="en-US"/>
          </a:p>
        </p:txBody>
      </p:sp>
      <p:sp>
        <p:nvSpPr>
          <p:cNvPr id="4" name="Status"/>
          <p:cNvSpPr txBox="1"/>
          <p:nvPr/>
        </p:nvSpPr>
        <p:spPr>
          <a:xfrm>
            <a:off x="8810625" y="3048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600" b="0">
                <a:solidFill>
                  <a:srgbClr val="486078"/>
                </a:solidFill>
                <a:latin typeface="Aptos"/>
              </a:rPr>
              <a:t>LOCAL / PROVISIONAL</a:t>
            </a:r>
            <a:endParaRPr lang="en-US"/>
          </a:p>
        </p:txBody>
      </p:sp>
      <p:sp>
        <p:nvSpPr>
          <p:cNvPr id="5" name="Title"/>
          <p:cNvSpPr txBox="1"/>
          <p:nvPr/>
        </p:nvSpPr>
        <p:spPr>
          <a:xfrm>
            <a:off x="495300" y="781050"/>
            <a:ext cx="11144250" cy="71437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4200" b="1">
                <a:solidFill>
                  <a:srgbClr val="0B2545"/>
                </a:solidFill>
                <a:latin typeface="Aptos"/>
              </a:rPr>
              <a:t>Coordinator certification</a:t>
            </a:r>
            <a:endParaRPr lang="en-US"/>
          </a:p>
        </p:txBody>
      </p:sp>
      <p:sp>
        <p:nvSpPr>
          <p:cNvPr id="6" name="Lead"/>
          <p:cNvSpPr txBox="1"/>
          <p:nvPr/>
        </p:nvSpPr>
        <p:spPr>
          <a:xfrm>
            <a:off x="523875" y="1552575"/>
            <a:ext cx="11049000" cy="7334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>Reviewer approval makes a requirement ready for completion review; it does not complete it.</a:t>
            </a:r>
            <a:endParaRPr lang="en-US"/>
          </a:p>
        </p:txBody>
      </p:sp>
      <p:sp>
        <p:nvSpPr>
          <p:cNvPr id="7" name="Point 1"/>
          <p:cNvSpPr txBox="1"/>
          <p:nvPr/>
        </p:nvSpPr>
        <p:spPr>
          <a:xfrm>
            <a:off x="666750" y="24479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The Coordinator selects approved support and records a rationale.</a:t>
            </a:r>
            <a:endParaRPr lang="en-US"/>
          </a:p>
        </p:txBody>
      </p:sp>
      <p:sp>
        <p:nvSpPr>
          <p:cNvPr id="8" name="Point 2"/>
          <p:cNvSpPr txBox="1"/>
          <p:nvPr/>
        </p:nvSpPr>
        <p:spPr>
          <a:xfrm>
            <a:off x="666750" y="30956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The certification pins the package/version and criteria snapshot.</a:t>
            </a:r>
            <a:endParaRPr lang="en-US"/>
          </a:p>
        </p:txBody>
      </p:sp>
      <p:sp>
        <p:nvSpPr>
          <p:cNvPr id="9" name="Point 3"/>
          <p:cNvSpPr txBox="1"/>
          <p:nvPr/>
        </p:nvSpPr>
        <p:spPr>
          <a:xfrm>
            <a:off x="666750" y="37433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Reopening adds a new reasoned record and removes the requirement from the completed count.</a:t>
            </a:r>
            <a:endParaRPr lang="en-US"/>
          </a:p>
        </p:txBody>
      </p:sp>
      <p:sp>
        <p:nvSpPr>
          <p:cNvPr id="10" name="Point 4"/>
          <p:cNvSpPr txBox="1"/>
          <p:nvPr/>
        </p:nvSpPr>
        <p:spPr>
          <a:xfrm>
            <a:off x="666750" y="43910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Older unsupported certifications remain marked legacy.</a:t>
            </a:r>
            <a:endParaRPr lang="en-US"/>
          </a:p>
        </p:txBody>
      </p:sp>
      <p:sp>
        <p:nvSpPr>
          <p:cNvPr id="11" name="Footer rule"/>
          <p:cNvSpPr txBox="1"/>
          <p:nvPr/>
        </p:nvSpPr>
        <p:spPr>
          <a:xfrm>
            <a:off x="495300" y="6334125"/>
            <a:ext cx="11163300" cy="19050"/>
          </a:xfrm>
          <a:prstGeom prst="rect">
            <a:avLst/>
          </a:prstGeom>
          <a:solidFill>
            <a:srgbClr val="D6E2E9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12" name="Footer"/>
          <p:cNvSpPr txBox="1"/>
          <p:nvPr/>
        </p:nvSpPr>
        <p:spPr>
          <a:xfrm>
            <a:off x="504825" y="6438900"/>
            <a:ext cx="962025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300" b="0">
                <a:solidFill>
                  <a:srgbClr val="486078"/>
                </a:solidFill>
                <a:latin typeface="Aptos"/>
              </a:rPr>
              <a:t>MC Accreditation Hub  ·  MIT 007  ·  Fictional local evidence unless marked otherwise</a:t>
            </a:r>
            <a:endParaRPr lang="en-US"/>
          </a:p>
        </p:txBody>
      </p:sp>
      <p:sp>
        <p:nvSpPr>
          <p:cNvPr id="13" name="Page"/>
          <p:cNvSpPr txBox="1"/>
          <p:nvPr/>
        </p:nvSpPr>
        <p:spPr>
          <a:xfrm>
            <a:off x="10572750" y="6438900"/>
            <a:ext cx="114300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300" b="0">
                <a:solidFill>
                  <a:srgbClr val="486078"/>
                </a:solidFill>
                <a:latin typeface="Aptos"/>
              </a:rPr>
              <a:t>16 / 53</a:t>
            </a:r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>
  <p:cSld name="17 Readiness calculation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 txBox="1"/>
          <p:nvPr/>
        </p:nvSpPr>
        <p:spPr>
          <a:xfrm>
            <a:off x="0" y="0"/>
            <a:ext cx="12192000" cy="123825"/>
          </a:xfrm>
          <a:prstGeom prst="rect">
            <a:avLst/>
          </a:prstGeom>
          <a:solidFill>
            <a:srgbClr val="0F9E92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3" name="Section"/>
          <p:cNvSpPr txBox="1"/>
          <p:nvPr/>
        </p:nvSpPr>
        <p:spPr>
          <a:xfrm>
            <a:off x="495300" y="323850"/>
            <a:ext cx="809625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700" b="1">
                <a:solidFill>
                  <a:srgbClr val="0F9E92"/>
                </a:solidFill>
                <a:latin typeface="Aptos"/>
              </a:rPr>
              <a:t>PROJECT</a:t>
            </a:r>
            <a:endParaRPr lang="en-US"/>
          </a:p>
        </p:txBody>
      </p:sp>
      <p:sp>
        <p:nvSpPr>
          <p:cNvPr id="4" name="Status"/>
          <p:cNvSpPr txBox="1"/>
          <p:nvPr/>
        </p:nvSpPr>
        <p:spPr>
          <a:xfrm>
            <a:off x="8810625" y="3048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600" b="0">
                <a:solidFill>
                  <a:srgbClr val="486078"/>
                </a:solidFill>
                <a:latin typeface="Aptos"/>
              </a:rPr>
              <a:t>LOCAL / PROVISIONAL</a:t>
            </a:r>
            <a:endParaRPr lang="en-US"/>
          </a:p>
        </p:txBody>
      </p:sp>
      <p:sp>
        <p:nvSpPr>
          <p:cNvPr id="5" name="Title"/>
          <p:cNvSpPr txBox="1"/>
          <p:nvPr/>
        </p:nvSpPr>
        <p:spPr>
          <a:xfrm>
            <a:off x="495300" y="781050"/>
            <a:ext cx="11144250" cy="71437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4200" b="1">
                <a:solidFill>
                  <a:srgbClr val="0B2545"/>
                </a:solidFill>
                <a:latin typeface="Aptos"/>
              </a:rPr>
              <a:t>Readiness calculation</a:t>
            </a:r>
            <a:endParaRPr lang="en-US"/>
          </a:p>
        </p:txBody>
      </p:sp>
      <p:sp>
        <p:nvSpPr>
          <p:cNvPr id="6" name="Lead"/>
          <p:cNvSpPr txBox="1"/>
          <p:nvPr/>
        </p:nvSpPr>
        <p:spPr>
          <a:xfrm>
            <a:off x="523875" y="1552575"/>
            <a:ext cx="11049000" cy="7334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>Internal readiness uses unweighted Coordinator-certified requirements.</a:t>
            </a:r>
            <a:endParaRPr lang="en-US"/>
          </a:p>
        </p:txBody>
      </p:sp>
      <p:sp>
        <p:nvSpPr>
          <p:cNvPr id="7" name="Point 1"/>
          <p:cNvSpPr txBox="1"/>
          <p:nvPr/>
        </p:nvSpPr>
        <p:spPr>
          <a:xfrm>
            <a:off x="666750" y="2447925"/>
            <a:ext cx="10858500" cy="7239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Readiness = 100 × complete active applicable non-archived requirements / all active applicable non-archived requirements.</a:t>
            </a:r>
            <a:endParaRPr lang="en-US"/>
          </a:p>
        </p:txBody>
      </p:sp>
      <p:sp>
        <p:nvSpPr>
          <p:cNvPr id="8" name="Point 2"/>
          <p:cNvSpPr txBox="1"/>
          <p:nvPr/>
        </p:nvSpPr>
        <p:spPr>
          <a:xfrm>
            <a:off x="666750" y="32861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Draft, excluded, and archived requirements do not enter that population.</a:t>
            </a:r>
            <a:endParaRPr lang="en-US"/>
          </a:p>
        </p:txBody>
      </p:sp>
      <p:sp>
        <p:nvSpPr>
          <p:cNvPr id="9" name="Point 3"/>
          <p:cNvSpPr txBox="1"/>
          <p:nvPr/>
        </p:nvSpPr>
        <p:spPr>
          <a:xfrm>
            <a:off x="666750" y="39338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Status filters change displayed rows, not the selected cycle/area readiness population.</a:t>
            </a:r>
            <a:endParaRPr lang="en-US"/>
          </a:p>
        </p:txBody>
      </p:sp>
      <p:sp>
        <p:nvSpPr>
          <p:cNvPr id="10" name="Point 4"/>
          <p:cNvSpPr txBox="1"/>
          <p:nvPr/>
        </p:nvSpPr>
        <p:spPr>
          <a:xfrm>
            <a:off x="666750" y="45815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This is an internal preparation measure, never an official PACUCOA score.</a:t>
            </a:r>
            <a:endParaRPr lang="en-US"/>
          </a:p>
        </p:txBody>
      </p:sp>
      <p:sp>
        <p:nvSpPr>
          <p:cNvPr id="11" name="Footer rule"/>
          <p:cNvSpPr txBox="1"/>
          <p:nvPr/>
        </p:nvSpPr>
        <p:spPr>
          <a:xfrm>
            <a:off x="495300" y="6334125"/>
            <a:ext cx="11163300" cy="19050"/>
          </a:xfrm>
          <a:prstGeom prst="rect">
            <a:avLst/>
          </a:prstGeom>
          <a:solidFill>
            <a:srgbClr val="D6E2E9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12" name="Footer"/>
          <p:cNvSpPr txBox="1"/>
          <p:nvPr/>
        </p:nvSpPr>
        <p:spPr>
          <a:xfrm>
            <a:off x="504825" y="6438900"/>
            <a:ext cx="962025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300" b="0">
                <a:solidFill>
                  <a:srgbClr val="486078"/>
                </a:solidFill>
                <a:latin typeface="Aptos"/>
              </a:rPr>
              <a:t>MC Accreditation Hub  ·  MIT 007  ·  Fictional local evidence unless marked otherwise</a:t>
            </a:r>
            <a:endParaRPr lang="en-US"/>
          </a:p>
        </p:txBody>
      </p:sp>
      <p:sp>
        <p:nvSpPr>
          <p:cNvPr id="13" name="Page"/>
          <p:cNvSpPr txBox="1"/>
          <p:nvPr/>
        </p:nvSpPr>
        <p:spPr>
          <a:xfrm>
            <a:off x="10572750" y="6438900"/>
            <a:ext cx="114300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300" b="0">
                <a:solidFill>
                  <a:srgbClr val="486078"/>
                </a:solidFill>
                <a:latin typeface="Aptos"/>
              </a:rPr>
              <a:t>17 / 53</a:t>
            </a:r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>
  <p:cSld name="18 Live demonstration route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 txBox="1"/>
          <p:nvPr/>
        </p:nvSpPr>
        <p:spPr>
          <a:xfrm>
            <a:off x="0" y="0"/>
            <a:ext cx="12192000" cy="123825"/>
          </a:xfrm>
          <a:prstGeom prst="rect">
            <a:avLst/>
          </a:prstGeom>
          <a:solidFill>
            <a:srgbClr val="0F9E92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3" name="Section"/>
          <p:cNvSpPr txBox="1"/>
          <p:nvPr/>
        </p:nvSpPr>
        <p:spPr>
          <a:xfrm>
            <a:off x="495300" y="323850"/>
            <a:ext cx="809625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700" b="1">
                <a:solidFill>
                  <a:srgbClr val="0F9E92"/>
                </a:solidFill>
                <a:latin typeface="Aptos"/>
              </a:rPr>
              <a:t>PROJECT</a:t>
            </a:r>
            <a:endParaRPr lang="en-US"/>
          </a:p>
        </p:txBody>
      </p:sp>
      <p:sp>
        <p:nvSpPr>
          <p:cNvPr id="4" name="Status"/>
          <p:cNvSpPr txBox="1"/>
          <p:nvPr/>
        </p:nvSpPr>
        <p:spPr>
          <a:xfrm>
            <a:off x="8810625" y="3048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600" b="0">
                <a:solidFill>
                  <a:srgbClr val="486078"/>
                </a:solidFill>
                <a:latin typeface="Aptos"/>
              </a:rPr>
              <a:t>FICTIONAL DEMO</a:t>
            </a:r>
            <a:endParaRPr lang="en-US"/>
          </a:p>
        </p:txBody>
      </p:sp>
      <p:sp>
        <p:nvSpPr>
          <p:cNvPr id="5" name="Title"/>
          <p:cNvSpPr txBox="1"/>
          <p:nvPr/>
        </p:nvSpPr>
        <p:spPr>
          <a:xfrm>
            <a:off x="495300" y="781050"/>
            <a:ext cx="11144250" cy="71437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4200" b="1">
                <a:solidFill>
                  <a:srgbClr val="0B2545"/>
                </a:solidFill>
                <a:latin typeface="Aptos"/>
              </a:rPr>
              <a:t>Live demonstration route</a:t>
            </a:r>
            <a:endParaRPr lang="en-US"/>
          </a:p>
        </p:txBody>
      </p:sp>
      <p:sp>
        <p:nvSpPr>
          <p:cNvPr id="6" name="Lead"/>
          <p:cNvSpPr txBox="1"/>
          <p:nvPr/>
        </p:nvSpPr>
        <p:spPr>
          <a:xfrm>
            <a:off x="523875" y="1552575"/>
            <a:ext cx="11049000" cy="7334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>The fictional Faculty requirement shows the complete role handoff.</a:t>
            </a:r>
            <a:endParaRPr lang="en-US"/>
          </a:p>
        </p:txBody>
      </p:sp>
      <p:sp>
        <p:nvSpPr>
          <p:cNvPr id="7" name="Point 1"/>
          <p:cNvSpPr txBox="1"/>
          <p:nvPr/>
        </p:nvSpPr>
        <p:spPr>
          <a:xfrm>
            <a:off x="666750" y="24479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Start with 0 of 8 demo requirements complete.</a:t>
            </a:r>
            <a:endParaRPr lang="en-US"/>
          </a:p>
        </p:txBody>
      </p:sp>
      <p:sp>
        <p:nvSpPr>
          <p:cNvPr id="8" name="Point 2"/>
          <p:cNvSpPr txBox="1"/>
          <p:nvPr/>
        </p:nvSpPr>
        <p:spPr>
          <a:xfrm>
            <a:off x="666750" y="30956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Custodian maps two known fictional PDFs and submits one package.</a:t>
            </a:r>
            <a:endParaRPr lang="en-US"/>
          </a:p>
        </p:txBody>
      </p:sp>
      <p:sp>
        <p:nvSpPr>
          <p:cNvPr id="9" name="Point 3"/>
          <p:cNvSpPr txBox="1"/>
          <p:nvPr/>
        </p:nvSpPr>
        <p:spPr>
          <a:xfrm>
            <a:off x="666750" y="37433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Reviewer approves; Coordinator certifies with a rationale.</a:t>
            </a:r>
            <a:endParaRPr lang="en-US"/>
          </a:p>
        </p:txBody>
      </p:sp>
      <p:sp>
        <p:nvSpPr>
          <p:cNvPr id="10" name="Point 4"/>
          <p:cNvSpPr txBox="1"/>
          <p:nvPr/>
        </p:nvSpPr>
        <p:spPr>
          <a:xfrm>
            <a:off x="666750" y="43910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Report then shows 1 of 8 complete = 12.5%; Viewer package history is denied.</a:t>
            </a:r>
            <a:endParaRPr lang="en-US"/>
          </a:p>
        </p:txBody>
      </p:sp>
      <p:sp>
        <p:nvSpPr>
          <p:cNvPr id="11" name="Footer rule"/>
          <p:cNvSpPr txBox="1"/>
          <p:nvPr/>
        </p:nvSpPr>
        <p:spPr>
          <a:xfrm>
            <a:off x="495300" y="6334125"/>
            <a:ext cx="11163300" cy="19050"/>
          </a:xfrm>
          <a:prstGeom prst="rect">
            <a:avLst/>
          </a:prstGeom>
          <a:solidFill>
            <a:srgbClr val="D6E2E9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12" name="Footer"/>
          <p:cNvSpPr txBox="1"/>
          <p:nvPr/>
        </p:nvSpPr>
        <p:spPr>
          <a:xfrm>
            <a:off x="504825" y="6438900"/>
            <a:ext cx="962025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300" b="0">
                <a:solidFill>
                  <a:srgbClr val="486078"/>
                </a:solidFill>
                <a:latin typeface="Aptos"/>
              </a:rPr>
              <a:t>MC Accreditation Hub  ·  MIT 007  ·  Fictional local evidence unless marked otherwise</a:t>
            </a:r>
            <a:endParaRPr lang="en-US"/>
          </a:p>
        </p:txBody>
      </p:sp>
      <p:sp>
        <p:nvSpPr>
          <p:cNvPr id="13" name="Page"/>
          <p:cNvSpPr txBox="1"/>
          <p:nvPr/>
        </p:nvSpPr>
        <p:spPr>
          <a:xfrm>
            <a:off x="10572750" y="6438900"/>
            <a:ext cx="114300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300" b="0">
                <a:solidFill>
                  <a:srgbClr val="486078"/>
                </a:solidFill>
                <a:latin typeface="Aptos"/>
              </a:rPr>
              <a:t>18 / 53</a:t>
            </a:r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19 Dashboard before certification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 txBox="1"/>
          <p:nvPr/>
        </p:nvSpPr>
        <p:spPr>
          <a:xfrm>
            <a:off x="0" y="0"/>
            <a:ext cx="12192000" cy="123825"/>
          </a:xfrm>
          <a:prstGeom prst="rect">
            <a:avLst/>
          </a:prstGeom>
          <a:solidFill>
            <a:srgbClr val="0F9E92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3" name="Section"/>
          <p:cNvSpPr txBox="1"/>
          <p:nvPr/>
        </p:nvSpPr>
        <p:spPr>
          <a:xfrm>
            <a:off x="495300" y="323850"/>
            <a:ext cx="809625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700" b="1">
                <a:solidFill>
                  <a:srgbClr val="0F9E92"/>
                </a:solidFill>
                <a:latin typeface="Aptos"/>
              </a:rPr>
              <a:t>APP WALKTHROUGH</a:t>
            </a:r>
            <a:endParaRPr lang="en-US"/>
          </a:p>
        </p:txBody>
      </p:sp>
      <p:sp>
        <p:nvSpPr>
          <p:cNvPr id="4" name="Status"/>
          <p:cNvSpPr txBox="1"/>
          <p:nvPr/>
        </p:nvSpPr>
        <p:spPr>
          <a:xfrm>
            <a:off x="8810625" y="3048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600" b="0">
                <a:solidFill>
                  <a:srgbClr val="486078"/>
                </a:solidFill>
                <a:latin typeface="Aptos"/>
              </a:rPr>
              <a:t>FICTIONAL DEMO</a:t>
            </a:r>
            <a:endParaRPr lang="en-US"/>
          </a:p>
        </p:txBody>
      </p:sp>
      <p:sp>
        <p:nvSpPr>
          <p:cNvPr id="5" name="Title"/>
          <p:cNvSpPr txBox="1"/>
          <p:nvPr/>
        </p:nvSpPr>
        <p:spPr>
          <a:xfrm>
            <a:off x="495300" y="781050"/>
            <a:ext cx="11144250" cy="71437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4200" b="1">
                <a:solidFill>
                  <a:srgbClr val="0B2545"/>
                </a:solidFill>
                <a:latin typeface="Aptos"/>
              </a:rPr>
              <a:t>Dashboard before certification</a:t>
            </a:r>
            <a:endParaRPr lang="en-US"/>
          </a:p>
        </p:txBody>
      </p:sp>
      <p:sp>
        <p:nvSpPr>
          <p:cNvPr id="6" name="Lead"/>
          <p:cNvSpPr txBox="1"/>
          <p:nvPr/>
        </p:nvSpPr>
        <p:spPr>
          <a:xfrm>
            <a:off x="523875" y="1552575"/>
            <a:ext cx="11049000" cy="7334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>The fictional cycle starts with eight active applicable requirements and no completions.</a:t>
            </a:r>
            <a:endParaRPr lang="en-US"/>
          </a:p>
        </p:txBody>
      </p:sp>
      <p:pic>
        <p:nvPicPr>
          <p:cNvPr id="7" name="Actual fictional application screenshot" descr="Fictional local application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362200"/>
            <a:ext cx="6810375" cy="3819525"/>
          </a:xfrm>
          <a:prstGeom prst="rect">
            <a:avLst/>
          </a:prstGeom>
        </p:spPr>
      </p:pic>
      <p:sp>
        <p:nvSpPr>
          <p:cNvPr id="8" name="Explanation 1"/>
          <p:cNvSpPr txBox="1"/>
          <p:nvPr/>
        </p:nvSpPr>
        <p:spPr>
          <a:xfrm>
            <a:off x="7781925" y="2457450"/>
            <a:ext cx="3714750" cy="8001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900" b="0">
                <a:solidFill>
                  <a:srgbClr val="14263D"/>
                </a:solidFill>
                <a:latin typeface="Aptos"/>
              </a:rPr>
              <a:t>• The initial internal readiness is 0%.</a:t>
            </a:r>
            <a:endParaRPr lang="en-US"/>
          </a:p>
        </p:txBody>
      </p:sp>
      <p:sp>
        <p:nvSpPr>
          <p:cNvPr id="9" name="Explanation 2"/>
          <p:cNvSpPr txBox="1"/>
          <p:nvPr/>
        </p:nvSpPr>
        <p:spPr>
          <a:xfrm>
            <a:off x="7781925" y="3333750"/>
            <a:ext cx="3714750" cy="8001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900" b="0">
                <a:solidFill>
                  <a:srgbClr val="14263D"/>
                </a:solidFill>
                <a:latin typeface="Aptos"/>
              </a:rPr>
              <a:t>• The sample data contains no official instrument or institutional evidence.</a:t>
            </a:r>
            <a:endParaRPr lang="en-US"/>
          </a:p>
        </p:txBody>
      </p:sp>
      <p:sp>
        <p:nvSpPr>
          <p:cNvPr id="10" name="Footer rule"/>
          <p:cNvSpPr txBox="1"/>
          <p:nvPr/>
        </p:nvSpPr>
        <p:spPr>
          <a:xfrm>
            <a:off x="495300" y="6334125"/>
            <a:ext cx="11163300" cy="19050"/>
          </a:xfrm>
          <a:prstGeom prst="rect">
            <a:avLst/>
          </a:prstGeom>
          <a:solidFill>
            <a:srgbClr val="D6E2E9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11" name="Footer"/>
          <p:cNvSpPr txBox="1"/>
          <p:nvPr/>
        </p:nvSpPr>
        <p:spPr>
          <a:xfrm>
            <a:off x="504825" y="6438900"/>
            <a:ext cx="962025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300" b="0">
                <a:solidFill>
                  <a:srgbClr val="486078"/>
                </a:solidFill>
                <a:latin typeface="Aptos"/>
              </a:rPr>
              <a:t>MC Accreditation Hub  ·  MIT 007  ·  Fictional local evidence unless marked otherwise</a:t>
            </a:r>
            <a:endParaRPr lang="en-US"/>
          </a:p>
        </p:txBody>
      </p:sp>
      <p:sp>
        <p:nvSpPr>
          <p:cNvPr id="12" name="Page"/>
          <p:cNvSpPr txBox="1"/>
          <p:nvPr/>
        </p:nvSpPr>
        <p:spPr>
          <a:xfrm>
            <a:off x="10572750" y="6438900"/>
            <a:ext cx="114300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300" b="0">
                <a:solidFill>
                  <a:srgbClr val="486078"/>
                </a:solidFill>
                <a:latin typeface="Aptos"/>
              </a:rPr>
              <a:t>19 / 53</a:t>
            </a:r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20 Requirement and assignment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 txBox="1"/>
          <p:nvPr/>
        </p:nvSpPr>
        <p:spPr>
          <a:xfrm>
            <a:off x="0" y="0"/>
            <a:ext cx="12192000" cy="123825"/>
          </a:xfrm>
          <a:prstGeom prst="rect">
            <a:avLst/>
          </a:prstGeom>
          <a:solidFill>
            <a:srgbClr val="0F9E92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3" name="Section"/>
          <p:cNvSpPr txBox="1"/>
          <p:nvPr/>
        </p:nvSpPr>
        <p:spPr>
          <a:xfrm>
            <a:off x="495300" y="323850"/>
            <a:ext cx="809625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700" b="1">
                <a:solidFill>
                  <a:srgbClr val="0F9E92"/>
                </a:solidFill>
                <a:latin typeface="Aptos"/>
              </a:rPr>
              <a:t>APP WALKTHROUGH</a:t>
            </a:r>
            <a:endParaRPr lang="en-US"/>
          </a:p>
        </p:txBody>
      </p:sp>
      <p:sp>
        <p:nvSpPr>
          <p:cNvPr id="4" name="Status"/>
          <p:cNvSpPr txBox="1"/>
          <p:nvPr/>
        </p:nvSpPr>
        <p:spPr>
          <a:xfrm>
            <a:off x="8810625" y="3048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600" b="0">
                <a:solidFill>
                  <a:srgbClr val="486078"/>
                </a:solidFill>
                <a:latin typeface="Aptos"/>
              </a:rPr>
              <a:t>FICTIONAL DEMO</a:t>
            </a:r>
            <a:endParaRPr lang="en-US"/>
          </a:p>
        </p:txBody>
      </p:sp>
      <p:sp>
        <p:nvSpPr>
          <p:cNvPr id="5" name="Title"/>
          <p:cNvSpPr txBox="1"/>
          <p:nvPr/>
        </p:nvSpPr>
        <p:spPr>
          <a:xfrm>
            <a:off x="495300" y="781050"/>
            <a:ext cx="11144250" cy="71437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4200" b="1">
                <a:solidFill>
                  <a:srgbClr val="0B2545"/>
                </a:solidFill>
                <a:latin typeface="Aptos"/>
              </a:rPr>
              <a:t>Requirement and assignment</a:t>
            </a:r>
            <a:endParaRPr lang="en-US"/>
          </a:p>
        </p:txBody>
      </p:sp>
      <p:sp>
        <p:nvSpPr>
          <p:cNvPr id="6" name="Lead"/>
          <p:cNvSpPr txBox="1"/>
          <p:nvPr/>
        </p:nvSpPr>
        <p:spPr>
          <a:xfrm>
            <a:off x="523875" y="1552575"/>
            <a:ext cx="11049000" cy="7334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>The Faculty requirement has two mandatory evidence items and an assigned Custodian.</a:t>
            </a:r>
            <a:endParaRPr lang="en-US"/>
          </a:p>
        </p:txBody>
      </p:sp>
      <p:pic>
        <p:nvPicPr>
          <p:cNvPr id="7" name="Actual fictional application screenshot" descr="Fictional local application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362200"/>
            <a:ext cx="6810375" cy="3819525"/>
          </a:xfrm>
          <a:prstGeom prst="rect">
            <a:avLst/>
          </a:prstGeom>
        </p:spPr>
      </p:pic>
      <p:sp>
        <p:nvSpPr>
          <p:cNvPr id="8" name="Explanation 1"/>
          <p:cNvSpPr txBox="1"/>
          <p:nvPr/>
        </p:nvSpPr>
        <p:spPr>
          <a:xfrm>
            <a:off x="7781925" y="2457450"/>
            <a:ext cx="3714750" cy="8001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900" b="0">
                <a:solidFill>
                  <a:srgbClr val="14263D"/>
                </a:solidFill>
                <a:latin typeface="Aptos"/>
              </a:rPr>
              <a:t>• The assignment narrows who may contribute new evidence.</a:t>
            </a:r>
            <a:endParaRPr lang="en-US"/>
          </a:p>
        </p:txBody>
      </p:sp>
      <p:sp>
        <p:nvSpPr>
          <p:cNvPr id="9" name="Explanation 2"/>
          <p:cNvSpPr txBox="1"/>
          <p:nvPr/>
        </p:nvSpPr>
        <p:spPr>
          <a:xfrm>
            <a:off x="7781925" y="3333750"/>
            <a:ext cx="3714750" cy="8001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900" b="0">
                <a:solidFill>
                  <a:srgbClr val="14263D"/>
                </a:solidFill>
                <a:latin typeface="Aptos"/>
              </a:rPr>
              <a:t>• Other seeded requirements remain Missing.</a:t>
            </a:r>
            <a:endParaRPr lang="en-US"/>
          </a:p>
        </p:txBody>
      </p:sp>
      <p:sp>
        <p:nvSpPr>
          <p:cNvPr id="10" name="Footer rule"/>
          <p:cNvSpPr txBox="1"/>
          <p:nvPr/>
        </p:nvSpPr>
        <p:spPr>
          <a:xfrm>
            <a:off x="495300" y="6334125"/>
            <a:ext cx="11163300" cy="19050"/>
          </a:xfrm>
          <a:prstGeom prst="rect">
            <a:avLst/>
          </a:prstGeom>
          <a:solidFill>
            <a:srgbClr val="D6E2E9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11" name="Footer"/>
          <p:cNvSpPr txBox="1"/>
          <p:nvPr/>
        </p:nvSpPr>
        <p:spPr>
          <a:xfrm>
            <a:off x="504825" y="6438900"/>
            <a:ext cx="962025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300" b="0">
                <a:solidFill>
                  <a:srgbClr val="486078"/>
                </a:solidFill>
                <a:latin typeface="Aptos"/>
              </a:rPr>
              <a:t>MC Accreditation Hub  ·  MIT 007  ·  Fictional local evidence unless marked otherwise</a:t>
            </a:r>
            <a:endParaRPr lang="en-US"/>
          </a:p>
        </p:txBody>
      </p:sp>
      <p:sp>
        <p:nvSpPr>
          <p:cNvPr id="12" name="Page"/>
          <p:cNvSpPr txBox="1"/>
          <p:nvPr/>
        </p:nvSpPr>
        <p:spPr>
          <a:xfrm>
            <a:off x="10572750" y="6438900"/>
            <a:ext cx="114300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300" b="0">
                <a:solidFill>
                  <a:srgbClr val="486078"/>
                </a:solidFill>
                <a:latin typeface="Aptos"/>
              </a:rPr>
              <a:t>20 / 53</a:t>
            </a:r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21 Evidence mapping and scan state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 txBox="1"/>
          <p:nvPr/>
        </p:nvSpPr>
        <p:spPr>
          <a:xfrm>
            <a:off x="0" y="0"/>
            <a:ext cx="12192000" cy="123825"/>
          </a:xfrm>
          <a:prstGeom prst="rect">
            <a:avLst/>
          </a:prstGeom>
          <a:solidFill>
            <a:srgbClr val="0F9E92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3" name="Section"/>
          <p:cNvSpPr txBox="1"/>
          <p:nvPr/>
        </p:nvSpPr>
        <p:spPr>
          <a:xfrm>
            <a:off x="495300" y="323850"/>
            <a:ext cx="809625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700" b="1">
                <a:solidFill>
                  <a:srgbClr val="0F9E92"/>
                </a:solidFill>
                <a:latin typeface="Aptos"/>
              </a:rPr>
              <a:t>APP WALKTHROUGH</a:t>
            </a:r>
            <a:endParaRPr lang="en-US"/>
          </a:p>
        </p:txBody>
      </p:sp>
      <p:sp>
        <p:nvSpPr>
          <p:cNvPr id="4" name="Status"/>
          <p:cNvSpPr txBox="1"/>
          <p:nvPr/>
        </p:nvSpPr>
        <p:spPr>
          <a:xfrm>
            <a:off x="8810625" y="3048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600" b="0">
                <a:solidFill>
                  <a:srgbClr val="486078"/>
                </a:solidFill>
                <a:latin typeface="Aptos"/>
              </a:rPr>
              <a:t>FICTIONAL DEMO</a:t>
            </a:r>
            <a:endParaRPr lang="en-US"/>
          </a:p>
        </p:txBody>
      </p:sp>
      <p:sp>
        <p:nvSpPr>
          <p:cNvPr id="5" name="Title"/>
          <p:cNvSpPr txBox="1"/>
          <p:nvPr/>
        </p:nvSpPr>
        <p:spPr>
          <a:xfrm>
            <a:off x="495300" y="781050"/>
            <a:ext cx="11144250" cy="71437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4200" b="1">
                <a:solidFill>
                  <a:srgbClr val="0B2545"/>
                </a:solidFill>
                <a:latin typeface="Aptos"/>
              </a:rPr>
              <a:t>Evidence mapping and scan state</a:t>
            </a:r>
            <a:endParaRPr lang="en-US"/>
          </a:p>
        </p:txBody>
      </p:sp>
      <p:sp>
        <p:nvSpPr>
          <p:cNvPr id="6" name="Lead"/>
          <p:cNvSpPr txBox="1"/>
          <p:nvPr/>
        </p:nvSpPr>
        <p:spPr>
          <a:xfrm>
            <a:off x="523875" y="1552575"/>
            <a:ext cx="11049000" cy="7334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>The Custodian uploads fictional PDFs and maps them to the two required items.</a:t>
            </a:r>
            <a:endParaRPr lang="en-US"/>
          </a:p>
        </p:txBody>
      </p:sp>
      <p:pic>
        <p:nvPicPr>
          <p:cNvPr id="7" name="Actual fictional application screenshot" descr="Fictional local application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362200"/>
            <a:ext cx="6810375" cy="3819525"/>
          </a:xfrm>
          <a:prstGeom prst="rect">
            <a:avLst/>
          </a:prstGeom>
        </p:spPr>
      </p:pic>
      <p:sp>
        <p:nvSpPr>
          <p:cNvPr id="8" name="Explanation 1"/>
          <p:cNvSpPr txBox="1"/>
          <p:nvPr/>
        </p:nvSpPr>
        <p:spPr>
          <a:xfrm>
            <a:off x="7781925" y="2457450"/>
            <a:ext cx="3714750" cy="8001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900" b="0">
                <a:solidFill>
                  <a:srgbClr val="14263D"/>
                </a:solidFill>
                <a:latin typeface="Aptos"/>
              </a:rPr>
              <a:t>• Versions remain immutable and checksum-linked.</a:t>
            </a:r>
            <a:endParaRPr lang="en-US"/>
          </a:p>
        </p:txBody>
      </p:sp>
      <p:sp>
        <p:nvSpPr>
          <p:cNvPr id="9" name="Explanation 2"/>
          <p:cNvSpPr txBox="1"/>
          <p:nvPr/>
        </p:nvSpPr>
        <p:spPr>
          <a:xfrm>
            <a:off x="7781925" y="3333750"/>
            <a:ext cx="3714750" cy="8001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900" b="0">
                <a:solidFill>
                  <a:srgbClr val="14263D"/>
                </a:solidFill>
                <a:latin typeface="Aptos"/>
              </a:rPr>
              <a:t>• The demo-only scan verdict is simulated and local.</a:t>
            </a:r>
            <a:endParaRPr lang="en-US"/>
          </a:p>
        </p:txBody>
      </p:sp>
      <p:sp>
        <p:nvSpPr>
          <p:cNvPr id="10" name="Footer rule"/>
          <p:cNvSpPr txBox="1"/>
          <p:nvPr/>
        </p:nvSpPr>
        <p:spPr>
          <a:xfrm>
            <a:off x="495300" y="6334125"/>
            <a:ext cx="11163300" cy="19050"/>
          </a:xfrm>
          <a:prstGeom prst="rect">
            <a:avLst/>
          </a:prstGeom>
          <a:solidFill>
            <a:srgbClr val="D6E2E9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11" name="Footer"/>
          <p:cNvSpPr txBox="1"/>
          <p:nvPr/>
        </p:nvSpPr>
        <p:spPr>
          <a:xfrm>
            <a:off x="504825" y="6438900"/>
            <a:ext cx="962025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300" b="0">
                <a:solidFill>
                  <a:srgbClr val="486078"/>
                </a:solidFill>
                <a:latin typeface="Aptos"/>
              </a:rPr>
              <a:t>MC Accreditation Hub  ·  MIT 007  ·  Fictional local evidence unless marked otherwise</a:t>
            </a:r>
            <a:endParaRPr lang="en-US"/>
          </a:p>
        </p:txBody>
      </p:sp>
      <p:sp>
        <p:nvSpPr>
          <p:cNvPr id="12" name="Page"/>
          <p:cNvSpPr txBox="1"/>
          <p:nvPr/>
        </p:nvSpPr>
        <p:spPr>
          <a:xfrm>
            <a:off x="10572750" y="6438900"/>
            <a:ext cx="114300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300" b="0">
                <a:solidFill>
                  <a:srgbClr val="486078"/>
                </a:solidFill>
                <a:latin typeface="Aptos"/>
              </a:rPr>
              <a:t>21 / 53</a:t>
            </a:r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22 Version history and simulated scan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 txBox="1"/>
          <p:nvPr/>
        </p:nvSpPr>
        <p:spPr>
          <a:xfrm>
            <a:off x="0" y="0"/>
            <a:ext cx="12192000" cy="123825"/>
          </a:xfrm>
          <a:prstGeom prst="rect">
            <a:avLst/>
          </a:prstGeom>
          <a:solidFill>
            <a:srgbClr val="0F9E92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3" name="Section"/>
          <p:cNvSpPr txBox="1"/>
          <p:nvPr/>
        </p:nvSpPr>
        <p:spPr>
          <a:xfrm>
            <a:off x="495300" y="323850"/>
            <a:ext cx="809625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700" b="1">
                <a:solidFill>
                  <a:srgbClr val="0F9E92"/>
                </a:solidFill>
                <a:latin typeface="Aptos"/>
              </a:rPr>
              <a:t>APP WALKTHROUGH</a:t>
            </a:r>
            <a:endParaRPr lang="en-US"/>
          </a:p>
        </p:txBody>
      </p:sp>
      <p:sp>
        <p:nvSpPr>
          <p:cNvPr id="4" name="Status"/>
          <p:cNvSpPr txBox="1"/>
          <p:nvPr/>
        </p:nvSpPr>
        <p:spPr>
          <a:xfrm>
            <a:off x="8810625" y="3048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600" b="0">
                <a:solidFill>
                  <a:srgbClr val="486078"/>
                </a:solidFill>
                <a:latin typeface="Aptos"/>
              </a:rPr>
              <a:t>FICTIONAL DEMO</a:t>
            </a:r>
            <a:endParaRPr lang="en-US"/>
          </a:p>
        </p:txBody>
      </p:sp>
      <p:sp>
        <p:nvSpPr>
          <p:cNvPr id="5" name="Title"/>
          <p:cNvSpPr txBox="1"/>
          <p:nvPr/>
        </p:nvSpPr>
        <p:spPr>
          <a:xfrm>
            <a:off x="495300" y="781050"/>
            <a:ext cx="11144250" cy="71437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4200" b="1">
                <a:solidFill>
                  <a:srgbClr val="0B2545"/>
                </a:solidFill>
                <a:latin typeface="Aptos"/>
              </a:rPr>
              <a:t>Version history and simulated scan</a:t>
            </a:r>
            <a:endParaRPr lang="en-US"/>
          </a:p>
        </p:txBody>
      </p:sp>
      <p:sp>
        <p:nvSpPr>
          <p:cNvPr id="6" name="Lead"/>
          <p:cNvSpPr txBox="1"/>
          <p:nvPr/>
        </p:nvSpPr>
        <p:spPr>
          <a:xfrm>
            <a:off x="523875" y="1552575"/>
            <a:ext cx="11049000" cy="7334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>The Repository displays the exact file version, its history, and the local scan state.</a:t>
            </a:r>
            <a:endParaRPr lang="en-US"/>
          </a:p>
        </p:txBody>
      </p:sp>
      <p:pic>
        <p:nvPicPr>
          <p:cNvPr id="7" name="Actual fictional application screenshot" descr="Fictional local application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362200"/>
            <a:ext cx="6810375" cy="3819525"/>
          </a:xfrm>
          <a:prstGeom prst="rect">
            <a:avLst/>
          </a:prstGeom>
        </p:spPr>
      </p:pic>
      <p:sp>
        <p:nvSpPr>
          <p:cNvPr id="8" name="Explanation 1"/>
          <p:cNvSpPr txBox="1"/>
          <p:nvPr/>
        </p:nvSpPr>
        <p:spPr>
          <a:xfrm>
            <a:off x="7781925" y="2457450"/>
            <a:ext cx="3714750" cy="8001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900" b="0">
                <a:solidFill>
                  <a:srgbClr val="14263D"/>
                </a:solidFill>
                <a:latin typeface="Aptos"/>
              </a:rPr>
              <a:t>• The known generated PDF received a simulated clean verdict in this isolated fixture.</a:t>
            </a:r>
            <a:endParaRPr lang="en-US"/>
          </a:p>
        </p:txBody>
      </p:sp>
      <p:sp>
        <p:nvSpPr>
          <p:cNvPr id="9" name="Explanation 2"/>
          <p:cNvSpPr txBox="1"/>
          <p:nvPr/>
        </p:nvSpPr>
        <p:spPr>
          <a:xfrm>
            <a:off x="7781925" y="3333750"/>
            <a:ext cx="3714750" cy="8001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900" b="0">
                <a:solidFill>
                  <a:srgbClr val="14263D"/>
                </a:solidFill>
                <a:latin typeface="Aptos"/>
              </a:rPr>
              <a:t>• A later upload would add a version rather than overwrite these bytes.</a:t>
            </a:r>
            <a:endParaRPr lang="en-US"/>
          </a:p>
        </p:txBody>
      </p:sp>
      <p:sp>
        <p:nvSpPr>
          <p:cNvPr id="10" name="Footer rule"/>
          <p:cNvSpPr txBox="1"/>
          <p:nvPr/>
        </p:nvSpPr>
        <p:spPr>
          <a:xfrm>
            <a:off x="495300" y="6334125"/>
            <a:ext cx="11163300" cy="19050"/>
          </a:xfrm>
          <a:prstGeom prst="rect">
            <a:avLst/>
          </a:prstGeom>
          <a:solidFill>
            <a:srgbClr val="D6E2E9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11" name="Footer"/>
          <p:cNvSpPr txBox="1"/>
          <p:nvPr/>
        </p:nvSpPr>
        <p:spPr>
          <a:xfrm>
            <a:off x="504825" y="6438900"/>
            <a:ext cx="962025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300" b="0">
                <a:solidFill>
                  <a:srgbClr val="486078"/>
                </a:solidFill>
                <a:latin typeface="Aptos"/>
              </a:rPr>
              <a:t>MC Accreditation Hub  ·  MIT 007  ·  Fictional local evidence unless marked otherwise</a:t>
            </a:r>
            <a:endParaRPr lang="en-US"/>
          </a:p>
        </p:txBody>
      </p:sp>
      <p:sp>
        <p:nvSpPr>
          <p:cNvPr id="12" name="Page"/>
          <p:cNvSpPr txBox="1"/>
          <p:nvPr/>
        </p:nvSpPr>
        <p:spPr>
          <a:xfrm>
            <a:off x="10572750" y="6438900"/>
            <a:ext cx="114300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300" b="0">
                <a:solidFill>
                  <a:srgbClr val="486078"/>
                </a:solidFill>
                <a:latin typeface="Aptos"/>
              </a:rPr>
              <a:t>22 / 53</a:t>
            </a:r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23 Package submission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 txBox="1"/>
          <p:nvPr/>
        </p:nvSpPr>
        <p:spPr>
          <a:xfrm>
            <a:off x="0" y="0"/>
            <a:ext cx="12192000" cy="123825"/>
          </a:xfrm>
          <a:prstGeom prst="rect">
            <a:avLst/>
          </a:prstGeom>
          <a:solidFill>
            <a:srgbClr val="0F9E92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3" name="Section"/>
          <p:cNvSpPr txBox="1"/>
          <p:nvPr/>
        </p:nvSpPr>
        <p:spPr>
          <a:xfrm>
            <a:off x="495300" y="323850"/>
            <a:ext cx="809625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700" b="1">
                <a:solidFill>
                  <a:srgbClr val="0F9E92"/>
                </a:solidFill>
                <a:latin typeface="Aptos"/>
              </a:rPr>
              <a:t>APP WALKTHROUGH</a:t>
            </a:r>
            <a:endParaRPr lang="en-US"/>
          </a:p>
        </p:txBody>
      </p:sp>
      <p:sp>
        <p:nvSpPr>
          <p:cNvPr id="4" name="Status"/>
          <p:cNvSpPr txBox="1"/>
          <p:nvPr/>
        </p:nvSpPr>
        <p:spPr>
          <a:xfrm>
            <a:off x="8810625" y="3048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600" b="0">
                <a:solidFill>
                  <a:srgbClr val="486078"/>
                </a:solidFill>
                <a:latin typeface="Aptos"/>
              </a:rPr>
              <a:t>FICTIONAL DEMO</a:t>
            </a:r>
            <a:endParaRPr lang="en-US"/>
          </a:p>
        </p:txBody>
      </p:sp>
      <p:sp>
        <p:nvSpPr>
          <p:cNvPr id="5" name="Title"/>
          <p:cNvSpPr txBox="1"/>
          <p:nvPr/>
        </p:nvSpPr>
        <p:spPr>
          <a:xfrm>
            <a:off x="495300" y="781050"/>
            <a:ext cx="11144250" cy="71437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4200" b="1">
                <a:solidFill>
                  <a:srgbClr val="0B2545"/>
                </a:solidFill>
                <a:latin typeface="Aptos"/>
              </a:rPr>
              <a:t>Package submission</a:t>
            </a:r>
            <a:endParaRPr lang="en-US"/>
          </a:p>
        </p:txBody>
      </p:sp>
      <p:sp>
        <p:nvSpPr>
          <p:cNvPr id="6" name="Lead"/>
          <p:cNvSpPr txBox="1"/>
          <p:nvPr/>
        </p:nvSpPr>
        <p:spPr>
          <a:xfrm>
            <a:off x="523875" y="1552575"/>
            <a:ext cx="11049000" cy="7334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>The Custodian deliberately selects both item versions and submits a package.</a:t>
            </a:r>
            <a:endParaRPr lang="en-US"/>
          </a:p>
        </p:txBody>
      </p:sp>
      <p:pic>
        <p:nvPicPr>
          <p:cNvPr id="7" name="Actual fictional application screenshot" descr="Fictional local application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362200"/>
            <a:ext cx="6810375" cy="3819525"/>
          </a:xfrm>
          <a:prstGeom prst="rect">
            <a:avLst/>
          </a:prstGeom>
        </p:spPr>
      </p:pic>
      <p:sp>
        <p:nvSpPr>
          <p:cNvPr id="8" name="Explanation 1"/>
          <p:cNvSpPr txBox="1"/>
          <p:nvPr/>
        </p:nvSpPr>
        <p:spPr>
          <a:xfrm>
            <a:off x="7781925" y="2457450"/>
            <a:ext cx="3714750" cy="8001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900" b="0">
                <a:solidFill>
                  <a:srgbClr val="14263D"/>
                </a:solidFill>
                <a:latin typeface="Aptos"/>
              </a:rPr>
              <a:t>• Package status becomes For Verification.</a:t>
            </a:r>
            <a:endParaRPr lang="en-US"/>
          </a:p>
        </p:txBody>
      </p:sp>
      <p:sp>
        <p:nvSpPr>
          <p:cNvPr id="9" name="Explanation 2"/>
          <p:cNvSpPr txBox="1"/>
          <p:nvPr/>
        </p:nvSpPr>
        <p:spPr>
          <a:xfrm>
            <a:off x="7781925" y="3333750"/>
            <a:ext cx="3714750" cy="8001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900" b="0">
                <a:solidFill>
                  <a:srgbClr val="14263D"/>
                </a:solidFill>
                <a:latin typeface="Aptos"/>
              </a:rPr>
              <a:t>• The selected version and criteria context are retained.</a:t>
            </a:r>
            <a:endParaRPr lang="en-US"/>
          </a:p>
        </p:txBody>
      </p:sp>
      <p:sp>
        <p:nvSpPr>
          <p:cNvPr id="10" name="Footer rule"/>
          <p:cNvSpPr txBox="1"/>
          <p:nvPr/>
        </p:nvSpPr>
        <p:spPr>
          <a:xfrm>
            <a:off x="495300" y="6334125"/>
            <a:ext cx="11163300" cy="19050"/>
          </a:xfrm>
          <a:prstGeom prst="rect">
            <a:avLst/>
          </a:prstGeom>
          <a:solidFill>
            <a:srgbClr val="D6E2E9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11" name="Footer"/>
          <p:cNvSpPr txBox="1"/>
          <p:nvPr/>
        </p:nvSpPr>
        <p:spPr>
          <a:xfrm>
            <a:off x="504825" y="6438900"/>
            <a:ext cx="962025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300" b="0">
                <a:solidFill>
                  <a:srgbClr val="486078"/>
                </a:solidFill>
                <a:latin typeface="Aptos"/>
              </a:rPr>
              <a:t>MC Accreditation Hub  ·  MIT 007  ·  Fictional local evidence unless marked otherwise</a:t>
            </a:r>
            <a:endParaRPr lang="en-US"/>
          </a:p>
        </p:txBody>
      </p:sp>
      <p:sp>
        <p:nvSpPr>
          <p:cNvPr id="12" name="Page"/>
          <p:cNvSpPr txBox="1"/>
          <p:nvPr/>
        </p:nvSpPr>
        <p:spPr>
          <a:xfrm>
            <a:off x="10572750" y="6438900"/>
            <a:ext cx="114300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300" b="0">
                <a:solidFill>
                  <a:srgbClr val="486078"/>
                </a:solidFill>
                <a:latin typeface="Aptos"/>
              </a:rPr>
              <a:t>23 / 53</a:t>
            </a:r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24 Reviewer context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 txBox="1"/>
          <p:nvPr/>
        </p:nvSpPr>
        <p:spPr>
          <a:xfrm>
            <a:off x="0" y="0"/>
            <a:ext cx="12192000" cy="123825"/>
          </a:xfrm>
          <a:prstGeom prst="rect">
            <a:avLst/>
          </a:prstGeom>
          <a:solidFill>
            <a:srgbClr val="0F9E92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3" name="Section"/>
          <p:cNvSpPr txBox="1"/>
          <p:nvPr/>
        </p:nvSpPr>
        <p:spPr>
          <a:xfrm>
            <a:off x="495300" y="323850"/>
            <a:ext cx="809625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700" b="1">
                <a:solidFill>
                  <a:srgbClr val="0F9E92"/>
                </a:solidFill>
                <a:latin typeface="Aptos"/>
              </a:rPr>
              <a:t>APP WALKTHROUGH</a:t>
            </a:r>
            <a:endParaRPr lang="en-US"/>
          </a:p>
        </p:txBody>
      </p:sp>
      <p:sp>
        <p:nvSpPr>
          <p:cNvPr id="4" name="Status"/>
          <p:cNvSpPr txBox="1"/>
          <p:nvPr/>
        </p:nvSpPr>
        <p:spPr>
          <a:xfrm>
            <a:off x="8810625" y="3048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600" b="0">
                <a:solidFill>
                  <a:srgbClr val="486078"/>
                </a:solidFill>
                <a:latin typeface="Aptos"/>
              </a:rPr>
              <a:t>FICTIONAL DEMO</a:t>
            </a:r>
            <a:endParaRPr lang="en-US"/>
          </a:p>
        </p:txBody>
      </p:sp>
      <p:sp>
        <p:nvSpPr>
          <p:cNvPr id="5" name="Title"/>
          <p:cNvSpPr txBox="1"/>
          <p:nvPr/>
        </p:nvSpPr>
        <p:spPr>
          <a:xfrm>
            <a:off x="495300" y="781050"/>
            <a:ext cx="11144250" cy="71437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4200" b="1">
                <a:solidFill>
                  <a:srgbClr val="0B2545"/>
                </a:solidFill>
                <a:latin typeface="Aptos"/>
              </a:rPr>
              <a:t>Reviewer context</a:t>
            </a:r>
            <a:endParaRPr lang="en-US"/>
          </a:p>
        </p:txBody>
      </p:sp>
      <p:sp>
        <p:nvSpPr>
          <p:cNvPr id="6" name="Lead"/>
          <p:cNvSpPr txBox="1"/>
          <p:nvPr/>
        </p:nvSpPr>
        <p:spPr>
          <a:xfrm>
            <a:off x="523875" y="1552575"/>
            <a:ext cx="11049000" cy="7334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>The Reviewer sees the submitted criteria and exact pinned evidence before approving.</a:t>
            </a:r>
            <a:endParaRPr lang="en-US"/>
          </a:p>
        </p:txBody>
      </p:sp>
      <p:pic>
        <p:nvPicPr>
          <p:cNvPr id="7" name="Actual fictional application screenshot" descr="Fictional local application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362200"/>
            <a:ext cx="6810375" cy="3819525"/>
          </a:xfrm>
          <a:prstGeom prst="rect">
            <a:avLst/>
          </a:prstGeom>
        </p:spPr>
      </p:pic>
      <p:sp>
        <p:nvSpPr>
          <p:cNvPr id="8" name="Explanation 1"/>
          <p:cNvSpPr txBox="1"/>
          <p:nvPr/>
        </p:nvSpPr>
        <p:spPr>
          <a:xfrm>
            <a:off x="7781925" y="2457450"/>
            <a:ext cx="3714750" cy="8001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900" b="0">
                <a:solidFill>
                  <a:srgbClr val="14263D"/>
                </a:solidFill>
                <a:latin typeface="Aptos"/>
              </a:rPr>
              <a:t>• The Reviewer is a separate fictional account.</a:t>
            </a:r>
            <a:endParaRPr lang="en-US"/>
          </a:p>
        </p:txBody>
      </p:sp>
      <p:sp>
        <p:nvSpPr>
          <p:cNvPr id="9" name="Explanation 2"/>
          <p:cNvSpPr txBox="1"/>
          <p:nvPr/>
        </p:nvSpPr>
        <p:spPr>
          <a:xfrm>
            <a:off x="7781925" y="3333750"/>
            <a:ext cx="3714750" cy="8001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900" b="0">
                <a:solidFill>
                  <a:srgbClr val="14263D"/>
                </a:solidFill>
                <a:latin typeface="Aptos"/>
              </a:rPr>
              <a:t>• The new package Reject outcome is currently unavailable.</a:t>
            </a:r>
            <a:endParaRPr lang="en-US"/>
          </a:p>
        </p:txBody>
      </p:sp>
      <p:sp>
        <p:nvSpPr>
          <p:cNvPr id="10" name="Footer rule"/>
          <p:cNvSpPr txBox="1"/>
          <p:nvPr/>
        </p:nvSpPr>
        <p:spPr>
          <a:xfrm>
            <a:off x="495300" y="6334125"/>
            <a:ext cx="11163300" cy="19050"/>
          </a:xfrm>
          <a:prstGeom prst="rect">
            <a:avLst/>
          </a:prstGeom>
          <a:solidFill>
            <a:srgbClr val="D6E2E9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11" name="Footer"/>
          <p:cNvSpPr txBox="1"/>
          <p:nvPr/>
        </p:nvSpPr>
        <p:spPr>
          <a:xfrm>
            <a:off x="504825" y="6438900"/>
            <a:ext cx="962025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300" b="0">
                <a:solidFill>
                  <a:srgbClr val="486078"/>
                </a:solidFill>
                <a:latin typeface="Aptos"/>
              </a:rPr>
              <a:t>MC Accreditation Hub  ·  MIT 007  ·  Fictional local evidence unless marked otherwise</a:t>
            </a:r>
            <a:endParaRPr lang="en-US"/>
          </a:p>
        </p:txBody>
      </p:sp>
      <p:sp>
        <p:nvSpPr>
          <p:cNvPr id="12" name="Page"/>
          <p:cNvSpPr txBox="1"/>
          <p:nvPr/>
        </p:nvSpPr>
        <p:spPr>
          <a:xfrm>
            <a:off x="10572750" y="6438900"/>
            <a:ext cx="114300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300" b="0">
                <a:solidFill>
                  <a:srgbClr val="486078"/>
                </a:solidFill>
                <a:latin typeface="Aptos"/>
              </a:rPr>
              <a:t>24 / 53</a:t>
            </a:r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25 Completion decision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 txBox="1"/>
          <p:nvPr/>
        </p:nvSpPr>
        <p:spPr>
          <a:xfrm>
            <a:off x="0" y="0"/>
            <a:ext cx="12192000" cy="123825"/>
          </a:xfrm>
          <a:prstGeom prst="rect">
            <a:avLst/>
          </a:prstGeom>
          <a:solidFill>
            <a:srgbClr val="0F9E92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3" name="Section"/>
          <p:cNvSpPr txBox="1"/>
          <p:nvPr/>
        </p:nvSpPr>
        <p:spPr>
          <a:xfrm>
            <a:off x="495300" y="323850"/>
            <a:ext cx="809625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700" b="1">
                <a:solidFill>
                  <a:srgbClr val="0F9E92"/>
                </a:solidFill>
                <a:latin typeface="Aptos"/>
              </a:rPr>
              <a:t>APP WALKTHROUGH</a:t>
            </a:r>
            <a:endParaRPr lang="en-US"/>
          </a:p>
        </p:txBody>
      </p:sp>
      <p:sp>
        <p:nvSpPr>
          <p:cNvPr id="4" name="Status"/>
          <p:cNvSpPr txBox="1"/>
          <p:nvPr/>
        </p:nvSpPr>
        <p:spPr>
          <a:xfrm>
            <a:off x="8810625" y="3048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600" b="0">
                <a:solidFill>
                  <a:srgbClr val="486078"/>
                </a:solidFill>
                <a:latin typeface="Aptos"/>
              </a:rPr>
              <a:t>FICTIONAL DEMO</a:t>
            </a:r>
            <a:endParaRPr lang="en-US"/>
          </a:p>
        </p:txBody>
      </p:sp>
      <p:sp>
        <p:nvSpPr>
          <p:cNvPr id="5" name="Title"/>
          <p:cNvSpPr txBox="1"/>
          <p:nvPr/>
        </p:nvSpPr>
        <p:spPr>
          <a:xfrm>
            <a:off x="495300" y="781050"/>
            <a:ext cx="11144250" cy="71437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4200" b="1">
                <a:solidFill>
                  <a:srgbClr val="0B2545"/>
                </a:solidFill>
                <a:latin typeface="Aptos"/>
              </a:rPr>
              <a:t>Completion decision</a:t>
            </a:r>
            <a:endParaRPr lang="en-US"/>
          </a:p>
        </p:txBody>
      </p:sp>
      <p:sp>
        <p:nvSpPr>
          <p:cNvPr id="6" name="Lead"/>
          <p:cNvSpPr txBox="1"/>
          <p:nvPr/>
        </p:nvSpPr>
        <p:spPr>
          <a:xfrm>
            <a:off x="523875" y="1552575"/>
            <a:ext cx="11049000" cy="7334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>After review, the Coordinator selects the approved package and records a rationale.</a:t>
            </a:r>
            <a:endParaRPr lang="en-US"/>
          </a:p>
        </p:txBody>
      </p:sp>
      <p:pic>
        <p:nvPicPr>
          <p:cNvPr id="7" name="Actual fictional application screenshot" descr="Fictional local application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362200"/>
            <a:ext cx="6810375" cy="3819525"/>
          </a:xfrm>
          <a:prstGeom prst="rect">
            <a:avLst/>
          </a:prstGeom>
        </p:spPr>
      </p:pic>
      <p:sp>
        <p:nvSpPr>
          <p:cNvPr id="8" name="Explanation 1"/>
          <p:cNvSpPr txBox="1"/>
          <p:nvPr/>
        </p:nvSpPr>
        <p:spPr>
          <a:xfrm>
            <a:off x="7781925" y="2457450"/>
            <a:ext cx="3714750" cy="8001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900" b="0">
                <a:solidFill>
                  <a:srgbClr val="14263D"/>
                </a:solidFill>
                <a:latin typeface="Aptos"/>
              </a:rPr>
              <a:t>• The requirement becomes Complete only after this step.</a:t>
            </a:r>
            <a:endParaRPr lang="en-US"/>
          </a:p>
        </p:txBody>
      </p:sp>
      <p:sp>
        <p:nvSpPr>
          <p:cNvPr id="9" name="Explanation 2"/>
          <p:cNvSpPr txBox="1"/>
          <p:nvPr/>
        </p:nvSpPr>
        <p:spPr>
          <a:xfrm>
            <a:off x="7781925" y="3333750"/>
            <a:ext cx="3714750" cy="8001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900" b="0">
                <a:solidFill>
                  <a:srgbClr val="14263D"/>
                </a:solidFill>
                <a:latin typeface="Aptos"/>
              </a:rPr>
              <a:t>• The history retains the earlier submitted and review records.</a:t>
            </a:r>
            <a:endParaRPr lang="en-US"/>
          </a:p>
        </p:txBody>
      </p:sp>
      <p:sp>
        <p:nvSpPr>
          <p:cNvPr id="10" name="Footer rule"/>
          <p:cNvSpPr txBox="1"/>
          <p:nvPr/>
        </p:nvSpPr>
        <p:spPr>
          <a:xfrm>
            <a:off x="495300" y="6334125"/>
            <a:ext cx="11163300" cy="19050"/>
          </a:xfrm>
          <a:prstGeom prst="rect">
            <a:avLst/>
          </a:prstGeom>
          <a:solidFill>
            <a:srgbClr val="D6E2E9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11" name="Footer"/>
          <p:cNvSpPr txBox="1"/>
          <p:nvPr/>
        </p:nvSpPr>
        <p:spPr>
          <a:xfrm>
            <a:off x="504825" y="6438900"/>
            <a:ext cx="962025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300" b="0">
                <a:solidFill>
                  <a:srgbClr val="486078"/>
                </a:solidFill>
                <a:latin typeface="Aptos"/>
              </a:rPr>
              <a:t>MC Accreditation Hub  ·  MIT 007  ·  Fictional local evidence unless marked otherwise</a:t>
            </a:r>
            <a:endParaRPr lang="en-US"/>
          </a:p>
        </p:txBody>
      </p:sp>
      <p:sp>
        <p:nvSpPr>
          <p:cNvPr id="12" name="Page"/>
          <p:cNvSpPr txBox="1"/>
          <p:nvPr/>
        </p:nvSpPr>
        <p:spPr>
          <a:xfrm>
            <a:off x="10572750" y="6438900"/>
            <a:ext cx="114300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300" b="0">
                <a:solidFill>
                  <a:srgbClr val="486078"/>
                </a:solidFill>
                <a:latin typeface="Aptos"/>
              </a:rPr>
              <a:t>25 / 53</a:t>
            </a:r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26 Dashboard after certification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 txBox="1"/>
          <p:nvPr/>
        </p:nvSpPr>
        <p:spPr>
          <a:xfrm>
            <a:off x="0" y="0"/>
            <a:ext cx="12192000" cy="123825"/>
          </a:xfrm>
          <a:prstGeom prst="rect">
            <a:avLst/>
          </a:prstGeom>
          <a:solidFill>
            <a:srgbClr val="0F9E92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3" name="Section"/>
          <p:cNvSpPr txBox="1"/>
          <p:nvPr/>
        </p:nvSpPr>
        <p:spPr>
          <a:xfrm>
            <a:off x="495300" y="323850"/>
            <a:ext cx="809625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700" b="1">
                <a:solidFill>
                  <a:srgbClr val="0F9E92"/>
                </a:solidFill>
                <a:latin typeface="Aptos"/>
              </a:rPr>
              <a:t>APP WALKTHROUGH</a:t>
            </a:r>
            <a:endParaRPr lang="en-US"/>
          </a:p>
        </p:txBody>
      </p:sp>
      <p:sp>
        <p:nvSpPr>
          <p:cNvPr id="4" name="Status"/>
          <p:cNvSpPr txBox="1"/>
          <p:nvPr/>
        </p:nvSpPr>
        <p:spPr>
          <a:xfrm>
            <a:off x="8810625" y="3048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600" b="0">
                <a:solidFill>
                  <a:srgbClr val="486078"/>
                </a:solidFill>
                <a:latin typeface="Aptos"/>
              </a:rPr>
              <a:t>FICTIONAL DEMO</a:t>
            </a:r>
            <a:endParaRPr lang="en-US"/>
          </a:p>
        </p:txBody>
      </p:sp>
      <p:sp>
        <p:nvSpPr>
          <p:cNvPr id="5" name="Title"/>
          <p:cNvSpPr txBox="1"/>
          <p:nvPr/>
        </p:nvSpPr>
        <p:spPr>
          <a:xfrm>
            <a:off x="495300" y="781050"/>
            <a:ext cx="11144250" cy="71437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4200" b="1">
                <a:solidFill>
                  <a:srgbClr val="0B2545"/>
                </a:solidFill>
                <a:latin typeface="Aptos"/>
              </a:rPr>
              <a:t>Dashboard after certification</a:t>
            </a:r>
            <a:endParaRPr lang="en-US"/>
          </a:p>
        </p:txBody>
      </p:sp>
      <p:sp>
        <p:nvSpPr>
          <p:cNvPr id="6" name="Lead"/>
          <p:cNvSpPr txBox="1"/>
          <p:nvPr/>
        </p:nvSpPr>
        <p:spPr>
          <a:xfrm>
            <a:off x="523875" y="1552575"/>
            <a:ext cx="11049000" cy="7334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>One of eight fictional requirements is complete: 12.5% internal readiness.</a:t>
            </a:r>
            <a:endParaRPr lang="en-US"/>
          </a:p>
        </p:txBody>
      </p:sp>
      <p:pic>
        <p:nvPicPr>
          <p:cNvPr id="7" name="Actual fictional application screenshot" descr="Fictional local application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362200"/>
            <a:ext cx="6810375" cy="3819525"/>
          </a:xfrm>
          <a:prstGeom prst="rect">
            <a:avLst/>
          </a:prstGeom>
        </p:spPr>
      </p:pic>
      <p:sp>
        <p:nvSpPr>
          <p:cNvPr id="8" name="Explanation 1"/>
          <p:cNvSpPr txBox="1"/>
          <p:nvPr/>
        </p:nvSpPr>
        <p:spPr>
          <a:xfrm>
            <a:off x="7781925" y="2457450"/>
            <a:ext cx="3714750" cy="8001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900" b="0">
                <a:solidFill>
                  <a:srgbClr val="14263D"/>
                </a:solidFill>
                <a:latin typeface="Aptos"/>
              </a:rPr>
              <a:t>• The calculation matches the report’s unfiltered cycle population.</a:t>
            </a:r>
            <a:endParaRPr lang="en-US"/>
          </a:p>
        </p:txBody>
      </p:sp>
      <p:sp>
        <p:nvSpPr>
          <p:cNvPr id="9" name="Explanation 2"/>
          <p:cNvSpPr txBox="1"/>
          <p:nvPr/>
        </p:nvSpPr>
        <p:spPr>
          <a:xfrm>
            <a:off x="7781925" y="3333750"/>
            <a:ext cx="3714750" cy="8001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900" b="0">
                <a:solidFill>
                  <a:srgbClr val="14263D"/>
                </a:solidFill>
                <a:latin typeface="Aptos"/>
              </a:rPr>
              <a:t>• This figure is a demo result, not an institutional accreditation rating.</a:t>
            </a:r>
            <a:endParaRPr lang="en-US"/>
          </a:p>
        </p:txBody>
      </p:sp>
      <p:sp>
        <p:nvSpPr>
          <p:cNvPr id="10" name="Footer rule"/>
          <p:cNvSpPr txBox="1"/>
          <p:nvPr/>
        </p:nvSpPr>
        <p:spPr>
          <a:xfrm>
            <a:off x="495300" y="6334125"/>
            <a:ext cx="11163300" cy="19050"/>
          </a:xfrm>
          <a:prstGeom prst="rect">
            <a:avLst/>
          </a:prstGeom>
          <a:solidFill>
            <a:srgbClr val="D6E2E9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11" name="Footer"/>
          <p:cNvSpPr txBox="1"/>
          <p:nvPr/>
        </p:nvSpPr>
        <p:spPr>
          <a:xfrm>
            <a:off x="504825" y="6438900"/>
            <a:ext cx="962025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300" b="0">
                <a:solidFill>
                  <a:srgbClr val="486078"/>
                </a:solidFill>
                <a:latin typeface="Aptos"/>
              </a:rPr>
              <a:t>MC Accreditation Hub  ·  MIT 007  ·  Fictional local evidence unless marked otherwise</a:t>
            </a:r>
            <a:endParaRPr lang="en-US"/>
          </a:p>
        </p:txBody>
      </p:sp>
      <p:sp>
        <p:nvSpPr>
          <p:cNvPr id="12" name="Page"/>
          <p:cNvSpPr txBox="1"/>
          <p:nvPr/>
        </p:nvSpPr>
        <p:spPr>
          <a:xfrm>
            <a:off x="10572750" y="6438900"/>
            <a:ext cx="114300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300" b="0">
                <a:solidFill>
                  <a:srgbClr val="486078"/>
                </a:solidFill>
                <a:latin typeface="Aptos"/>
              </a:rPr>
              <a:t>26 / 53</a:t>
            </a:r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27 Reports and provenance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 txBox="1"/>
          <p:nvPr/>
        </p:nvSpPr>
        <p:spPr>
          <a:xfrm>
            <a:off x="0" y="0"/>
            <a:ext cx="12192000" cy="123825"/>
          </a:xfrm>
          <a:prstGeom prst="rect">
            <a:avLst/>
          </a:prstGeom>
          <a:solidFill>
            <a:srgbClr val="0F9E92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3" name="Section"/>
          <p:cNvSpPr txBox="1"/>
          <p:nvPr/>
        </p:nvSpPr>
        <p:spPr>
          <a:xfrm>
            <a:off x="495300" y="323850"/>
            <a:ext cx="809625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700" b="1">
                <a:solidFill>
                  <a:srgbClr val="0F9E92"/>
                </a:solidFill>
                <a:latin typeface="Aptos"/>
              </a:rPr>
              <a:t>APP WALKTHROUGH</a:t>
            </a:r>
            <a:endParaRPr lang="en-US"/>
          </a:p>
        </p:txBody>
      </p:sp>
      <p:sp>
        <p:nvSpPr>
          <p:cNvPr id="4" name="Status"/>
          <p:cNvSpPr txBox="1"/>
          <p:nvPr/>
        </p:nvSpPr>
        <p:spPr>
          <a:xfrm>
            <a:off x="8810625" y="3048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600" b="0">
                <a:solidFill>
                  <a:srgbClr val="486078"/>
                </a:solidFill>
                <a:latin typeface="Aptos"/>
              </a:rPr>
              <a:t>FICTIONAL DEMO</a:t>
            </a:r>
            <a:endParaRPr lang="en-US"/>
          </a:p>
        </p:txBody>
      </p:sp>
      <p:sp>
        <p:nvSpPr>
          <p:cNvPr id="5" name="Title"/>
          <p:cNvSpPr txBox="1"/>
          <p:nvPr/>
        </p:nvSpPr>
        <p:spPr>
          <a:xfrm>
            <a:off x="495300" y="781050"/>
            <a:ext cx="11144250" cy="71437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4200" b="1">
                <a:solidFill>
                  <a:srgbClr val="0B2545"/>
                </a:solidFill>
                <a:latin typeface="Aptos"/>
              </a:rPr>
              <a:t>Reports and provenance</a:t>
            </a:r>
            <a:endParaRPr lang="en-US"/>
          </a:p>
        </p:txBody>
      </p:sp>
      <p:sp>
        <p:nvSpPr>
          <p:cNvPr id="6" name="Lead"/>
          <p:cNvSpPr txBox="1"/>
          <p:nvPr/>
        </p:nvSpPr>
        <p:spPr>
          <a:xfrm>
            <a:off x="523875" y="1552575"/>
            <a:ext cx="11049000" cy="7334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>The report states its cycle, instrument, scope, population, formula version, and calculation time.</a:t>
            </a:r>
            <a:endParaRPr lang="en-US"/>
          </a:p>
        </p:txBody>
      </p:sp>
      <p:pic>
        <p:nvPicPr>
          <p:cNvPr id="7" name="Actual fictional application screenshot" descr="Fictional local application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362200"/>
            <a:ext cx="6810375" cy="3819525"/>
          </a:xfrm>
          <a:prstGeom prst="rect">
            <a:avLst/>
          </a:prstGeom>
        </p:spPr>
      </p:pic>
      <p:sp>
        <p:nvSpPr>
          <p:cNvPr id="8" name="Explanation 1"/>
          <p:cNvSpPr txBox="1"/>
          <p:nvPr/>
        </p:nvSpPr>
        <p:spPr>
          <a:xfrm>
            <a:off x="7781925" y="2457450"/>
            <a:ext cx="3714750" cy="8001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900" b="0">
                <a:solidFill>
                  <a:srgbClr val="14263D"/>
                </a:solidFill>
                <a:latin typeface="Aptos"/>
              </a:rPr>
              <a:t>• The captured fictional report shows 1 / 8 = 12.5%.</a:t>
            </a:r>
            <a:endParaRPr lang="en-US"/>
          </a:p>
        </p:txBody>
      </p:sp>
      <p:sp>
        <p:nvSpPr>
          <p:cNvPr id="9" name="Explanation 2"/>
          <p:cNvSpPr txBox="1"/>
          <p:nvPr/>
        </p:nvSpPr>
        <p:spPr>
          <a:xfrm>
            <a:off x="7781925" y="3333750"/>
            <a:ext cx="3714750" cy="8001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900" b="0">
                <a:solidFill>
                  <a:srgbClr val="14263D"/>
                </a:solidFill>
                <a:latin typeface="Aptos"/>
              </a:rPr>
              <a:t>• Area/status filters, print output, and formula-safe CSV are available.</a:t>
            </a:r>
            <a:endParaRPr lang="en-US"/>
          </a:p>
        </p:txBody>
      </p:sp>
      <p:sp>
        <p:nvSpPr>
          <p:cNvPr id="10" name="Footer rule"/>
          <p:cNvSpPr txBox="1"/>
          <p:nvPr/>
        </p:nvSpPr>
        <p:spPr>
          <a:xfrm>
            <a:off x="495300" y="6334125"/>
            <a:ext cx="11163300" cy="19050"/>
          </a:xfrm>
          <a:prstGeom prst="rect">
            <a:avLst/>
          </a:prstGeom>
          <a:solidFill>
            <a:srgbClr val="D6E2E9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11" name="Footer"/>
          <p:cNvSpPr txBox="1"/>
          <p:nvPr/>
        </p:nvSpPr>
        <p:spPr>
          <a:xfrm>
            <a:off x="504825" y="6438900"/>
            <a:ext cx="962025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300" b="0">
                <a:solidFill>
                  <a:srgbClr val="486078"/>
                </a:solidFill>
                <a:latin typeface="Aptos"/>
              </a:rPr>
              <a:t>MC Accreditation Hub  ·  MIT 007  ·  Fictional local evidence unless marked otherwise</a:t>
            </a:r>
            <a:endParaRPr lang="en-US"/>
          </a:p>
        </p:txBody>
      </p:sp>
      <p:sp>
        <p:nvSpPr>
          <p:cNvPr id="12" name="Page"/>
          <p:cNvSpPr txBox="1"/>
          <p:nvPr/>
        </p:nvSpPr>
        <p:spPr>
          <a:xfrm>
            <a:off x="10572750" y="6438900"/>
            <a:ext cx="114300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300" b="0">
                <a:solidFill>
                  <a:srgbClr val="486078"/>
                </a:solidFill>
                <a:latin typeface="Aptos"/>
              </a:rPr>
              <a:t>27 / 53</a:t>
            </a:r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28 Search, audit, and Viewer boundary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 txBox="1"/>
          <p:nvPr/>
        </p:nvSpPr>
        <p:spPr>
          <a:xfrm>
            <a:off x="0" y="0"/>
            <a:ext cx="12192000" cy="123825"/>
          </a:xfrm>
          <a:prstGeom prst="rect">
            <a:avLst/>
          </a:prstGeom>
          <a:solidFill>
            <a:srgbClr val="0F9E92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3" name="Section"/>
          <p:cNvSpPr txBox="1"/>
          <p:nvPr/>
        </p:nvSpPr>
        <p:spPr>
          <a:xfrm>
            <a:off x="495300" y="323850"/>
            <a:ext cx="809625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700" b="1">
                <a:solidFill>
                  <a:srgbClr val="0F9E92"/>
                </a:solidFill>
                <a:latin typeface="Aptos"/>
              </a:rPr>
              <a:t>APP WALKTHROUGH</a:t>
            </a:r>
            <a:endParaRPr lang="en-US"/>
          </a:p>
        </p:txBody>
      </p:sp>
      <p:sp>
        <p:nvSpPr>
          <p:cNvPr id="4" name="Status"/>
          <p:cNvSpPr txBox="1"/>
          <p:nvPr/>
        </p:nvSpPr>
        <p:spPr>
          <a:xfrm>
            <a:off x="8810625" y="3048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600" b="0">
                <a:solidFill>
                  <a:srgbClr val="486078"/>
                </a:solidFill>
                <a:latin typeface="Aptos"/>
              </a:rPr>
              <a:t>FICTIONAL DEMO</a:t>
            </a:r>
            <a:endParaRPr lang="en-US"/>
          </a:p>
        </p:txBody>
      </p:sp>
      <p:sp>
        <p:nvSpPr>
          <p:cNvPr id="5" name="Title"/>
          <p:cNvSpPr txBox="1"/>
          <p:nvPr/>
        </p:nvSpPr>
        <p:spPr>
          <a:xfrm>
            <a:off x="495300" y="781050"/>
            <a:ext cx="11144250" cy="71437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4200" b="1">
                <a:solidFill>
                  <a:srgbClr val="0B2545"/>
                </a:solidFill>
                <a:latin typeface="Aptos"/>
              </a:rPr>
              <a:t>Search, audit, and Viewer boundary</a:t>
            </a:r>
            <a:endParaRPr lang="en-US"/>
          </a:p>
        </p:txBody>
      </p:sp>
      <p:sp>
        <p:nvSpPr>
          <p:cNvPr id="6" name="Lead"/>
          <p:cNvSpPr txBox="1"/>
          <p:nvPr/>
        </p:nvSpPr>
        <p:spPr>
          <a:xfrm>
            <a:off x="523875" y="1552575"/>
            <a:ext cx="11049000" cy="7334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>Search returns only authorized metadata; audit records actions with scoped access.</a:t>
            </a:r>
            <a:endParaRPr lang="en-US"/>
          </a:p>
        </p:txBody>
      </p:sp>
      <p:pic>
        <p:nvPicPr>
          <p:cNvPr id="7" name="Actual fictional application screenshot" descr="Fictional local application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362200"/>
            <a:ext cx="6810375" cy="3819525"/>
          </a:xfrm>
          <a:prstGeom prst="rect">
            <a:avLst/>
          </a:prstGeom>
        </p:spPr>
      </p:pic>
      <p:sp>
        <p:nvSpPr>
          <p:cNvPr id="8" name="Explanation 1"/>
          <p:cNvSpPr txBox="1"/>
          <p:nvPr/>
        </p:nvSpPr>
        <p:spPr>
          <a:xfrm>
            <a:off x="7781925" y="2457450"/>
            <a:ext cx="3714750" cy="8001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900" b="0">
                <a:solidFill>
                  <a:srgbClr val="14263D"/>
                </a:solidFill>
                <a:latin typeface="Aptos"/>
              </a:rPr>
              <a:t>• The Viewer can access approved evidence but cannot retrieve package history.</a:t>
            </a:r>
            <a:endParaRPr lang="en-US"/>
          </a:p>
        </p:txBody>
      </p:sp>
      <p:sp>
        <p:nvSpPr>
          <p:cNvPr id="9" name="Explanation 2"/>
          <p:cNvSpPr txBox="1"/>
          <p:nvPr/>
        </p:nvSpPr>
        <p:spPr>
          <a:xfrm>
            <a:off x="7781925" y="3333750"/>
            <a:ext cx="3714750" cy="8001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900" b="0">
                <a:solidFill>
                  <a:srgbClr val="14263D"/>
                </a:solidFill>
                <a:latin typeface="Aptos"/>
              </a:rPr>
              <a:t>• A direct Viewer request for the demo package returned HTTP 404 in the local capture.</a:t>
            </a:r>
            <a:endParaRPr lang="en-US"/>
          </a:p>
        </p:txBody>
      </p:sp>
      <p:sp>
        <p:nvSpPr>
          <p:cNvPr id="10" name="Footer rule"/>
          <p:cNvSpPr txBox="1"/>
          <p:nvPr/>
        </p:nvSpPr>
        <p:spPr>
          <a:xfrm>
            <a:off x="495300" y="6334125"/>
            <a:ext cx="11163300" cy="19050"/>
          </a:xfrm>
          <a:prstGeom prst="rect">
            <a:avLst/>
          </a:prstGeom>
          <a:solidFill>
            <a:srgbClr val="D6E2E9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11" name="Footer"/>
          <p:cNvSpPr txBox="1"/>
          <p:nvPr/>
        </p:nvSpPr>
        <p:spPr>
          <a:xfrm>
            <a:off x="504825" y="6438900"/>
            <a:ext cx="962025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300" b="0">
                <a:solidFill>
                  <a:srgbClr val="486078"/>
                </a:solidFill>
                <a:latin typeface="Aptos"/>
              </a:rPr>
              <a:t>MC Accreditation Hub  ·  MIT 007  ·  Fictional local evidence unless marked otherwise</a:t>
            </a:r>
            <a:endParaRPr lang="en-US"/>
          </a:p>
        </p:txBody>
      </p:sp>
      <p:sp>
        <p:nvSpPr>
          <p:cNvPr id="12" name="Page"/>
          <p:cNvSpPr txBox="1"/>
          <p:nvPr/>
        </p:nvSpPr>
        <p:spPr>
          <a:xfrm>
            <a:off x="10572750" y="6438900"/>
            <a:ext cx="114300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300" b="0">
                <a:solidFill>
                  <a:srgbClr val="486078"/>
                </a:solidFill>
                <a:latin typeface="Aptos"/>
              </a:rPr>
              <a:t>28 / 53</a:t>
            </a:r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>
  <p:cSld name="29 Security boundaries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 txBox="1"/>
          <p:nvPr/>
        </p:nvSpPr>
        <p:spPr>
          <a:xfrm>
            <a:off x="0" y="0"/>
            <a:ext cx="12192000" cy="123825"/>
          </a:xfrm>
          <a:prstGeom prst="rect">
            <a:avLst/>
          </a:prstGeom>
          <a:solidFill>
            <a:srgbClr val="0F9E92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3" name="Section"/>
          <p:cNvSpPr txBox="1"/>
          <p:nvPr/>
        </p:nvSpPr>
        <p:spPr>
          <a:xfrm>
            <a:off x="495300" y="323850"/>
            <a:ext cx="809625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700" b="1">
                <a:solidFill>
                  <a:srgbClr val="0F9E92"/>
                </a:solidFill>
                <a:latin typeface="Aptos"/>
              </a:rPr>
              <a:t>VALIDATION</a:t>
            </a:r>
            <a:endParaRPr lang="en-US"/>
          </a:p>
        </p:txBody>
      </p:sp>
      <p:sp>
        <p:nvSpPr>
          <p:cNvPr id="4" name="Status"/>
          <p:cNvSpPr txBox="1"/>
          <p:nvPr/>
        </p:nvSpPr>
        <p:spPr>
          <a:xfrm>
            <a:off x="8810625" y="3048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600" b="0">
                <a:solidFill>
                  <a:srgbClr val="486078"/>
                </a:solidFill>
                <a:latin typeface="Aptos"/>
              </a:rPr>
              <a:t>LOCAL / TARGET PENDING</a:t>
            </a:r>
            <a:endParaRPr lang="en-US"/>
          </a:p>
        </p:txBody>
      </p:sp>
      <p:sp>
        <p:nvSpPr>
          <p:cNvPr id="5" name="Title"/>
          <p:cNvSpPr txBox="1"/>
          <p:nvPr/>
        </p:nvSpPr>
        <p:spPr>
          <a:xfrm>
            <a:off x="495300" y="781050"/>
            <a:ext cx="11144250" cy="71437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4200" b="1">
                <a:solidFill>
                  <a:srgbClr val="0B2545"/>
                </a:solidFill>
                <a:latin typeface="Aptos"/>
              </a:rPr>
              <a:t>Security boundaries</a:t>
            </a:r>
            <a:endParaRPr lang="en-US"/>
          </a:p>
        </p:txBody>
      </p:sp>
      <p:sp>
        <p:nvSpPr>
          <p:cNvPr id="6" name="Lead"/>
          <p:cNvSpPr txBox="1"/>
          <p:nvPr/>
        </p:nvSpPr>
        <p:spPr>
          <a:xfrm>
            <a:off x="523875" y="1552575"/>
            <a:ext cx="11049000" cy="7334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>Local controls cover login, sessions, CSRF, scoped queries, protected files, and audit history.</a:t>
            </a:r>
            <a:endParaRPr lang="en-US"/>
          </a:p>
        </p:txBody>
      </p:sp>
      <p:sp>
        <p:nvSpPr>
          <p:cNvPr id="7" name="Point 1"/>
          <p:cNvSpPr txBox="1"/>
          <p:nvPr/>
        </p:nvSpPr>
        <p:spPr>
          <a:xfrm>
            <a:off x="666750" y="24479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New accounts and grants require separate named operations and reasons.</a:t>
            </a:r>
            <a:endParaRPr lang="en-US"/>
          </a:p>
        </p:txBody>
      </p:sp>
      <p:sp>
        <p:nvSpPr>
          <p:cNvPr id="8" name="Point 2"/>
          <p:cNvSpPr txBox="1"/>
          <p:nvPr/>
        </p:nvSpPr>
        <p:spPr>
          <a:xfrm>
            <a:off x="666750" y="30956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Recovery email stays disabled until school SMTP and HTTPS settings are approved.</a:t>
            </a:r>
            <a:endParaRPr lang="en-US"/>
          </a:p>
        </p:txBody>
      </p:sp>
      <p:sp>
        <p:nvSpPr>
          <p:cNvPr id="9" name="Point 3"/>
          <p:cNvSpPr txBox="1"/>
          <p:nvPr/>
        </p:nvSpPr>
        <p:spPr>
          <a:xfrm>
            <a:off x="666750" y="37433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Target proxy, networks, scanner, retention, and restore checks remain open.</a:t>
            </a:r>
            <a:endParaRPr lang="en-US"/>
          </a:p>
        </p:txBody>
      </p:sp>
      <p:sp>
        <p:nvSpPr>
          <p:cNvPr id="10" name="Footer rule"/>
          <p:cNvSpPr txBox="1"/>
          <p:nvPr/>
        </p:nvSpPr>
        <p:spPr>
          <a:xfrm>
            <a:off x="495300" y="6334125"/>
            <a:ext cx="11163300" cy="19050"/>
          </a:xfrm>
          <a:prstGeom prst="rect">
            <a:avLst/>
          </a:prstGeom>
          <a:solidFill>
            <a:srgbClr val="D6E2E9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11" name="Footer"/>
          <p:cNvSpPr txBox="1"/>
          <p:nvPr/>
        </p:nvSpPr>
        <p:spPr>
          <a:xfrm>
            <a:off x="504825" y="6438900"/>
            <a:ext cx="962025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300" b="0">
                <a:solidFill>
                  <a:srgbClr val="486078"/>
                </a:solidFill>
                <a:latin typeface="Aptos"/>
              </a:rPr>
              <a:t>MC Accreditation Hub  ·  MIT 007  ·  Fictional local evidence unless marked otherwise</a:t>
            </a:r>
            <a:endParaRPr lang="en-US"/>
          </a:p>
        </p:txBody>
      </p:sp>
      <p:sp>
        <p:nvSpPr>
          <p:cNvPr id="12" name="Page"/>
          <p:cNvSpPr txBox="1"/>
          <p:nvPr/>
        </p:nvSpPr>
        <p:spPr>
          <a:xfrm>
            <a:off x="10572750" y="6438900"/>
            <a:ext cx="114300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300" b="0">
                <a:solidFill>
                  <a:srgbClr val="486078"/>
                </a:solidFill>
                <a:latin typeface="Aptos"/>
              </a:rPr>
              <a:t>29 / 53</a:t>
            </a:r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>
  <p:cSld name="30 Accessibility work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 txBox="1"/>
          <p:nvPr/>
        </p:nvSpPr>
        <p:spPr>
          <a:xfrm>
            <a:off x="0" y="0"/>
            <a:ext cx="12192000" cy="123825"/>
          </a:xfrm>
          <a:prstGeom prst="rect">
            <a:avLst/>
          </a:prstGeom>
          <a:solidFill>
            <a:srgbClr val="0F9E92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3" name="Section"/>
          <p:cNvSpPr txBox="1"/>
          <p:nvPr/>
        </p:nvSpPr>
        <p:spPr>
          <a:xfrm>
            <a:off x="495300" y="323850"/>
            <a:ext cx="809625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700" b="1">
                <a:solidFill>
                  <a:srgbClr val="0F9E92"/>
                </a:solidFill>
                <a:latin typeface="Aptos"/>
              </a:rPr>
              <a:t>VALIDATION</a:t>
            </a:r>
            <a:endParaRPr lang="en-US"/>
          </a:p>
        </p:txBody>
      </p:sp>
      <p:sp>
        <p:nvSpPr>
          <p:cNvPr id="4" name="Status"/>
          <p:cNvSpPr txBox="1"/>
          <p:nvPr/>
        </p:nvSpPr>
        <p:spPr>
          <a:xfrm>
            <a:off x="8810625" y="3048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600" b="0">
                <a:solidFill>
                  <a:srgbClr val="486078"/>
                </a:solidFill>
                <a:latin typeface="Aptos"/>
              </a:rPr>
              <a:t>LOCAL TESTED</a:t>
            </a:r>
            <a:endParaRPr lang="en-US"/>
          </a:p>
        </p:txBody>
      </p:sp>
      <p:sp>
        <p:nvSpPr>
          <p:cNvPr id="5" name="Title"/>
          <p:cNvSpPr txBox="1"/>
          <p:nvPr/>
        </p:nvSpPr>
        <p:spPr>
          <a:xfrm>
            <a:off x="495300" y="781050"/>
            <a:ext cx="11144250" cy="71437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4200" b="1">
                <a:solidFill>
                  <a:srgbClr val="0B2545"/>
                </a:solidFill>
                <a:latin typeface="Aptos"/>
              </a:rPr>
              <a:t>Accessibility work</a:t>
            </a:r>
            <a:endParaRPr lang="en-US"/>
          </a:p>
        </p:txBody>
      </p:sp>
      <p:sp>
        <p:nvSpPr>
          <p:cNvPr id="6" name="Lead"/>
          <p:cNvSpPr txBox="1"/>
          <p:nvPr/>
        </p:nvSpPr>
        <p:spPr>
          <a:xfrm>
            <a:off x="523875" y="1552575"/>
            <a:ext cx="11049000" cy="7334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>Shared dialogs, navigation, focus behavior, contrast, and named compliance meters received focused checks.</a:t>
            </a:r>
            <a:endParaRPr lang="en-US"/>
          </a:p>
        </p:txBody>
      </p:sp>
      <p:sp>
        <p:nvSpPr>
          <p:cNvPr id="7" name="Point 1"/>
          <p:cNvSpPr txBox="1"/>
          <p:nvPr/>
        </p:nvSpPr>
        <p:spPr>
          <a:xfrm>
            <a:off x="666750" y="24479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Keyboard dialog behavior and mobile navigation were tested locally.</a:t>
            </a:r>
            <a:endParaRPr lang="en-US"/>
          </a:p>
        </p:txBody>
      </p:sp>
      <p:sp>
        <p:nvSpPr>
          <p:cNvPr id="8" name="Point 2"/>
          <p:cNvSpPr txBox="1"/>
          <p:nvPr/>
        </p:nvSpPr>
        <p:spPr>
          <a:xfrm>
            <a:off x="666750" y="3095625"/>
            <a:ext cx="10858500" cy="7239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This does not claim a complete accessibility certification or replace screen-reader evaluation.</a:t>
            </a:r>
            <a:endParaRPr lang="en-US"/>
          </a:p>
        </p:txBody>
      </p:sp>
      <p:sp>
        <p:nvSpPr>
          <p:cNvPr id="9" name="Footer rule"/>
          <p:cNvSpPr txBox="1"/>
          <p:nvPr/>
        </p:nvSpPr>
        <p:spPr>
          <a:xfrm>
            <a:off x="495300" y="6334125"/>
            <a:ext cx="11163300" cy="19050"/>
          </a:xfrm>
          <a:prstGeom prst="rect">
            <a:avLst/>
          </a:prstGeom>
          <a:solidFill>
            <a:srgbClr val="D6E2E9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10" name="Footer"/>
          <p:cNvSpPr txBox="1"/>
          <p:nvPr/>
        </p:nvSpPr>
        <p:spPr>
          <a:xfrm>
            <a:off x="504825" y="6438900"/>
            <a:ext cx="962025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300" b="0">
                <a:solidFill>
                  <a:srgbClr val="486078"/>
                </a:solidFill>
                <a:latin typeface="Aptos"/>
              </a:rPr>
              <a:t>MC Accreditation Hub  ·  MIT 007  ·  Fictional local evidence unless marked otherwise</a:t>
            </a:r>
            <a:endParaRPr lang="en-US"/>
          </a:p>
        </p:txBody>
      </p:sp>
      <p:sp>
        <p:nvSpPr>
          <p:cNvPr id="11" name="Page"/>
          <p:cNvSpPr txBox="1"/>
          <p:nvPr/>
        </p:nvSpPr>
        <p:spPr>
          <a:xfrm>
            <a:off x="10572750" y="6438900"/>
            <a:ext cx="114300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300" b="0">
                <a:solidFill>
                  <a:srgbClr val="486078"/>
                </a:solidFill>
                <a:latin typeface="Aptos"/>
              </a:rPr>
              <a:t>30 / 53</a:t>
            </a:r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>
  <p:cSld name="31 Current verification evidence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 txBox="1"/>
          <p:nvPr/>
        </p:nvSpPr>
        <p:spPr>
          <a:xfrm>
            <a:off x="0" y="0"/>
            <a:ext cx="12192000" cy="123825"/>
          </a:xfrm>
          <a:prstGeom prst="rect">
            <a:avLst/>
          </a:prstGeom>
          <a:solidFill>
            <a:srgbClr val="0F9E92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3" name="Section"/>
          <p:cNvSpPr txBox="1"/>
          <p:nvPr/>
        </p:nvSpPr>
        <p:spPr>
          <a:xfrm>
            <a:off x="495300" y="323850"/>
            <a:ext cx="809625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700" b="1">
                <a:solidFill>
                  <a:srgbClr val="0F9E92"/>
                </a:solidFill>
                <a:latin typeface="Aptos"/>
              </a:rPr>
              <a:t>VALIDATION</a:t>
            </a:r>
            <a:endParaRPr lang="en-US"/>
          </a:p>
        </p:txBody>
      </p:sp>
      <p:sp>
        <p:nvSpPr>
          <p:cNvPr id="4" name="Status"/>
          <p:cNvSpPr txBox="1"/>
          <p:nvPr/>
        </p:nvSpPr>
        <p:spPr>
          <a:xfrm>
            <a:off x="8810625" y="3048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600" b="0">
                <a:solidFill>
                  <a:srgbClr val="486078"/>
                </a:solidFill>
                <a:latin typeface="Aptos"/>
              </a:rPr>
              <a:t>LOCAL TESTED</a:t>
            </a:r>
            <a:endParaRPr lang="en-US"/>
          </a:p>
        </p:txBody>
      </p:sp>
      <p:sp>
        <p:nvSpPr>
          <p:cNvPr id="5" name="Title"/>
          <p:cNvSpPr txBox="1"/>
          <p:nvPr/>
        </p:nvSpPr>
        <p:spPr>
          <a:xfrm>
            <a:off x="495300" y="781050"/>
            <a:ext cx="11144250" cy="71437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4200" b="1">
                <a:solidFill>
                  <a:srgbClr val="0B2545"/>
                </a:solidFill>
                <a:latin typeface="Aptos"/>
              </a:rPr>
              <a:t>Current verification evidence</a:t>
            </a:r>
            <a:endParaRPr lang="en-US"/>
          </a:p>
        </p:txBody>
      </p:sp>
      <p:sp>
        <p:nvSpPr>
          <p:cNvPr id="6" name="Lead"/>
          <p:cNvSpPr txBox="1"/>
          <p:nvPr/>
        </p:nvSpPr>
        <p:spPr>
          <a:xfrm>
            <a:off x="523875" y="1552575"/>
            <a:ext cx="11049000" cy="7334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>Tests and the demo rehearsal provide dated local evidence for this checkout.</a:t>
            </a:r>
            <a:endParaRPr lang="en-US"/>
          </a:p>
        </p:txBody>
      </p:sp>
      <p:sp>
        <p:nvSpPr>
          <p:cNvPr id="7" name="Point 1"/>
          <p:cNvSpPr txBox="1"/>
          <p:nvPr/>
        </p:nvSpPr>
        <p:spPr>
          <a:xfrm>
            <a:off x="666750" y="24479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Django system check and migration dry run: passed.</a:t>
            </a:r>
            <a:endParaRPr lang="en-US"/>
          </a:p>
        </p:txBody>
      </p:sp>
      <p:sp>
        <p:nvSpPr>
          <p:cNvPr id="8" name="Point 2"/>
          <p:cNvSpPr txBox="1"/>
          <p:nvPr/>
        </p:nvSpPr>
        <p:spPr>
          <a:xfrm>
            <a:off x="666750" y="30956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Frontend TypeScript/Vite build: record current result in the evidence sheet.</a:t>
            </a:r>
            <a:endParaRPr lang="en-US"/>
          </a:p>
        </p:txBody>
      </p:sp>
      <p:sp>
        <p:nvSpPr>
          <p:cNvPr id="9" name="Point 3"/>
          <p:cNvSpPr txBox="1"/>
          <p:nvPr/>
        </p:nvSpPr>
        <p:spPr>
          <a:xfrm>
            <a:off x="666750" y="37433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Backend PostgreSQL suite: record current count and result in the evidence sheet.</a:t>
            </a:r>
            <a:endParaRPr lang="en-US"/>
          </a:p>
        </p:txBody>
      </p:sp>
      <p:sp>
        <p:nvSpPr>
          <p:cNvPr id="10" name="Point 4"/>
          <p:cNvSpPr txBox="1"/>
          <p:nvPr/>
        </p:nvSpPr>
        <p:spPr>
          <a:xfrm>
            <a:off x="666750" y="43910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The fictional browser capture completed the full role handoff and Viewer denial.</a:t>
            </a:r>
            <a:endParaRPr lang="en-US"/>
          </a:p>
        </p:txBody>
      </p:sp>
      <p:sp>
        <p:nvSpPr>
          <p:cNvPr id="11" name="Footer rule"/>
          <p:cNvSpPr txBox="1"/>
          <p:nvPr/>
        </p:nvSpPr>
        <p:spPr>
          <a:xfrm>
            <a:off x="495300" y="6334125"/>
            <a:ext cx="11163300" cy="19050"/>
          </a:xfrm>
          <a:prstGeom prst="rect">
            <a:avLst/>
          </a:prstGeom>
          <a:solidFill>
            <a:srgbClr val="D6E2E9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12" name="Footer"/>
          <p:cNvSpPr txBox="1"/>
          <p:nvPr/>
        </p:nvSpPr>
        <p:spPr>
          <a:xfrm>
            <a:off x="504825" y="6438900"/>
            <a:ext cx="962025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300" b="0">
                <a:solidFill>
                  <a:srgbClr val="486078"/>
                </a:solidFill>
                <a:latin typeface="Aptos"/>
              </a:rPr>
              <a:t>MC Accreditation Hub  ·  MIT 007  ·  Fictional local evidence unless marked otherwise</a:t>
            </a:r>
            <a:endParaRPr lang="en-US"/>
          </a:p>
        </p:txBody>
      </p:sp>
      <p:sp>
        <p:nvSpPr>
          <p:cNvPr id="13" name="Page"/>
          <p:cNvSpPr txBox="1"/>
          <p:nvPr/>
        </p:nvSpPr>
        <p:spPr>
          <a:xfrm>
            <a:off x="10572750" y="6438900"/>
            <a:ext cx="114300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300" b="0">
                <a:solidFill>
                  <a:srgbClr val="486078"/>
                </a:solidFill>
                <a:latin typeface="Aptos"/>
              </a:rPr>
              <a:t>31 / 53</a:t>
            </a:r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>
  <p:cSld name="32 Evaluation protocol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 txBox="1"/>
          <p:nvPr/>
        </p:nvSpPr>
        <p:spPr>
          <a:xfrm>
            <a:off x="0" y="0"/>
            <a:ext cx="12192000" cy="123825"/>
          </a:xfrm>
          <a:prstGeom prst="rect">
            <a:avLst/>
          </a:prstGeom>
          <a:solidFill>
            <a:srgbClr val="0F9E92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3" name="Section"/>
          <p:cNvSpPr txBox="1"/>
          <p:nvPr/>
        </p:nvSpPr>
        <p:spPr>
          <a:xfrm>
            <a:off x="495300" y="323850"/>
            <a:ext cx="809625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700" b="1">
                <a:solidFill>
                  <a:srgbClr val="0F9E92"/>
                </a:solidFill>
                <a:latin typeface="Aptos"/>
              </a:rPr>
              <a:t>EVALUATION</a:t>
            </a:r>
            <a:endParaRPr lang="en-US"/>
          </a:p>
        </p:txBody>
      </p:sp>
      <p:sp>
        <p:nvSpPr>
          <p:cNvPr id="4" name="Status"/>
          <p:cNvSpPr txBox="1"/>
          <p:nvPr/>
        </p:nvSpPr>
        <p:spPr>
          <a:xfrm>
            <a:off x="8810625" y="3048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600" b="0">
                <a:solidFill>
                  <a:srgbClr val="486078"/>
                </a:solidFill>
                <a:latin typeface="Aptos"/>
              </a:rPr>
              <a:t>METHOD READY</a:t>
            </a:r>
            <a:endParaRPr lang="en-US"/>
          </a:p>
        </p:txBody>
      </p:sp>
      <p:sp>
        <p:nvSpPr>
          <p:cNvPr id="5" name="Title"/>
          <p:cNvSpPr txBox="1"/>
          <p:nvPr/>
        </p:nvSpPr>
        <p:spPr>
          <a:xfrm>
            <a:off x="495300" y="781050"/>
            <a:ext cx="11144250" cy="71437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4200" b="1">
                <a:solidFill>
                  <a:srgbClr val="0B2545"/>
                </a:solidFill>
                <a:latin typeface="Aptos"/>
              </a:rPr>
              <a:t>Evaluation protocol</a:t>
            </a:r>
            <a:endParaRPr lang="en-US"/>
          </a:p>
        </p:txBody>
      </p:sp>
      <p:sp>
        <p:nvSpPr>
          <p:cNvPr id="6" name="Lead"/>
          <p:cNvSpPr txBox="1"/>
          <p:nvPr/>
        </p:nvSpPr>
        <p:spPr>
          <a:xfrm>
            <a:off x="523875" y="1552575"/>
            <a:ext cx="11049000" cy="7334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>The thesis packet defines repeatable tasks but contains no participant results.</a:t>
            </a:r>
            <a:endParaRPr lang="en-US"/>
          </a:p>
        </p:txBody>
      </p:sp>
      <p:sp>
        <p:nvSpPr>
          <p:cNvPr id="7" name="Point 1"/>
          <p:cNvSpPr txBox="1"/>
          <p:nvPr/>
        </p:nvSpPr>
        <p:spPr>
          <a:xfrm>
            <a:off x="666750" y="24479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Retrieve an approved version and identify missing work.</a:t>
            </a:r>
            <a:endParaRPr lang="en-US"/>
          </a:p>
        </p:txBody>
      </p:sp>
      <p:sp>
        <p:nvSpPr>
          <p:cNvPr id="8" name="Point 2"/>
          <p:cNvSpPr txBox="1"/>
          <p:nvPr/>
        </p:nvSpPr>
        <p:spPr>
          <a:xfrm>
            <a:off x="666750" y="30956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Submit/review fictional evidence and certify completion.</a:t>
            </a:r>
            <a:endParaRPr lang="en-US"/>
          </a:p>
        </p:txBody>
      </p:sp>
      <p:sp>
        <p:nvSpPr>
          <p:cNvPr id="9" name="Point 3"/>
          <p:cNvSpPr txBox="1"/>
          <p:nvPr/>
        </p:nvSpPr>
        <p:spPr>
          <a:xfrm>
            <a:off x="666750" y="37433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Record elapsed time, success, errors, help needed, and participant feedback.</a:t>
            </a:r>
            <a:endParaRPr lang="en-US"/>
          </a:p>
        </p:txBody>
      </p:sp>
      <p:sp>
        <p:nvSpPr>
          <p:cNvPr id="10" name="Point 4"/>
          <p:cNvSpPr txBox="1"/>
          <p:nvPr/>
        </p:nvSpPr>
        <p:spPr>
          <a:xfrm>
            <a:off x="666750" y="43910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Use consent and anonymous participant codes before any study.</a:t>
            </a:r>
            <a:endParaRPr lang="en-US"/>
          </a:p>
        </p:txBody>
      </p:sp>
      <p:sp>
        <p:nvSpPr>
          <p:cNvPr id="11" name="Footer rule"/>
          <p:cNvSpPr txBox="1"/>
          <p:nvPr/>
        </p:nvSpPr>
        <p:spPr>
          <a:xfrm>
            <a:off x="495300" y="6334125"/>
            <a:ext cx="11163300" cy="19050"/>
          </a:xfrm>
          <a:prstGeom prst="rect">
            <a:avLst/>
          </a:prstGeom>
          <a:solidFill>
            <a:srgbClr val="D6E2E9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12" name="Footer"/>
          <p:cNvSpPr txBox="1"/>
          <p:nvPr/>
        </p:nvSpPr>
        <p:spPr>
          <a:xfrm>
            <a:off x="504825" y="6438900"/>
            <a:ext cx="962025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300" b="0">
                <a:solidFill>
                  <a:srgbClr val="486078"/>
                </a:solidFill>
                <a:latin typeface="Aptos"/>
              </a:rPr>
              <a:t>MC Accreditation Hub  ·  MIT 007  ·  Fictional local evidence unless marked otherwise</a:t>
            </a:r>
            <a:endParaRPr lang="en-US"/>
          </a:p>
        </p:txBody>
      </p:sp>
      <p:sp>
        <p:nvSpPr>
          <p:cNvPr id="13" name="Page"/>
          <p:cNvSpPr txBox="1"/>
          <p:nvPr/>
        </p:nvSpPr>
        <p:spPr>
          <a:xfrm>
            <a:off x="10572750" y="6438900"/>
            <a:ext cx="114300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300" b="0">
                <a:solidFill>
                  <a:srgbClr val="486078"/>
                </a:solidFill>
                <a:latin typeface="Aptos"/>
              </a:rPr>
              <a:t>32 / 53</a:t>
            </a:r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>
  <p:cSld name="33 Results and limitations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 txBox="1"/>
          <p:nvPr/>
        </p:nvSpPr>
        <p:spPr>
          <a:xfrm>
            <a:off x="0" y="0"/>
            <a:ext cx="12192000" cy="123825"/>
          </a:xfrm>
          <a:prstGeom prst="rect">
            <a:avLst/>
          </a:prstGeom>
          <a:solidFill>
            <a:srgbClr val="0F9E92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3" name="Section"/>
          <p:cNvSpPr txBox="1"/>
          <p:nvPr/>
        </p:nvSpPr>
        <p:spPr>
          <a:xfrm>
            <a:off x="495300" y="323850"/>
            <a:ext cx="809625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700" b="1">
                <a:solidFill>
                  <a:srgbClr val="0F9E92"/>
                </a:solidFill>
                <a:latin typeface="Aptos"/>
              </a:rPr>
              <a:t>EVALUATION</a:t>
            </a:r>
            <a:endParaRPr lang="en-US"/>
          </a:p>
        </p:txBody>
      </p:sp>
      <p:sp>
        <p:nvSpPr>
          <p:cNvPr id="4" name="Status"/>
          <p:cNvSpPr txBox="1"/>
          <p:nvPr/>
        </p:nvSpPr>
        <p:spPr>
          <a:xfrm>
            <a:off x="8810625" y="3048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600" b="0">
                <a:solidFill>
                  <a:srgbClr val="486078"/>
                </a:solidFill>
                <a:latin typeface="Aptos"/>
              </a:rPr>
              <a:t>PENDING EVIDENCE</a:t>
            </a:r>
            <a:endParaRPr lang="en-US"/>
          </a:p>
        </p:txBody>
      </p:sp>
      <p:sp>
        <p:nvSpPr>
          <p:cNvPr id="5" name="Title"/>
          <p:cNvSpPr txBox="1"/>
          <p:nvPr/>
        </p:nvSpPr>
        <p:spPr>
          <a:xfrm>
            <a:off x="495300" y="781050"/>
            <a:ext cx="11144250" cy="71437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4200" b="1">
                <a:solidFill>
                  <a:srgbClr val="0B2545"/>
                </a:solidFill>
                <a:latin typeface="Aptos"/>
              </a:rPr>
              <a:t>Results and limitations</a:t>
            </a:r>
            <a:endParaRPr lang="en-US"/>
          </a:p>
        </p:txBody>
      </p:sp>
      <p:sp>
        <p:nvSpPr>
          <p:cNvPr id="6" name="Lead"/>
          <p:cNvSpPr txBox="1"/>
          <p:nvPr/>
        </p:nvSpPr>
        <p:spPr>
          <a:xfrm>
            <a:off x="523875" y="1552575"/>
            <a:ext cx="11049000" cy="7334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>Observed participant outcomes and target operations remain pending.</a:t>
            </a:r>
            <a:endParaRPr lang="en-US"/>
          </a:p>
        </p:txBody>
      </p:sp>
      <p:sp>
        <p:nvSpPr>
          <p:cNvPr id="7" name="Point 1"/>
          <p:cNvSpPr txBox="1"/>
          <p:nvPr/>
        </p:nvSpPr>
        <p:spPr>
          <a:xfrm>
            <a:off x="666750" y="24479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No usability sample size, comparison timing, or participant scores have been collected.</a:t>
            </a:r>
            <a:endParaRPr lang="en-US"/>
          </a:p>
        </p:txBody>
      </p:sp>
      <p:sp>
        <p:nvSpPr>
          <p:cNvPr id="8" name="Point 2"/>
          <p:cNvSpPr txBox="1"/>
          <p:nvPr/>
        </p:nvSpPr>
        <p:spPr>
          <a:xfrm>
            <a:off x="666750" y="3095625"/>
            <a:ext cx="10858500" cy="7239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No real institutional evidence, official instrument, or School IT server has been verified here.</a:t>
            </a:r>
            <a:endParaRPr lang="en-US"/>
          </a:p>
        </p:txBody>
      </p:sp>
      <p:sp>
        <p:nvSpPr>
          <p:cNvPr id="9" name="Point 3"/>
          <p:cNvSpPr txBox="1"/>
          <p:nvPr/>
        </p:nvSpPr>
        <p:spPr>
          <a:xfrm>
            <a:off x="666750" y="3933825"/>
            <a:ext cx="10858500" cy="7239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Performance and scalability are design goals until measured against an approved capacity target.</a:t>
            </a:r>
            <a:endParaRPr lang="en-US"/>
          </a:p>
        </p:txBody>
      </p:sp>
      <p:sp>
        <p:nvSpPr>
          <p:cNvPr id="10" name="Footer rule"/>
          <p:cNvSpPr txBox="1"/>
          <p:nvPr/>
        </p:nvSpPr>
        <p:spPr>
          <a:xfrm>
            <a:off x="495300" y="6334125"/>
            <a:ext cx="11163300" cy="19050"/>
          </a:xfrm>
          <a:prstGeom prst="rect">
            <a:avLst/>
          </a:prstGeom>
          <a:solidFill>
            <a:srgbClr val="D6E2E9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11" name="Footer"/>
          <p:cNvSpPr txBox="1"/>
          <p:nvPr/>
        </p:nvSpPr>
        <p:spPr>
          <a:xfrm>
            <a:off x="504825" y="6438900"/>
            <a:ext cx="962025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300" b="0">
                <a:solidFill>
                  <a:srgbClr val="486078"/>
                </a:solidFill>
                <a:latin typeface="Aptos"/>
              </a:rPr>
              <a:t>MC Accreditation Hub  ·  MIT 007  ·  Fictional local evidence unless marked otherwise</a:t>
            </a:r>
            <a:endParaRPr lang="en-US"/>
          </a:p>
        </p:txBody>
      </p:sp>
      <p:sp>
        <p:nvSpPr>
          <p:cNvPr id="12" name="Page"/>
          <p:cNvSpPr txBox="1"/>
          <p:nvPr/>
        </p:nvSpPr>
        <p:spPr>
          <a:xfrm>
            <a:off x="10572750" y="6438900"/>
            <a:ext cx="114300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300" b="0">
                <a:solidFill>
                  <a:srgbClr val="486078"/>
                </a:solidFill>
                <a:latin typeface="Aptos"/>
              </a:rPr>
              <a:t>33 / 53</a:t>
            </a:r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>
  <p:cSld name="34 Institution-owned hosting intent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 txBox="1"/>
          <p:nvPr/>
        </p:nvSpPr>
        <p:spPr>
          <a:xfrm>
            <a:off x="0" y="0"/>
            <a:ext cx="12192000" cy="123825"/>
          </a:xfrm>
          <a:prstGeom prst="rect">
            <a:avLst/>
          </a:prstGeom>
          <a:solidFill>
            <a:srgbClr val="0F9E92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3" name="Section"/>
          <p:cNvSpPr txBox="1"/>
          <p:nvPr/>
        </p:nvSpPr>
        <p:spPr>
          <a:xfrm>
            <a:off x="495300" y="323850"/>
            <a:ext cx="809625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700" b="1">
                <a:solidFill>
                  <a:srgbClr val="0F9E92"/>
                </a:solidFill>
                <a:latin typeface="Aptos"/>
              </a:rPr>
              <a:t>OPERATIONS</a:t>
            </a:r>
            <a:endParaRPr lang="en-US"/>
          </a:p>
        </p:txBody>
      </p:sp>
      <p:sp>
        <p:nvSpPr>
          <p:cNvPr id="4" name="Status"/>
          <p:cNvSpPr txBox="1"/>
          <p:nvPr/>
        </p:nvSpPr>
        <p:spPr>
          <a:xfrm>
            <a:off x="8810625" y="3048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600" b="0">
                <a:solidFill>
                  <a:srgbClr val="486078"/>
                </a:solidFill>
                <a:latin typeface="Aptos"/>
              </a:rPr>
              <a:t>PROPOSED</a:t>
            </a:r>
            <a:endParaRPr lang="en-US"/>
          </a:p>
        </p:txBody>
      </p:sp>
      <p:sp>
        <p:nvSpPr>
          <p:cNvPr id="5" name="Title"/>
          <p:cNvSpPr txBox="1"/>
          <p:nvPr/>
        </p:nvSpPr>
        <p:spPr>
          <a:xfrm>
            <a:off x="495300" y="781050"/>
            <a:ext cx="11144250" cy="71437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4200" b="1">
                <a:solidFill>
                  <a:srgbClr val="0B2545"/>
                </a:solidFill>
                <a:latin typeface="Aptos"/>
              </a:rPr>
              <a:t>Institution-owned hosting intent</a:t>
            </a:r>
            <a:endParaRPr lang="en-US"/>
          </a:p>
        </p:txBody>
      </p:sp>
      <p:sp>
        <p:nvSpPr>
          <p:cNvPr id="6" name="Lead"/>
          <p:cNvSpPr txBox="1"/>
          <p:nvPr/>
        </p:nvSpPr>
        <p:spPr>
          <a:xfrm>
            <a:off x="523875" y="1552575"/>
            <a:ext cx="11049000" cy="7334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>The source presentation proposes a school-owned, on-premises private-cloud model.</a:t>
            </a:r>
            <a:endParaRPr lang="en-US"/>
          </a:p>
        </p:txBody>
      </p:sp>
      <p:sp>
        <p:nvSpPr>
          <p:cNvPr id="7" name="Point 1"/>
          <p:cNvSpPr txBox="1"/>
          <p:nvPr/>
        </p:nvSpPr>
        <p:spPr>
          <a:xfrm>
            <a:off x="666750" y="24479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A Linux reference uses Nginx, Gunicorn, Django, PostgreSQL, and protected evidence storage.</a:t>
            </a:r>
            <a:endParaRPr lang="en-US"/>
          </a:p>
        </p:txBody>
      </p:sp>
      <p:sp>
        <p:nvSpPr>
          <p:cNvPr id="8" name="Point 2"/>
          <p:cNvSpPr txBox="1"/>
          <p:nvPr/>
        </p:nvSpPr>
        <p:spPr>
          <a:xfrm>
            <a:off x="666750" y="3095625"/>
            <a:ext cx="10858500" cy="7239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Actual server, proxy, networks, TLS, service owner, and private-cloud characteristics require School IT confirmation.</a:t>
            </a:r>
            <a:endParaRPr lang="en-US"/>
          </a:p>
        </p:txBody>
      </p:sp>
      <p:sp>
        <p:nvSpPr>
          <p:cNvPr id="9" name="Point 3"/>
          <p:cNvSpPr txBox="1"/>
          <p:nvPr/>
        </p:nvSpPr>
        <p:spPr>
          <a:xfrm>
            <a:off x="666750" y="39338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The course demo runs only on the presenter’s loopback Windows laptop.</a:t>
            </a:r>
            <a:endParaRPr lang="en-US"/>
          </a:p>
        </p:txBody>
      </p:sp>
      <p:sp>
        <p:nvSpPr>
          <p:cNvPr id="10" name="Footer rule"/>
          <p:cNvSpPr txBox="1"/>
          <p:nvPr/>
        </p:nvSpPr>
        <p:spPr>
          <a:xfrm>
            <a:off x="495300" y="6334125"/>
            <a:ext cx="11163300" cy="19050"/>
          </a:xfrm>
          <a:prstGeom prst="rect">
            <a:avLst/>
          </a:prstGeom>
          <a:solidFill>
            <a:srgbClr val="D6E2E9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11" name="Footer"/>
          <p:cNvSpPr txBox="1"/>
          <p:nvPr/>
        </p:nvSpPr>
        <p:spPr>
          <a:xfrm>
            <a:off x="504825" y="6438900"/>
            <a:ext cx="962025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300" b="0">
                <a:solidFill>
                  <a:srgbClr val="486078"/>
                </a:solidFill>
                <a:latin typeface="Aptos"/>
              </a:rPr>
              <a:t>MC Accreditation Hub  ·  MIT 007  ·  Fictional local evidence unless marked otherwise</a:t>
            </a:r>
            <a:endParaRPr lang="en-US"/>
          </a:p>
        </p:txBody>
      </p:sp>
      <p:sp>
        <p:nvSpPr>
          <p:cNvPr id="12" name="Page"/>
          <p:cNvSpPr txBox="1"/>
          <p:nvPr/>
        </p:nvSpPr>
        <p:spPr>
          <a:xfrm>
            <a:off x="10572750" y="6438900"/>
            <a:ext cx="114300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300" b="0">
                <a:solidFill>
                  <a:srgbClr val="486078"/>
                </a:solidFill>
                <a:latin typeface="Aptos"/>
              </a:rPr>
              <a:t>34 / 53</a:t>
            </a:r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>
  <p:cSld name="35 Backup and recovery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 txBox="1"/>
          <p:nvPr/>
        </p:nvSpPr>
        <p:spPr>
          <a:xfrm>
            <a:off x="0" y="0"/>
            <a:ext cx="12192000" cy="123825"/>
          </a:xfrm>
          <a:prstGeom prst="rect">
            <a:avLst/>
          </a:prstGeom>
          <a:solidFill>
            <a:srgbClr val="0F9E92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3" name="Section"/>
          <p:cNvSpPr txBox="1"/>
          <p:nvPr/>
        </p:nvSpPr>
        <p:spPr>
          <a:xfrm>
            <a:off x="495300" y="323850"/>
            <a:ext cx="809625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700" b="1">
                <a:solidFill>
                  <a:srgbClr val="0F9E92"/>
                </a:solidFill>
                <a:latin typeface="Aptos"/>
              </a:rPr>
              <a:t>OPERATIONS</a:t>
            </a:r>
            <a:endParaRPr lang="en-US"/>
          </a:p>
        </p:txBody>
      </p:sp>
      <p:sp>
        <p:nvSpPr>
          <p:cNvPr id="4" name="Status"/>
          <p:cNvSpPr txBox="1"/>
          <p:nvPr/>
        </p:nvSpPr>
        <p:spPr>
          <a:xfrm>
            <a:off x="8810625" y="3048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600" b="0">
                <a:solidFill>
                  <a:srgbClr val="486078"/>
                </a:solidFill>
                <a:latin typeface="Aptos"/>
              </a:rPr>
              <a:t>TARGET PENDING</a:t>
            </a:r>
            <a:endParaRPr lang="en-US"/>
          </a:p>
        </p:txBody>
      </p:sp>
      <p:sp>
        <p:nvSpPr>
          <p:cNvPr id="5" name="Title"/>
          <p:cNvSpPr txBox="1"/>
          <p:nvPr/>
        </p:nvSpPr>
        <p:spPr>
          <a:xfrm>
            <a:off x="495300" y="781050"/>
            <a:ext cx="11144250" cy="71437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4200" b="1">
                <a:solidFill>
                  <a:srgbClr val="0B2545"/>
                </a:solidFill>
                <a:latin typeface="Aptos"/>
              </a:rPr>
              <a:t>Backup and recovery</a:t>
            </a:r>
            <a:endParaRPr lang="en-US"/>
          </a:p>
        </p:txBody>
      </p:sp>
      <p:sp>
        <p:nvSpPr>
          <p:cNvPr id="6" name="Lead"/>
          <p:cNvSpPr txBox="1"/>
          <p:nvPr/>
        </p:nvSpPr>
        <p:spPr>
          <a:xfrm>
            <a:off x="523875" y="1552575"/>
            <a:ext cx="11049000" cy="7334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>The repository contains backup, archive verification, and restore procedures.</a:t>
            </a:r>
            <a:endParaRPr lang="en-US"/>
          </a:p>
        </p:txBody>
      </p:sp>
      <p:sp>
        <p:nvSpPr>
          <p:cNvPr id="7" name="Point 1"/>
          <p:cNvSpPr txBox="1"/>
          <p:nvPr/>
        </p:nvSpPr>
        <p:spPr>
          <a:xfrm>
            <a:off x="666750" y="24479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A recoverable set includes database, evidence bytes, and required configuration.</a:t>
            </a:r>
            <a:endParaRPr lang="en-US"/>
          </a:p>
        </p:txBody>
      </p:sp>
      <p:sp>
        <p:nvSpPr>
          <p:cNvPr id="8" name="Point 2"/>
          <p:cNvSpPr txBox="1"/>
          <p:nvPr/>
        </p:nvSpPr>
        <p:spPr>
          <a:xfrm>
            <a:off x="666750" y="30956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A separate-environment rehearsal must prove file and history restoration on the target.</a:t>
            </a:r>
            <a:endParaRPr lang="en-US"/>
          </a:p>
        </p:txBody>
      </p:sp>
      <p:sp>
        <p:nvSpPr>
          <p:cNvPr id="9" name="Point 3"/>
          <p:cNvSpPr txBox="1"/>
          <p:nvPr/>
        </p:nvSpPr>
        <p:spPr>
          <a:xfrm>
            <a:off x="666750" y="37433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School IT must choose operators, backup destinations, retention, and recovery targets.</a:t>
            </a:r>
            <a:endParaRPr lang="en-US"/>
          </a:p>
        </p:txBody>
      </p:sp>
      <p:sp>
        <p:nvSpPr>
          <p:cNvPr id="10" name="Footer rule"/>
          <p:cNvSpPr txBox="1"/>
          <p:nvPr/>
        </p:nvSpPr>
        <p:spPr>
          <a:xfrm>
            <a:off x="495300" y="6334125"/>
            <a:ext cx="11163300" cy="19050"/>
          </a:xfrm>
          <a:prstGeom prst="rect">
            <a:avLst/>
          </a:prstGeom>
          <a:solidFill>
            <a:srgbClr val="D6E2E9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11" name="Footer"/>
          <p:cNvSpPr txBox="1"/>
          <p:nvPr/>
        </p:nvSpPr>
        <p:spPr>
          <a:xfrm>
            <a:off x="504825" y="6438900"/>
            <a:ext cx="962025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300" b="0">
                <a:solidFill>
                  <a:srgbClr val="486078"/>
                </a:solidFill>
                <a:latin typeface="Aptos"/>
              </a:rPr>
              <a:t>MC Accreditation Hub  ·  MIT 007  ·  Fictional local evidence unless marked otherwise</a:t>
            </a:r>
            <a:endParaRPr lang="en-US"/>
          </a:p>
        </p:txBody>
      </p:sp>
      <p:sp>
        <p:nvSpPr>
          <p:cNvPr id="12" name="Page"/>
          <p:cNvSpPr txBox="1"/>
          <p:nvPr/>
        </p:nvSpPr>
        <p:spPr>
          <a:xfrm>
            <a:off x="10572750" y="6438900"/>
            <a:ext cx="114300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300" b="0">
                <a:solidFill>
                  <a:srgbClr val="486078"/>
                </a:solidFill>
                <a:latin typeface="Aptos"/>
              </a:rPr>
              <a:t>35 / 53</a:t>
            </a:r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>
  <p:cSld name="36 Sustainable development alignment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 txBox="1"/>
          <p:nvPr/>
        </p:nvSpPr>
        <p:spPr>
          <a:xfrm>
            <a:off x="0" y="0"/>
            <a:ext cx="12192000" cy="123825"/>
          </a:xfrm>
          <a:prstGeom prst="rect">
            <a:avLst/>
          </a:prstGeom>
          <a:solidFill>
            <a:srgbClr val="0F9E92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3" name="Section"/>
          <p:cNvSpPr txBox="1"/>
          <p:nvPr/>
        </p:nvSpPr>
        <p:spPr>
          <a:xfrm>
            <a:off x="495300" y="323850"/>
            <a:ext cx="809625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700" b="1">
                <a:solidFill>
                  <a:srgbClr val="0F9E92"/>
                </a:solidFill>
                <a:latin typeface="Aptos"/>
              </a:rPr>
              <a:t>CONCLUSION</a:t>
            </a:r>
            <a:endParaRPr lang="en-US"/>
          </a:p>
        </p:txBody>
      </p:sp>
      <p:sp>
        <p:nvSpPr>
          <p:cNvPr id="4" name="Status"/>
          <p:cNvSpPr txBox="1"/>
          <p:nvPr/>
        </p:nvSpPr>
        <p:spPr>
          <a:xfrm>
            <a:off x="8810625" y="3048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600" b="0">
                <a:solidFill>
                  <a:srgbClr val="486078"/>
                </a:solidFill>
                <a:latin typeface="Aptos"/>
              </a:rPr>
              <a:t>PROJECT RATIONALE</a:t>
            </a:r>
            <a:endParaRPr lang="en-US"/>
          </a:p>
        </p:txBody>
      </p:sp>
      <p:sp>
        <p:nvSpPr>
          <p:cNvPr id="5" name="Title"/>
          <p:cNvSpPr txBox="1"/>
          <p:nvPr/>
        </p:nvSpPr>
        <p:spPr>
          <a:xfrm>
            <a:off x="495300" y="781050"/>
            <a:ext cx="11144250" cy="71437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4200" b="1">
                <a:solidFill>
                  <a:srgbClr val="0B2545"/>
                </a:solidFill>
                <a:latin typeface="Aptos"/>
              </a:rPr>
              <a:t>Sustainable development alignment</a:t>
            </a:r>
            <a:endParaRPr lang="en-US"/>
          </a:p>
        </p:txBody>
      </p:sp>
      <p:sp>
        <p:nvSpPr>
          <p:cNvPr id="6" name="Lead"/>
          <p:cNvSpPr txBox="1"/>
          <p:nvPr/>
        </p:nvSpPr>
        <p:spPr>
          <a:xfrm>
            <a:off x="523875" y="1552575"/>
            <a:ext cx="11049000" cy="7334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>The project proposes contributions to education and institutional recordkeeping.</a:t>
            </a:r>
            <a:endParaRPr lang="en-US"/>
          </a:p>
        </p:txBody>
      </p:sp>
      <p:sp>
        <p:nvSpPr>
          <p:cNvPr id="7" name="Point 1"/>
          <p:cNvSpPr txBox="1"/>
          <p:nvPr/>
        </p:nvSpPr>
        <p:spPr>
          <a:xfrm>
            <a:off x="666750" y="24479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SDG 4: supports quality assurance preparation through organized evidence.</a:t>
            </a:r>
            <a:endParaRPr lang="en-US"/>
          </a:p>
        </p:txBody>
      </p:sp>
      <p:sp>
        <p:nvSpPr>
          <p:cNvPr id="8" name="Point 2"/>
          <p:cNvSpPr txBox="1"/>
          <p:nvPr/>
        </p:nvSpPr>
        <p:spPr>
          <a:xfrm>
            <a:off x="666750" y="30956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SDG 9: applies digital infrastructure to institutional workflows.</a:t>
            </a:r>
            <a:endParaRPr lang="en-US"/>
          </a:p>
        </p:txBody>
      </p:sp>
      <p:sp>
        <p:nvSpPr>
          <p:cNvPr id="9" name="Point 3"/>
          <p:cNvSpPr txBox="1"/>
          <p:nvPr/>
        </p:nvSpPr>
        <p:spPr>
          <a:xfrm>
            <a:off x="666750" y="37433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SDG 16: supports traceable decisions and records.</a:t>
            </a:r>
            <a:endParaRPr lang="en-US"/>
          </a:p>
        </p:txBody>
      </p:sp>
      <p:sp>
        <p:nvSpPr>
          <p:cNvPr id="10" name="Point 4"/>
          <p:cNvSpPr txBox="1"/>
          <p:nvPr/>
        </p:nvSpPr>
        <p:spPr>
          <a:xfrm>
            <a:off x="666750" y="43910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These are intended alignments, not measured SDG outcomes.</a:t>
            </a:r>
            <a:endParaRPr lang="en-US"/>
          </a:p>
        </p:txBody>
      </p:sp>
      <p:sp>
        <p:nvSpPr>
          <p:cNvPr id="11" name="Footer rule"/>
          <p:cNvSpPr txBox="1"/>
          <p:nvPr/>
        </p:nvSpPr>
        <p:spPr>
          <a:xfrm>
            <a:off x="495300" y="6334125"/>
            <a:ext cx="11163300" cy="19050"/>
          </a:xfrm>
          <a:prstGeom prst="rect">
            <a:avLst/>
          </a:prstGeom>
          <a:solidFill>
            <a:srgbClr val="D6E2E9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12" name="Footer"/>
          <p:cNvSpPr txBox="1"/>
          <p:nvPr/>
        </p:nvSpPr>
        <p:spPr>
          <a:xfrm>
            <a:off x="504825" y="6438900"/>
            <a:ext cx="962025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300" b="0">
                <a:solidFill>
                  <a:srgbClr val="486078"/>
                </a:solidFill>
                <a:latin typeface="Aptos"/>
              </a:rPr>
              <a:t>MC Accreditation Hub  ·  MIT 007  ·  Fictional local evidence unless marked otherwise</a:t>
            </a:r>
            <a:endParaRPr lang="en-US"/>
          </a:p>
        </p:txBody>
      </p:sp>
      <p:sp>
        <p:nvSpPr>
          <p:cNvPr id="13" name="Page"/>
          <p:cNvSpPr txBox="1"/>
          <p:nvPr/>
        </p:nvSpPr>
        <p:spPr>
          <a:xfrm>
            <a:off x="10572750" y="6438900"/>
            <a:ext cx="114300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300" b="0">
                <a:solidFill>
                  <a:srgbClr val="486078"/>
                </a:solidFill>
                <a:latin typeface="Aptos"/>
              </a:rPr>
              <a:t>36 / 53</a:t>
            </a:r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>
  <p:cSld name="37 Next work after the class demo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 txBox="1"/>
          <p:nvPr/>
        </p:nvSpPr>
        <p:spPr>
          <a:xfrm>
            <a:off x="0" y="0"/>
            <a:ext cx="12192000" cy="123825"/>
          </a:xfrm>
          <a:prstGeom prst="rect">
            <a:avLst/>
          </a:prstGeom>
          <a:solidFill>
            <a:srgbClr val="0F9E92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3" name="Section"/>
          <p:cNvSpPr txBox="1"/>
          <p:nvPr/>
        </p:nvSpPr>
        <p:spPr>
          <a:xfrm>
            <a:off x="495300" y="323850"/>
            <a:ext cx="809625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700" b="1">
                <a:solidFill>
                  <a:srgbClr val="0F9E92"/>
                </a:solidFill>
                <a:latin typeface="Aptos"/>
              </a:rPr>
              <a:t>CONCLUSION</a:t>
            </a:r>
            <a:endParaRPr lang="en-US"/>
          </a:p>
        </p:txBody>
      </p:sp>
      <p:sp>
        <p:nvSpPr>
          <p:cNvPr id="4" name="Status"/>
          <p:cNvSpPr txBox="1"/>
          <p:nvPr/>
        </p:nvSpPr>
        <p:spPr>
          <a:xfrm>
            <a:off x="8810625" y="3048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600" b="0">
                <a:solidFill>
                  <a:srgbClr val="486078"/>
                </a:solidFill>
                <a:latin typeface="Aptos"/>
              </a:rPr>
              <a:t>NEXT STEPS</a:t>
            </a:r>
            <a:endParaRPr lang="en-US"/>
          </a:p>
        </p:txBody>
      </p:sp>
      <p:sp>
        <p:nvSpPr>
          <p:cNvPr id="5" name="Title"/>
          <p:cNvSpPr txBox="1"/>
          <p:nvPr/>
        </p:nvSpPr>
        <p:spPr>
          <a:xfrm>
            <a:off x="495300" y="781050"/>
            <a:ext cx="11144250" cy="71437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4200" b="1">
                <a:solidFill>
                  <a:srgbClr val="0B2545"/>
                </a:solidFill>
                <a:latin typeface="Aptos"/>
              </a:rPr>
              <a:t>Next work after the class demo</a:t>
            </a:r>
            <a:endParaRPr lang="en-US"/>
          </a:p>
        </p:txBody>
      </p:sp>
      <p:sp>
        <p:nvSpPr>
          <p:cNvPr id="6" name="Lead"/>
          <p:cNvSpPr txBox="1"/>
          <p:nvPr/>
        </p:nvSpPr>
        <p:spPr>
          <a:xfrm>
            <a:off x="523875" y="1552575"/>
            <a:ext cx="11049000" cy="7334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>The class package documents what works locally and what remains for institutional use.</a:t>
            </a:r>
            <a:endParaRPr lang="en-US"/>
          </a:p>
        </p:txBody>
      </p:sp>
      <p:sp>
        <p:nvSpPr>
          <p:cNvPr id="7" name="Point 1"/>
          <p:cNvSpPr txBox="1"/>
          <p:nvPr/>
        </p:nvSpPr>
        <p:spPr>
          <a:xfrm>
            <a:off x="666750" y="24479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Gather real evaluation results under the school’s research rules.</a:t>
            </a:r>
            <a:endParaRPr lang="en-US"/>
          </a:p>
        </p:txBody>
      </p:sp>
      <p:sp>
        <p:nvSpPr>
          <p:cNvPr id="8" name="Point 2"/>
          <p:cNvSpPr txBox="1"/>
          <p:nvPr/>
        </p:nvSpPr>
        <p:spPr>
          <a:xfrm>
            <a:off x="666750" y="30956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Approve instrument, roles, file policy, and the D16 version 1 baseline.</a:t>
            </a:r>
            <a:endParaRPr lang="en-US"/>
          </a:p>
        </p:txBody>
      </p:sp>
      <p:sp>
        <p:nvSpPr>
          <p:cNvPr id="9" name="Point 3"/>
          <p:cNvSpPr txBox="1"/>
          <p:nvPr/>
        </p:nvSpPr>
        <p:spPr>
          <a:xfrm>
            <a:off x="666750" y="37433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School IT must verify target scanning, HTTPS/proxy, capacity, backup, and restore.</a:t>
            </a:r>
            <a:endParaRPr lang="en-US"/>
          </a:p>
        </p:txBody>
      </p:sp>
      <p:sp>
        <p:nvSpPr>
          <p:cNvPr id="10" name="Point 4"/>
          <p:cNvSpPr txBox="1"/>
          <p:nvPr/>
        </p:nvSpPr>
        <p:spPr>
          <a:xfrm>
            <a:off x="666750" y="43910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Keep real-evidence intake and production acceptance pending until those gates close.</a:t>
            </a:r>
            <a:endParaRPr lang="en-US"/>
          </a:p>
        </p:txBody>
      </p:sp>
      <p:sp>
        <p:nvSpPr>
          <p:cNvPr id="11" name="Footer rule"/>
          <p:cNvSpPr txBox="1"/>
          <p:nvPr/>
        </p:nvSpPr>
        <p:spPr>
          <a:xfrm>
            <a:off x="495300" y="6334125"/>
            <a:ext cx="11163300" cy="19050"/>
          </a:xfrm>
          <a:prstGeom prst="rect">
            <a:avLst/>
          </a:prstGeom>
          <a:solidFill>
            <a:srgbClr val="D6E2E9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12" name="Footer"/>
          <p:cNvSpPr txBox="1"/>
          <p:nvPr/>
        </p:nvSpPr>
        <p:spPr>
          <a:xfrm>
            <a:off x="504825" y="6438900"/>
            <a:ext cx="962025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300" b="0">
                <a:solidFill>
                  <a:srgbClr val="486078"/>
                </a:solidFill>
                <a:latin typeface="Aptos"/>
              </a:rPr>
              <a:t>MC Accreditation Hub  ·  MIT 007  ·  Fictional local evidence unless marked otherwise</a:t>
            </a:r>
            <a:endParaRPr lang="en-US"/>
          </a:p>
        </p:txBody>
      </p:sp>
      <p:sp>
        <p:nvSpPr>
          <p:cNvPr id="13" name="Page"/>
          <p:cNvSpPr txBox="1"/>
          <p:nvPr/>
        </p:nvSpPr>
        <p:spPr>
          <a:xfrm>
            <a:off x="10572750" y="6438900"/>
            <a:ext cx="114300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300" b="0">
                <a:solidFill>
                  <a:srgbClr val="486078"/>
                </a:solidFill>
                <a:latin typeface="Aptos"/>
              </a:rPr>
              <a:t>37 / 53</a:t>
            </a:r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>
  <p:cSld name="38 MC Accreditation Hub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 txBox="1"/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0F9E92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3" name="Course label"/>
          <p:cNvSpPr txBox="1"/>
          <p:nvPr/>
        </p:nvSpPr>
        <p:spPr>
          <a:xfrm>
            <a:off x="666750" y="619125"/>
            <a:ext cx="8572500" cy="4000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100" b="1">
                <a:solidFill>
                  <a:srgbClr val="71E0D3"/>
                </a:solidFill>
                <a:latin typeface="Aptos"/>
              </a:rPr>
              <a:t>Working fictional local demonstration.</a:t>
            </a:r>
            <a:endParaRPr lang="en-US"/>
          </a:p>
        </p:txBody>
      </p:sp>
      <p:sp>
        <p:nvSpPr>
          <p:cNvPr id="4" name="Title"/>
          <p:cNvSpPr txBox="1"/>
          <p:nvPr/>
        </p:nvSpPr>
        <p:spPr>
          <a:xfrm>
            <a:off x="647700" y="1666875"/>
            <a:ext cx="10858500" cy="1238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5800" b="1">
                <a:solidFill>
                  <a:srgbClr val="FFFFFF"/>
                </a:solidFill>
                <a:latin typeface="Aptos"/>
              </a:rPr>
              <a:t>MC Accreditation Hub</a:t>
            </a:r>
            <a:endParaRPr lang="en-US"/>
          </a:p>
        </p:txBody>
      </p:sp>
      <p:sp>
        <p:nvSpPr>
          <p:cNvPr id="5" name="Subtitle"/>
          <p:cNvSpPr txBox="1"/>
          <p:nvPr/>
        </p:nvSpPr>
        <p:spPr>
          <a:xfrm>
            <a:off x="676275" y="3105150"/>
            <a:ext cx="10477500" cy="14287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3000" b="0">
                <a:solidFill>
                  <a:srgbClr val="E4EFF4"/>
                </a:solidFill>
                <a:latin typeface="Aptos"/>
              </a:rPr>
              <a:t>Organized requirements, exact evidence versions, deliberate review, and traceable internal readiness.</a:t>
            </a:r>
            <a:endParaRPr lang="en-US"/>
          </a:p>
        </p:txBody>
      </p:sp>
      <p:sp>
        <p:nvSpPr>
          <p:cNvPr id="6" name="Attribution"/>
          <p:cNvSpPr txBox="1"/>
          <p:nvPr/>
        </p:nvSpPr>
        <p:spPr>
          <a:xfrm>
            <a:off x="685800" y="5238750"/>
            <a:ext cx="10287000" cy="71437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100" b="0">
                <a:solidFill>
                  <a:srgbClr val="BED5E4"/>
                </a:solidFill>
                <a:latin typeface="Aptos"/>
              </a:rPr>
              <a:t>School deployment and institutional approval remain future work.</a:t>
            </a:r>
            <a:endParaRPr lang="en-US"/>
          </a:p>
          <a:p>
            <a:pPr algn="l"/>
            <a:r>
              <a:rPr lang="en-US" sz="2100" b="0">
                <a:solidFill>
                  <a:srgbClr val="BED5E4"/>
                </a:solidFill>
                <a:latin typeface="Aptos"/>
              </a:rPr>
              <a:t>Questions and discussion</a:t>
            </a:r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>
  <p:cSld name="39 Role and access matrix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 txBox="1"/>
          <p:nvPr/>
        </p:nvSpPr>
        <p:spPr>
          <a:xfrm>
            <a:off x="0" y="0"/>
            <a:ext cx="12192000" cy="123825"/>
          </a:xfrm>
          <a:prstGeom prst="rect">
            <a:avLst/>
          </a:prstGeom>
          <a:solidFill>
            <a:srgbClr val="0F9E92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3" name="Section"/>
          <p:cNvSpPr txBox="1"/>
          <p:nvPr/>
        </p:nvSpPr>
        <p:spPr>
          <a:xfrm>
            <a:off x="495300" y="323850"/>
            <a:ext cx="809625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700" b="1">
                <a:solidFill>
                  <a:srgbClr val="0F9E92"/>
                </a:solidFill>
                <a:latin typeface="Aptos"/>
              </a:rPr>
              <a:t>APPENDIX</a:t>
            </a:r>
            <a:endParaRPr lang="en-US"/>
          </a:p>
        </p:txBody>
      </p:sp>
      <p:sp>
        <p:nvSpPr>
          <p:cNvPr id="4" name="Status"/>
          <p:cNvSpPr txBox="1"/>
          <p:nvPr/>
        </p:nvSpPr>
        <p:spPr>
          <a:xfrm>
            <a:off x="8810625" y="3048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600" b="0">
                <a:solidFill>
                  <a:srgbClr val="486078"/>
                </a:solidFill>
                <a:latin typeface="Aptos"/>
              </a:rPr>
              <a:t>PROVISIONAL POLICY</a:t>
            </a:r>
            <a:endParaRPr lang="en-US"/>
          </a:p>
        </p:txBody>
      </p:sp>
      <p:sp>
        <p:nvSpPr>
          <p:cNvPr id="5" name="Title"/>
          <p:cNvSpPr txBox="1"/>
          <p:nvPr/>
        </p:nvSpPr>
        <p:spPr>
          <a:xfrm>
            <a:off x="495300" y="781050"/>
            <a:ext cx="11144250" cy="71437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4200" b="1">
                <a:solidFill>
                  <a:srgbClr val="0B2545"/>
                </a:solidFill>
                <a:latin typeface="Aptos"/>
              </a:rPr>
              <a:t>Role and access matrix</a:t>
            </a:r>
            <a:endParaRPr lang="en-US"/>
          </a:p>
        </p:txBody>
      </p:sp>
      <p:sp>
        <p:nvSpPr>
          <p:cNvPr id="6" name="Lead"/>
          <p:cNvSpPr txBox="1"/>
          <p:nvPr/>
        </p:nvSpPr>
        <p:spPr>
          <a:xfrm>
            <a:off x="523875" y="1552575"/>
            <a:ext cx="11049000" cy="7334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>Product roles are additive only inside explicit cycle/area grants.</a:t>
            </a:r>
            <a:endParaRPr lang="en-US"/>
          </a:p>
        </p:txBody>
      </p:sp>
      <p:sp>
        <p:nvSpPr>
          <p:cNvPr id="7" name="Table r0 c0"/>
          <p:cNvSpPr txBox="1"/>
          <p:nvPr/>
        </p:nvSpPr>
        <p:spPr>
          <a:xfrm>
            <a:off x="523875" y="2400300"/>
            <a:ext cx="1619250" cy="504825"/>
          </a:xfrm>
          <a:prstGeom prst="rect">
            <a:avLst/>
          </a:prstGeom>
          <a:solidFill>
            <a:srgbClr val="0B2545"/>
          </a:solidFill>
          <a:ln w="9525">
            <a:solidFill>
              <a:srgbClr val="D6E2E9"/>
            </a:solidFill>
          </a:ln>
        </p:spPr>
        <p:txBody>
          <a:bodyPr wrap="square" anchor="t" lIns="76200" rIns="76200" tIns="76200" bIns="76200"/>
          <a:lstStyle/>
          <a:p>
            <a:pPr algn="l"/>
            <a:r>
              <a:rPr lang="en-US" sz="1700" b="1">
                <a:solidFill>
                  <a:srgbClr val="FFFFFF"/>
                </a:solidFill>
                <a:latin typeface="Aptos"/>
              </a:rPr>
              <a:t>Role</a:t>
            </a:r>
            <a:endParaRPr lang="en-US"/>
          </a:p>
        </p:txBody>
      </p:sp>
      <p:sp>
        <p:nvSpPr>
          <p:cNvPr id="8" name="Table r0 c1"/>
          <p:cNvSpPr txBox="1"/>
          <p:nvPr/>
        </p:nvSpPr>
        <p:spPr>
          <a:xfrm>
            <a:off x="2143125" y="2400300"/>
            <a:ext cx="2066925" cy="504825"/>
          </a:xfrm>
          <a:prstGeom prst="rect">
            <a:avLst/>
          </a:prstGeom>
          <a:solidFill>
            <a:srgbClr val="0B2545"/>
          </a:solidFill>
          <a:ln w="9525">
            <a:solidFill>
              <a:srgbClr val="D6E2E9"/>
            </a:solidFill>
          </a:ln>
        </p:spPr>
        <p:txBody>
          <a:bodyPr wrap="square" anchor="t" lIns="76200" rIns="76200" tIns="76200" bIns="76200"/>
          <a:lstStyle/>
          <a:p>
            <a:pPr algn="l"/>
            <a:r>
              <a:rPr lang="en-US" sz="1700" b="1">
                <a:solidFill>
                  <a:srgbClr val="FFFFFF"/>
                </a:solidFill>
                <a:latin typeface="Aptos"/>
              </a:rPr>
              <a:t>Draft</a:t>
            </a:r>
            <a:endParaRPr lang="en-US"/>
          </a:p>
        </p:txBody>
      </p:sp>
      <p:sp>
        <p:nvSpPr>
          <p:cNvPr id="9" name="Table r0 c2"/>
          <p:cNvSpPr txBox="1"/>
          <p:nvPr/>
        </p:nvSpPr>
        <p:spPr>
          <a:xfrm>
            <a:off x="4210050" y="2400300"/>
            <a:ext cx="2066925" cy="504825"/>
          </a:xfrm>
          <a:prstGeom prst="rect">
            <a:avLst/>
          </a:prstGeom>
          <a:solidFill>
            <a:srgbClr val="0B2545"/>
          </a:solidFill>
          <a:ln w="9525">
            <a:solidFill>
              <a:srgbClr val="D6E2E9"/>
            </a:solidFill>
          </a:ln>
        </p:spPr>
        <p:txBody>
          <a:bodyPr wrap="square" anchor="t" lIns="76200" rIns="76200" tIns="76200" bIns="76200"/>
          <a:lstStyle/>
          <a:p>
            <a:pPr algn="l"/>
            <a:r>
              <a:rPr lang="en-US" sz="1700" b="1">
                <a:solidFill>
                  <a:srgbClr val="FFFFFF"/>
                </a:solidFill>
                <a:latin typeface="Aptos"/>
              </a:rPr>
              <a:t>Submitted</a:t>
            </a:r>
            <a:endParaRPr lang="en-US"/>
          </a:p>
        </p:txBody>
      </p:sp>
      <p:sp>
        <p:nvSpPr>
          <p:cNvPr id="10" name="Table r0 c3"/>
          <p:cNvSpPr txBox="1"/>
          <p:nvPr/>
        </p:nvSpPr>
        <p:spPr>
          <a:xfrm>
            <a:off x="6276975" y="2400300"/>
            <a:ext cx="2066925" cy="504825"/>
          </a:xfrm>
          <a:prstGeom prst="rect">
            <a:avLst/>
          </a:prstGeom>
          <a:solidFill>
            <a:srgbClr val="0B2545"/>
          </a:solidFill>
          <a:ln w="9525">
            <a:solidFill>
              <a:srgbClr val="D6E2E9"/>
            </a:solidFill>
          </a:ln>
        </p:spPr>
        <p:txBody>
          <a:bodyPr wrap="square" anchor="t" lIns="76200" rIns="76200" tIns="76200" bIns="76200"/>
          <a:lstStyle/>
          <a:p>
            <a:pPr algn="l"/>
            <a:r>
              <a:rPr lang="en-US" sz="1700" b="1">
                <a:solidFill>
                  <a:srgbClr val="FFFFFF"/>
                </a:solidFill>
                <a:latin typeface="Aptos"/>
              </a:rPr>
              <a:t>Approved</a:t>
            </a:r>
            <a:endParaRPr lang="en-US"/>
          </a:p>
        </p:txBody>
      </p:sp>
      <p:sp>
        <p:nvSpPr>
          <p:cNvPr id="11" name="Table r0 c4"/>
          <p:cNvSpPr txBox="1"/>
          <p:nvPr/>
        </p:nvSpPr>
        <p:spPr>
          <a:xfrm>
            <a:off x="8343900" y="2400300"/>
            <a:ext cx="3324225" cy="504825"/>
          </a:xfrm>
          <a:prstGeom prst="rect">
            <a:avLst/>
          </a:prstGeom>
          <a:solidFill>
            <a:srgbClr val="0B2545"/>
          </a:solidFill>
          <a:ln w="9525">
            <a:solidFill>
              <a:srgbClr val="D6E2E9"/>
            </a:solidFill>
          </a:ln>
        </p:spPr>
        <p:txBody>
          <a:bodyPr wrap="square" anchor="t" lIns="76200" rIns="76200" tIns="76200" bIns="76200"/>
          <a:lstStyle/>
          <a:p>
            <a:pPr algn="l"/>
            <a:r>
              <a:rPr lang="en-US" sz="1700" b="1">
                <a:solidFill>
                  <a:srgbClr val="FFFFFF"/>
                </a:solidFill>
                <a:latin typeface="Aptos"/>
              </a:rPr>
              <a:t>Other authority</a:t>
            </a:r>
            <a:endParaRPr lang="en-US"/>
          </a:p>
        </p:txBody>
      </p:sp>
      <p:sp>
        <p:nvSpPr>
          <p:cNvPr id="12" name="Table r1 c0"/>
          <p:cNvSpPr txBox="1"/>
          <p:nvPr/>
        </p:nvSpPr>
        <p:spPr>
          <a:xfrm>
            <a:off x="523875" y="2924175"/>
            <a:ext cx="1619250" cy="504825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9"/>
            </a:solidFill>
          </a:ln>
        </p:spPr>
        <p:txBody>
          <a:bodyPr wrap="square" anchor="t" lIns="76200" rIns="76200" tIns="76200" bIns="76200"/>
          <a:lstStyle/>
          <a:p>
            <a:pPr algn="l"/>
            <a:r>
              <a:rPr lang="en-US" sz="1600" b="1">
                <a:solidFill>
                  <a:srgbClr val="14263D"/>
                </a:solidFill>
                <a:latin typeface="Aptos"/>
              </a:rPr>
              <a:t>Coordinator</a:t>
            </a:r>
            <a:endParaRPr lang="en-US"/>
          </a:p>
        </p:txBody>
      </p:sp>
      <p:sp>
        <p:nvSpPr>
          <p:cNvPr id="13" name="Table r1 c1"/>
          <p:cNvSpPr txBox="1"/>
          <p:nvPr/>
        </p:nvSpPr>
        <p:spPr>
          <a:xfrm>
            <a:off x="2143125" y="2924175"/>
            <a:ext cx="2066925" cy="504825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9"/>
            </a:solidFill>
          </a:ln>
        </p:spPr>
        <p:txBody>
          <a:bodyPr wrap="square" anchor="t" lIns="76200" rIns="76200" tIns="76200" bIns="76200"/>
          <a:lstStyle/>
          <a:p>
            <a:pPr algn="l"/>
            <a:r>
              <a:rPr lang="en-US" sz="1600" b="0">
                <a:solidFill>
                  <a:srgbClr val="14263D"/>
                </a:solidFill>
                <a:latin typeface="Aptos"/>
              </a:rPr>
              <a:t>Read/manage in grant</a:t>
            </a:r>
            <a:endParaRPr lang="en-US"/>
          </a:p>
        </p:txBody>
      </p:sp>
      <p:sp>
        <p:nvSpPr>
          <p:cNvPr id="14" name="Table r1 c2"/>
          <p:cNvSpPr txBox="1"/>
          <p:nvPr/>
        </p:nvSpPr>
        <p:spPr>
          <a:xfrm>
            <a:off x="4210050" y="2924175"/>
            <a:ext cx="2066925" cy="504825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9"/>
            </a:solidFill>
          </a:ln>
        </p:spPr>
        <p:txBody>
          <a:bodyPr wrap="square" anchor="t" lIns="76200" rIns="76200" tIns="76200" bIns="76200"/>
          <a:lstStyle/>
          <a:p>
            <a:pPr algn="l"/>
            <a:r>
              <a:rPr lang="en-US" sz="1600" b="0">
                <a:solidFill>
                  <a:srgbClr val="14263D"/>
                </a:solidFill>
                <a:latin typeface="Aptos"/>
              </a:rPr>
              <a:t>Read/review in grant</a:t>
            </a:r>
            <a:endParaRPr lang="en-US"/>
          </a:p>
        </p:txBody>
      </p:sp>
      <p:sp>
        <p:nvSpPr>
          <p:cNvPr id="15" name="Table r1 c3"/>
          <p:cNvSpPr txBox="1"/>
          <p:nvPr/>
        </p:nvSpPr>
        <p:spPr>
          <a:xfrm>
            <a:off x="6276975" y="2924175"/>
            <a:ext cx="2066925" cy="504825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9"/>
            </a:solidFill>
          </a:ln>
        </p:spPr>
        <p:txBody>
          <a:bodyPr wrap="square" anchor="t" lIns="76200" rIns="76200" tIns="76200" bIns="76200"/>
          <a:lstStyle/>
          <a:p>
            <a:pPr algn="l"/>
            <a:r>
              <a:rPr lang="en-US" sz="1600" b="0">
                <a:solidFill>
                  <a:srgbClr val="14263D"/>
                </a:solidFill>
                <a:latin typeface="Aptos"/>
              </a:rPr>
              <a:t>Read/download in grant</a:t>
            </a:r>
            <a:endParaRPr lang="en-US"/>
          </a:p>
        </p:txBody>
      </p:sp>
      <p:sp>
        <p:nvSpPr>
          <p:cNvPr id="16" name="Table r1 c4"/>
          <p:cNvSpPr txBox="1"/>
          <p:nvPr/>
        </p:nvSpPr>
        <p:spPr>
          <a:xfrm>
            <a:off x="8343900" y="2924175"/>
            <a:ext cx="3324225" cy="504825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9"/>
            </a:solidFill>
          </a:ln>
        </p:spPr>
        <p:txBody>
          <a:bodyPr wrap="square" anchor="t" lIns="76200" rIns="76200" tIns="76200" bIns="76200"/>
          <a:lstStyle/>
          <a:p>
            <a:pPr algn="l"/>
            <a:r>
              <a:rPr lang="en-US" sz="1600" b="0">
                <a:solidFill>
                  <a:srgbClr val="14263D"/>
                </a:solidFill>
                <a:latin typeface="Aptos"/>
              </a:rPr>
              <a:t>Certifies; cycle-wide grant for lifecycle</a:t>
            </a:r>
            <a:endParaRPr lang="en-US"/>
          </a:p>
        </p:txBody>
      </p:sp>
      <p:sp>
        <p:nvSpPr>
          <p:cNvPr id="17" name="Table r2 c0"/>
          <p:cNvSpPr txBox="1"/>
          <p:nvPr/>
        </p:nvSpPr>
        <p:spPr>
          <a:xfrm>
            <a:off x="523875" y="3448050"/>
            <a:ext cx="1619250" cy="504825"/>
          </a:xfrm>
          <a:prstGeom prst="rect">
            <a:avLst/>
          </a:prstGeom>
          <a:solidFill>
            <a:srgbClr val="EAF2F5"/>
          </a:solidFill>
          <a:ln w="9525">
            <a:solidFill>
              <a:srgbClr val="D6E2E9"/>
            </a:solidFill>
          </a:ln>
        </p:spPr>
        <p:txBody>
          <a:bodyPr wrap="square" anchor="t" lIns="76200" rIns="76200" tIns="76200" bIns="76200"/>
          <a:lstStyle/>
          <a:p>
            <a:pPr algn="l"/>
            <a:r>
              <a:rPr lang="en-US" sz="1600" b="1">
                <a:solidFill>
                  <a:srgbClr val="14263D"/>
                </a:solidFill>
                <a:latin typeface="Aptos"/>
              </a:rPr>
              <a:t>Reviewer</a:t>
            </a:r>
            <a:endParaRPr lang="en-US"/>
          </a:p>
        </p:txBody>
      </p:sp>
      <p:sp>
        <p:nvSpPr>
          <p:cNvPr id="18" name="Table r2 c1"/>
          <p:cNvSpPr txBox="1"/>
          <p:nvPr/>
        </p:nvSpPr>
        <p:spPr>
          <a:xfrm>
            <a:off x="2143125" y="3448050"/>
            <a:ext cx="2066925" cy="504825"/>
          </a:xfrm>
          <a:prstGeom prst="rect">
            <a:avLst/>
          </a:prstGeom>
          <a:solidFill>
            <a:srgbClr val="EAF2F5"/>
          </a:solidFill>
          <a:ln w="9525">
            <a:solidFill>
              <a:srgbClr val="D6E2E9"/>
            </a:solidFill>
          </a:ln>
        </p:spPr>
        <p:txBody>
          <a:bodyPr wrap="square" anchor="t" lIns="76200" rIns="76200" tIns="76200" bIns="76200"/>
          <a:lstStyle/>
          <a:p>
            <a:pPr algn="l"/>
            <a:r>
              <a:rPr lang="en-US" sz="1600" b="0">
                <a:solidFill>
                  <a:srgbClr val="14263D"/>
                </a:solidFill>
                <a:latin typeface="Aptos"/>
              </a:rPr>
              <a:t>Hidden</a:t>
            </a:r>
            <a:endParaRPr lang="en-US"/>
          </a:p>
        </p:txBody>
      </p:sp>
      <p:sp>
        <p:nvSpPr>
          <p:cNvPr id="19" name="Table r2 c2"/>
          <p:cNvSpPr txBox="1"/>
          <p:nvPr/>
        </p:nvSpPr>
        <p:spPr>
          <a:xfrm>
            <a:off x="4210050" y="3448050"/>
            <a:ext cx="2066925" cy="504825"/>
          </a:xfrm>
          <a:prstGeom prst="rect">
            <a:avLst/>
          </a:prstGeom>
          <a:solidFill>
            <a:srgbClr val="EAF2F5"/>
          </a:solidFill>
          <a:ln w="9525">
            <a:solidFill>
              <a:srgbClr val="D6E2E9"/>
            </a:solidFill>
          </a:ln>
        </p:spPr>
        <p:txBody>
          <a:bodyPr wrap="square" anchor="t" lIns="76200" rIns="76200" tIns="76200" bIns="76200"/>
          <a:lstStyle/>
          <a:p>
            <a:pPr algn="l"/>
            <a:r>
              <a:rPr lang="en-US" sz="1600" b="0">
                <a:solidFill>
                  <a:srgbClr val="14263D"/>
                </a:solidFill>
                <a:latin typeface="Aptos"/>
              </a:rPr>
              <a:t>Read/review in area</a:t>
            </a:r>
            <a:endParaRPr lang="en-US"/>
          </a:p>
        </p:txBody>
      </p:sp>
      <p:sp>
        <p:nvSpPr>
          <p:cNvPr id="20" name="Table r2 c3"/>
          <p:cNvSpPr txBox="1"/>
          <p:nvPr/>
        </p:nvSpPr>
        <p:spPr>
          <a:xfrm>
            <a:off x="6276975" y="3448050"/>
            <a:ext cx="2066925" cy="504825"/>
          </a:xfrm>
          <a:prstGeom prst="rect">
            <a:avLst/>
          </a:prstGeom>
          <a:solidFill>
            <a:srgbClr val="EAF2F5"/>
          </a:solidFill>
          <a:ln w="9525">
            <a:solidFill>
              <a:srgbClr val="D6E2E9"/>
            </a:solidFill>
          </a:ln>
        </p:spPr>
        <p:txBody>
          <a:bodyPr wrap="square" anchor="t" lIns="76200" rIns="76200" tIns="76200" bIns="76200"/>
          <a:lstStyle/>
          <a:p>
            <a:pPr algn="l"/>
            <a:r>
              <a:rPr lang="en-US" sz="1600" b="0">
                <a:solidFill>
                  <a:srgbClr val="14263D"/>
                </a:solidFill>
                <a:latin typeface="Aptos"/>
              </a:rPr>
              <a:t>Read/download in area</a:t>
            </a:r>
            <a:endParaRPr lang="en-US"/>
          </a:p>
        </p:txBody>
      </p:sp>
      <p:sp>
        <p:nvSpPr>
          <p:cNvPr id="21" name="Table r2 c4"/>
          <p:cNvSpPr txBox="1"/>
          <p:nvPr/>
        </p:nvSpPr>
        <p:spPr>
          <a:xfrm>
            <a:off x="8343900" y="3448050"/>
            <a:ext cx="3324225" cy="504825"/>
          </a:xfrm>
          <a:prstGeom prst="rect">
            <a:avLst/>
          </a:prstGeom>
          <a:solidFill>
            <a:srgbClr val="EAF2F5"/>
          </a:solidFill>
          <a:ln w="9525">
            <a:solidFill>
              <a:srgbClr val="D6E2E9"/>
            </a:solidFill>
          </a:ln>
        </p:spPr>
        <p:txBody>
          <a:bodyPr wrap="square" anchor="t" lIns="76200" rIns="76200" tIns="76200" bIns="76200"/>
          <a:lstStyle/>
          <a:p>
            <a:pPr algn="l"/>
            <a:r>
              <a:rPr lang="en-US" sz="1600" b="0">
                <a:solidFill>
                  <a:srgbClr val="14263D"/>
                </a:solidFill>
                <a:latin typeface="Aptos"/>
              </a:rPr>
              <a:t>No self-review</a:t>
            </a:r>
            <a:endParaRPr lang="en-US"/>
          </a:p>
        </p:txBody>
      </p:sp>
      <p:sp>
        <p:nvSpPr>
          <p:cNvPr id="22" name="Table r3 c0"/>
          <p:cNvSpPr txBox="1"/>
          <p:nvPr/>
        </p:nvSpPr>
        <p:spPr>
          <a:xfrm>
            <a:off x="523875" y="3971925"/>
            <a:ext cx="1619250" cy="504825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9"/>
            </a:solidFill>
          </a:ln>
        </p:spPr>
        <p:txBody>
          <a:bodyPr wrap="square" anchor="t" lIns="76200" rIns="76200" tIns="76200" bIns="76200"/>
          <a:lstStyle/>
          <a:p>
            <a:pPr algn="l"/>
            <a:r>
              <a:rPr lang="en-US" sz="1600" b="1">
                <a:solidFill>
                  <a:srgbClr val="14263D"/>
                </a:solidFill>
                <a:latin typeface="Aptos"/>
              </a:rPr>
              <a:t>Custodian</a:t>
            </a:r>
            <a:endParaRPr lang="en-US"/>
          </a:p>
        </p:txBody>
      </p:sp>
      <p:sp>
        <p:nvSpPr>
          <p:cNvPr id="23" name="Table r3 c1"/>
          <p:cNvSpPr txBox="1"/>
          <p:nvPr/>
        </p:nvSpPr>
        <p:spPr>
          <a:xfrm>
            <a:off x="2143125" y="3971925"/>
            <a:ext cx="2066925" cy="504825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9"/>
            </a:solidFill>
          </a:ln>
        </p:spPr>
        <p:txBody>
          <a:bodyPr wrap="square" anchor="t" lIns="76200" rIns="76200" tIns="76200" bIns="76200"/>
          <a:lstStyle/>
          <a:p>
            <a:pPr algn="l"/>
            <a:r>
              <a:rPr lang="en-US" sz="1600" b="0">
                <a:solidFill>
                  <a:srgbClr val="14263D"/>
                </a:solidFill>
                <a:latin typeface="Aptos"/>
              </a:rPr>
              <a:t>Own work</a:t>
            </a:r>
            <a:endParaRPr lang="en-US"/>
          </a:p>
        </p:txBody>
      </p:sp>
      <p:sp>
        <p:nvSpPr>
          <p:cNvPr id="24" name="Table r3 c2"/>
          <p:cNvSpPr txBox="1"/>
          <p:nvPr/>
        </p:nvSpPr>
        <p:spPr>
          <a:xfrm>
            <a:off x="4210050" y="3971925"/>
            <a:ext cx="2066925" cy="504825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9"/>
            </a:solidFill>
          </a:ln>
        </p:spPr>
        <p:txBody>
          <a:bodyPr wrap="square" anchor="t" lIns="76200" rIns="76200" tIns="76200" bIns="76200"/>
          <a:lstStyle/>
          <a:p>
            <a:pPr algn="l"/>
            <a:r>
              <a:rPr lang="en-US" sz="1600" b="0">
                <a:solidFill>
                  <a:srgbClr val="14263D"/>
                </a:solidFill>
                <a:latin typeface="Aptos"/>
              </a:rPr>
              <a:t>Own submission</a:t>
            </a:r>
            <a:endParaRPr lang="en-US"/>
          </a:p>
        </p:txBody>
      </p:sp>
      <p:sp>
        <p:nvSpPr>
          <p:cNvPr id="25" name="Table r3 c3"/>
          <p:cNvSpPr txBox="1"/>
          <p:nvPr/>
        </p:nvSpPr>
        <p:spPr>
          <a:xfrm>
            <a:off x="6276975" y="3971925"/>
            <a:ext cx="2066925" cy="504825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9"/>
            </a:solidFill>
          </a:ln>
        </p:spPr>
        <p:txBody>
          <a:bodyPr wrap="square" anchor="t" lIns="76200" rIns="76200" tIns="76200" bIns="76200"/>
          <a:lstStyle/>
          <a:p>
            <a:pPr algn="l"/>
            <a:r>
              <a:rPr lang="en-US" sz="1600" b="0">
                <a:solidFill>
                  <a:srgbClr val="14263D"/>
                </a:solidFill>
                <a:latin typeface="Aptos"/>
              </a:rPr>
              <a:t>Shared approved</a:t>
            </a:r>
            <a:endParaRPr lang="en-US"/>
          </a:p>
        </p:txBody>
      </p:sp>
      <p:sp>
        <p:nvSpPr>
          <p:cNvPr id="26" name="Table r3 c4"/>
          <p:cNvSpPr txBox="1"/>
          <p:nvPr/>
        </p:nvSpPr>
        <p:spPr>
          <a:xfrm>
            <a:off x="8343900" y="3971925"/>
            <a:ext cx="3324225" cy="504825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9"/>
            </a:solidFill>
          </a:ln>
        </p:spPr>
        <p:txBody>
          <a:bodyPr wrap="square" anchor="t" lIns="76200" rIns="76200" tIns="76200" bIns="76200"/>
          <a:lstStyle/>
          <a:p>
            <a:pPr algn="l"/>
            <a:r>
              <a:rPr lang="en-US" sz="1600" b="0">
                <a:solidFill>
                  <a:srgbClr val="14263D"/>
                </a:solidFill>
                <a:latin typeface="Aptos"/>
              </a:rPr>
              <a:t>Assigned upload/map/submit</a:t>
            </a:r>
            <a:endParaRPr lang="en-US"/>
          </a:p>
        </p:txBody>
      </p:sp>
      <p:sp>
        <p:nvSpPr>
          <p:cNvPr id="27" name="Table r4 c0"/>
          <p:cNvSpPr txBox="1"/>
          <p:nvPr/>
        </p:nvSpPr>
        <p:spPr>
          <a:xfrm>
            <a:off x="523875" y="4495800"/>
            <a:ext cx="1619250" cy="504825"/>
          </a:xfrm>
          <a:prstGeom prst="rect">
            <a:avLst/>
          </a:prstGeom>
          <a:solidFill>
            <a:srgbClr val="EAF2F5"/>
          </a:solidFill>
          <a:ln w="9525">
            <a:solidFill>
              <a:srgbClr val="D6E2E9"/>
            </a:solidFill>
          </a:ln>
        </p:spPr>
        <p:txBody>
          <a:bodyPr wrap="square" anchor="t" lIns="76200" rIns="76200" tIns="76200" bIns="76200"/>
          <a:lstStyle/>
          <a:p>
            <a:pPr algn="l"/>
            <a:r>
              <a:rPr lang="en-US" sz="1600" b="1">
                <a:solidFill>
                  <a:srgbClr val="14263D"/>
                </a:solidFill>
                <a:latin typeface="Aptos"/>
              </a:rPr>
              <a:t>Viewer</a:t>
            </a:r>
            <a:endParaRPr lang="en-US"/>
          </a:p>
        </p:txBody>
      </p:sp>
      <p:sp>
        <p:nvSpPr>
          <p:cNvPr id="28" name="Table r4 c1"/>
          <p:cNvSpPr txBox="1"/>
          <p:nvPr/>
        </p:nvSpPr>
        <p:spPr>
          <a:xfrm>
            <a:off x="2143125" y="4495800"/>
            <a:ext cx="2066925" cy="504825"/>
          </a:xfrm>
          <a:prstGeom prst="rect">
            <a:avLst/>
          </a:prstGeom>
          <a:solidFill>
            <a:srgbClr val="EAF2F5"/>
          </a:solidFill>
          <a:ln w="9525">
            <a:solidFill>
              <a:srgbClr val="D6E2E9"/>
            </a:solidFill>
          </a:ln>
        </p:spPr>
        <p:txBody>
          <a:bodyPr wrap="square" anchor="t" lIns="76200" rIns="76200" tIns="76200" bIns="76200"/>
          <a:lstStyle/>
          <a:p>
            <a:pPr algn="l"/>
            <a:r>
              <a:rPr lang="en-US" sz="1600" b="0">
                <a:solidFill>
                  <a:srgbClr val="14263D"/>
                </a:solidFill>
                <a:latin typeface="Aptos"/>
              </a:rPr>
              <a:t>Hidden</a:t>
            </a:r>
            <a:endParaRPr lang="en-US"/>
          </a:p>
        </p:txBody>
      </p:sp>
      <p:sp>
        <p:nvSpPr>
          <p:cNvPr id="29" name="Table r4 c2"/>
          <p:cNvSpPr txBox="1"/>
          <p:nvPr/>
        </p:nvSpPr>
        <p:spPr>
          <a:xfrm>
            <a:off x="4210050" y="4495800"/>
            <a:ext cx="2066925" cy="504825"/>
          </a:xfrm>
          <a:prstGeom prst="rect">
            <a:avLst/>
          </a:prstGeom>
          <a:solidFill>
            <a:srgbClr val="EAF2F5"/>
          </a:solidFill>
          <a:ln w="9525">
            <a:solidFill>
              <a:srgbClr val="D6E2E9"/>
            </a:solidFill>
          </a:ln>
        </p:spPr>
        <p:txBody>
          <a:bodyPr wrap="square" anchor="t" lIns="76200" rIns="76200" tIns="76200" bIns="76200"/>
          <a:lstStyle/>
          <a:p>
            <a:pPr algn="l"/>
            <a:r>
              <a:rPr lang="en-US" sz="1600" b="0">
                <a:solidFill>
                  <a:srgbClr val="14263D"/>
                </a:solidFill>
                <a:latin typeface="Aptos"/>
              </a:rPr>
              <a:t>Hidden</a:t>
            </a:r>
            <a:endParaRPr lang="en-US"/>
          </a:p>
        </p:txBody>
      </p:sp>
      <p:sp>
        <p:nvSpPr>
          <p:cNvPr id="30" name="Table r4 c3"/>
          <p:cNvSpPr txBox="1"/>
          <p:nvPr/>
        </p:nvSpPr>
        <p:spPr>
          <a:xfrm>
            <a:off x="6276975" y="4495800"/>
            <a:ext cx="2066925" cy="504825"/>
          </a:xfrm>
          <a:prstGeom prst="rect">
            <a:avLst/>
          </a:prstGeom>
          <a:solidFill>
            <a:srgbClr val="EAF2F5"/>
          </a:solidFill>
          <a:ln w="9525">
            <a:solidFill>
              <a:srgbClr val="D6E2E9"/>
            </a:solidFill>
          </a:ln>
        </p:spPr>
        <p:txBody>
          <a:bodyPr wrap="square" anchor="t" lIns="76200" rIns="76200" tIns="76200" bIns="76200"/>
          <a:lstStyle/>
          <a:p>
            <a:pPr algn="l"/>
            <a:r>
              <a:rPr lang="en-US" sz="1600" b="0">
                <a:solidFill>
                  <a:srgbClr val="14263D"/>
                </a:solidFill>
                <a:latin typeface="Aptos"/>
              </a:rPr>
              <a:t>Read/download in grant</a:t>
            </a:r>
            <a:endParaRPr lang="en-US"/>
          </a:p>
        </p:txBody>
      </p:sp>
      <p:sp>
        <p:nvSpPr>
          <p:cNvPr id="31" name="Table r4 c4"/>
          <p:cNvSpPr txBox="1"/>
          <p:nvPr/>
        </p:nvSpPr>
        <p:spPr>
          <a:xfrm>
            <a:off x="8343900" y="4495800"/>
            <a:ext cx="3324225" cy="504825"/>
          </a:xfrm>
          <a:prstGeom prst="rect">
            <a:avLst/>
          </a:prstGeom>
          <a:solidFill>
            <a:srgbClr val="EAF2F5"/>
          </a:solidFill>
          <a:ln w="9525">
            <a:solidFill>
              <a:srgbClr val="D6E2E9"/>
            </a:solidFill>
          </a:ln>
        </p:spPr>
        <p:txBody>
          <a:bodyPr wrap="square" anchor="t" lIns="76200" rIns="76200" tIns="76200" bIns="76200"/>
          <a:lstStyle/>
          <a:p>
            <a:pPr algn="l"/>
            <a:r>
              <a:rPr lang="en-US" sz="1600" b="0">
                <a:solidFill>
                  <a:srgbClr val="14263D"/>
                </a:solidFill>
                <a:latin typeface="Aptos"/>
              </a:rPr>
              <a:t>No package history</a:t>
            </a:r>
            <a:endParaRPr lang="en-US"/>
          </a:p>
        </p:txBody>
      </p:sp>
      <p:sp>
        <p:nvSpPr>
          <p:cNvPr id="32" name="Table r5 c0"/>
          <p:cNvSpPr txBox="1"/>
          <p:nvPr/>
        </p:nvSpPr>
        <p:spPr>
          <a:xfrm>
            <a:off x="523875" y="5019675"/>
            <a:ext cx="1619250" cy="504825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9"/>
            </a:solidFill>
          </a:ln>
        </p:spPr>
        <p:txBody>
          <a:bodyPr wrap="square" anchor="t" lIns="76200" rIns="76200" tIns="76200" bIns="76200"/>
          <a:lstStyle/>
          <a:p>
            <a:pPr algn="l"/>
            <a:r>
              <a:rPr lang="en-US" sz="1600" b="1">
                <a:solidFill>
                  <a:srgbClr val="14263D"/>
                </a:solidFill>
                <a:latin typeface="Aptos"/>
              </a:rPr>
              <a:t>Administrator</a:t>
            </a:r>
            <a:endParaRPr lang="en-US"/>
          </a:p>
        </p:txBody>
      </p:sp>
      <p:sp>
        <p:nvSpPr>
          <p:cNvPr id="33" name="Table r5 c1"/>
          <p:cNvSpPr txBox="1"/>
          <p:nvPr/>
        </p:nvSpPr>
        <p:spPr>
          <a:xfrm>
            <a:off x="2143125" y="5019675"/>
            <a:ext cx="2066925" cy="504825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9"/>
            </a:solidFill>
          </a:ln>
        </p:spPr>
        <p:txBody>
          <a:bodyPr wrap="square" anchor="t" lIns="76200" rIns="76200" tIns="76200" bIns="76200"/>
          <a:lstStyle/>
          <a:p>
            <a:pPr algn="l"/>
            <a:r>
              <a:rPr lang="en-US" sz="1600" b="0">
                <a:solidFill>
                  <a:srgbClr val="14263D"/>
                </a:solidFill>
                <a:latin typeface="Aptos"/>
              </a:rPr>
              <a:t>No implicit access</a:t>
            </a:r>
            <a:endParaRPr lang="en-US"/>
          </a:p>
        </p:txBody>
      </p:sp>
      <p:sp>
        <p:nvSpPr>
          <p:cNvPr id="34" name="Table r5 c2"/>
          <p:cNvSpPr txBox="1"/>
          <p:nvPr/>
        </p:nvSpPr>
        <p:spPr>
          <a:xfrm>
            <a:off x="4210050" y="5019675"/>
            <a:ext cx="2066925" cy="504825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9"/>
            </a:solidFill>
          </a:ln>
        </p:spPr>
        <p:txBody>
          <a:bodyPr wrap="square" anchor="t" lIns="76200" rIns="76200" tIns="76200" bIns="76200"/>
          <a:lstStyle/>
          <a:p>
            <a:pPr algn="l"/>
            <a:r>
              <a:rPr lang="en-US" sz="1600" b="0">
                <a:solidFill>
                  <a:srgbClr val="14263D"/>
                </a:solidFill>
                <a:latin typeface="Aptos"/>
              </a:rPr>
              <a:t>No implicit access</a:t>
            </a:r>
            <a:endParaRPr lang="en-US"/>
          </a:p>
        </p:txBody>
      </p:sp>
      <p:sp>
        <p:nvSpPr>
          <p:cNvPr id="35" name="Table r5 c3"/>
          <p:cNvSpPr txBox="1"/>
          <p:nvPr/>
        </p:nvSpPr>
        <p:spPr>
          <a:xfrm>
            <a:off x="6276975" y="5019675"/>
            <a:ext cx="2066925" cy="504825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9"/>
            </a:solidFill>
          </a:ln>
        </p:spPr>
        <p:txBody>
          <a:bodyPr wrap="square" anchor="t" lIns="76200" rIns="76200" tIns="76200" bIns="76200"/>
          <a:lstStyle/>
          <a:p>
            <a:pPr algn="l"/>
            <a:r>
              <a:rPr lang="en-US" sz="1600" b="0">
                <a:solidFill>
                  <a:srgbClr val="14263D"/>
                </a:solidFill>
                <a:latin typeface="Aptos"/>
              </a:rPr>
              <a:t>No implicit access</a:t>
            </a:r>
            <a:endParaRPr lang="en-US"/>
          </a:p>
        </p:txBody>
      </p:sp>
      <p:sp>
        <p:nvSpPr>
          <p:cNvPr id="36" name="Table r5 c4"/>
          <p:cNvSpPr txBox="1"/>
          <p:nvPr/>
        </p:nvSpPr>
        <p:spPr>
          <a:xfrm>
            <a:off x="8343900" y="5019675"/>
            <a:ext cx="3324225" cy="504825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9"/>
            </a:solidFill>
          </a:ln>
        </p:spPr>
        <p:txBody>
          <a:bodyPr wrap="square" anchor="t" lIns="76200" rIns="76200" tIns="76200" bIns="76200"/>
          <a:lstStyle/>
          <a:p>
            <a:pPr algn="l"/>
            <a:r>
              <a:rPr lang="en-US" sz="1600" b="0">
                <a:solidFill>
                  <a:srgbClr val="14263D"/>
                </a:solidFill>
                <a:latin typeface="Aptos"/>
              </a:rPr>
              <a:t>Account label only; separate operators</a:t>
            </a:r>
            <a:endParaRPr lang="en-US"/>
          </a:p>
        </p:txBody>
      </p:sp>
      <p:sp>
        <p:nvSpPr>
          <p:cNvPr id="37" name="Footer rule"/>
          <p:cNvSpPr txBox="1"/>
          <p:nvPr/>
        </p:nvSpPr>
        <p:spPr>
          <a:xfrm>
            <a:off x="495300" y="6334125"/>
            <a:ext cx="11163300" cy="19050"/>
          </a:xfrm>
          <a:prstGeom prst="rect">
            <a:avLst/>
          </a:prstGeom>
          <a:solidFill>
            <a:srgbClr val="D6E2E9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38" name="Footer"/>
          <p:cNvSpPr txBox="1"/>
          <p:nvPr/>
        </p:nvSpPr>
        <p:spPr>
          <a:xfrm>
            <a:off x="504825" y="6438900"/>
            <a:ext cx="962025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300" b="0">
                <a:solidFill>
                  <a:srgbClr val="486078"/>
                </a:solidFill>
                <a:latin typeface="Aptos"/>
              </a:rPr>
              <a:t>MC Accreditation Hub  ·  MIT 007  ·  Fictional local evidence unless marked otherwise</a:t>
            </a:r>
            <a:endParaRPr lang="en-US"/>
          </a:p>
        </p:txBody>
      </p:sp>
      <p:sp>
        <p:nvSpPr>
          <p:cNvPr id="39" name="Page"/>
          <p:cNvSpPr txBox="1"/>
          <p:nvPr/>
        </p:nvSpPr>
        <p:spPr>
          <a:xfrm>
            <a:off x="10572750" y="6438900"/>
            <a:ext cx="114300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300" b="0">
                <a:solidFill>
                  <a:srgbClr val="486078"/>
                </a:solidFill>
                <a:latin typeface="Aptos"/>
              </a:rPr>
              <a:t>39 / 53</a:t>
            </a:r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>
  <p:cSld name="40 Workflow state reference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 txBox="1"/>
          <p:nvPr/>
        </p:nvSpPr>
        <p:spPr>
          <a:xfrm>
            <a:off x="0" y="0"/>
            <a:ext cx="12192000" cy="123825"/>
          </a:xfrm>
          <a:prstGeom prst="rect">
            <a:avLst/>
          </a:prstGeom>
          <a:solidFill>
            <a:srgbClr val="0F9E92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3" name="Section"/>
          <p:cNvSpPr txBox="1"/>
          <p:nvPr/>
        </p:nvSpPr>
        <p:spPr>
          <a:xfrm>
            <a:off x="495300" y="323850"/>
            <a:ext cx="809625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700" b="1">
                <a:solidFill>
                  <a:srgbClr val="0F9E92"/>
                </a:solidFill>
                <a:latin typeface="Aptos"/>
              </a:rPr>
              <a:t>APPENDIX</a:t>
            </a:r>
            <a:endParaRPr lang="en-US"/>
          </a:p>
        </p:txBody>
      </p:sp>
      <p:sp>
        <p:nvSpPr>
          <p:cNvPr id="4" name="Status"/>
          <p:cNvSpPr txBox="1"/>
          <p:nvPr/>
        </p:nvSpPr>
        <p:spPr>
          <a:xfrm>
            <a:off x="8810625" y="3048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600" b="0">
                <a:solidFill>
                  <a:srgbClr val="486078"/>
                </a:solidFill>
                <a:latin typeface="Aptos"/>
              </a:rPr>
              <a:t>LOCAL / PROVISIONAL</a:t>
            </a:r>
            <a:endParaRPr lang="en-US"/>
          </a:p>
        </p:txBody>
      </p:sp>
      <p:sp>
        <p:nvSpPr>
          <p:cNvPr id="5" name="Title"/>
          <p:cNvSpPr txBox="1"/>
          <p:nvPr/>
        </p:nvSpPr>
        <p:spPr>
          <a:xfrm>
            <a:off x="495300" y="781050"/>
            <a:ext cx="11144250" cy="71437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4200" b="1">
                <a:solidFill>
                  <a:srgbClr val="0B2545"/>
                </a:solidFill>
                <a:latin typeface="Aptos"/>
              </a:rPr>
              <a:t>Workflow state reference</a:t>
            </a:r>
            <a:endParaRPr lang="en-US"/>
          </a:p>
        </p:txBody>
      </p:sp>
      <p:sp>
        <p:nvSpPr>
          <p:cNvPr id="6" name="Lead"/>
          <p:cNvSpPr txBox="1"/>
          <p:nvPr/>
        </p:nvSpPr>
        <p:spPr>
          <a:xfrm>
            <a:off x="523875" y="1552575"/>
            <a:ext cx="11049000" cy="7334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>A package decision and a completion certification are distinct records.</a:t>
            </a:r>
            <a:endParaRPr lang="en-US"/>
          </a:p>
        </p:txBody>
      </p:sp>
      <p:sp>
        <p:nvSpPr>
          <p:cNvPr id="7" name="Table r0 c0"/>
          <p:cNvSpPr txBox="1"/>
          <p:nvPr/>
        </p:nvSpPr>
        <p:spPr>
          <a:xfrm>
            <a:off x="523875" y="2400300"/>
            <a:ext cx="1762125" cy="504825"/>
          </a:xfrm>
          <a:prstGeom prst="rect">
            <a:avLst/>
          </a:prstGeom>
          <a:solidFill>
            <a:srgbClr val="0B2545"/>
          </a:solidFill>
          <a:ln w="9525">
            <a:solidFill>
              <a:srgbClr val="D6E2E9"/>
            </a:solidFill>
          </a:ln>
        </p:spPr>
        <p:txBody>
          <a:bodyPr wrap="square" anchor="t" lIns="76200" rIns="76200" tIns="76200" bIns="76200"/>
          <a:lstStyle/>
          <a:p>
            <a:pPr algn="l"/>
            <a:r>
              <a:rPr lang="en-US" sz="1700" b="1">
                <a:solidFill>
                  <a:srgbClr val="FFFFFF"/>
                </a:solidFill>
                <a:latin typeface="Aptos"/>
              </a:rPr>
              <a:t>State</a:t>
            </a:r>
            <a:endParaRPr lang="en-US"/>
          </a:p>
        </p:txBody>
      </p:sp>
      <p:sp>
        <p:nvSpPr>
          <p:cNvPr id="8" name="Table r0 c1"/>
          <p:cNvSpPr txBox="1"/>
          <p:nvPr/>
        </p:nvSpPr>
        <p:spPr>
          <a:xfrm>
            <a:off x="2286000" y="2400300"/>
            <a:ext cx="2333625" cy="504825"/>
          </a:xfrm>
          <a:prstGeom prst="rect">
            <a:avLst/>
          </a:prstGeom>
          <a:solidFill>
            <a:srgbClr val="0B2545"/>
          </a:solidFill>
          <a:ln w="9525">
            <a:solidFill>
              <a:srgbClr val="D6E2E9"/>
            </a:solidFill>
          </a:ln>
        </p:spPr>
        <p:txBody>
          <a:bodyPr wrap="square" anchor="t" lIns="76200" rIns="76200" tIns="76200" bIns="76200"/>
          <a:lstStyle/>
          <a:p>
            <a:pPr algn="l"/>
            <a:r>
              <a:rPr lang="en-US" sz="1700" b="1">
                <a:solidFill>
                  <a:srgbClr val="FFFFFF"/>
                </a:solidFill>
                <a:latin typeface="Aptos"/>
              </a:rPr>
              <a:t>Trigger</a:t>
            </a:r>
            <a:endParaRPr lang="en-US"/>
          </a:p>
        </p:txBody>
      </p:sp>
      <p:sp>
        <p:nvSpPr>
          <p:cNvPr id="9" name="Table r0 c2"/>
          <p:cNvSpPr txBox="1"/>
          <p:nvPr/>
        </p:nvSpPr>
        <p:spPr>
          <a:xfrm>
            <a:off x="4619625" y="2400300"/>
            <a:ext cx="3667125" cy="504825"/>
          </a:xfrm>
          <a:prstGeom prst="rect">
            <a:avLst/>
          </a:prstGeom>
          <a:solidFill>
            <a:srgbClr val="0B2545"/>
          </a:solidFill>
          <a:ln w="9525">
            <a:solidFill>
              <a:srgbClr val="D6E2E9"/>
            </a:solidFill>
          </a:ln>
        </p:spPr>
        <p:txBody>
          <a:bodyPr wrap="square" anchor="t" lIns="76200" rIns="76200" tIns="76200" bIns="76200"/>
          <a:lstStyle/>
          <a:p>
            <a:pPr algn="l"/>
            <a:r>
              <a:rPr lang="en-US" sz="1700" b="1">
                <a:solidFill>
                  <a:srgbClr val="FFFFFF"/>
                </a:solidFill>
                <a:latin typeface="Aptos"/>
              </a:rPr>
              <a:t>Meaning</a:t>
            </a:r>
            <a:endParaRPr lang="en-US"/>
          </a:p>
        </p:txBody>
      </p:sp>
      <p:sp>
        <p:nvSpPr>
          <p:cNvPr id="10" name="Table r0 c3"/>
          <p:cNvSpPr txBox="1"/>
          <p:nvPr/>
        </p:nvSpPr>
        <p:spPr>
          <a:xfrm>
            <a:off x="8286750" y="2400300"/>
            <a:ext cx="3381375" cy="504825"/>
          </a:xfrm>
          <a:prstGeom prst="rect">
            <a:avLst/>
          </a:prstGeom>
          <a:solidFill>
            <a:srgbClr val="0B2545"/>
          </a:solidFill>
          <a:ln w="9525">
            <a:solidFill>
              <a:srgbClr val="D6E2E9"/>
            </a:solidFill>
          </a:ln>
        </p:spPr>
        <p:txBody>
          <a:bodyPr wrap="square" anchor="t" lIns="76200" rIns="76200" tIns="76200" bIns="76200"/>
          <a:lstStyle/>
          <a:p>
            <a:pPr algn="l"/>
            <a:r>
              <a:rPr lang="en-US" sz="1700" b="1">
                <a:solidFill>
                  <a:srgbClr val="FFFFFF"/>
                </a:solidFill>
                <a:latin typeface="Aptos"/>
              </a:rPr>
              <a:t>Next action</a:t>
            </a:r>
            <a:endParaRPr lang="en-US"/>
          </a:p>
        </p:txBody>
      </p:sp>
      <p:sp>
        <p:nvSpPr>
          <p:cNvPr id="11" name="Table r1 c0"/>
          <p:cNvSpPr txBox="1"/>
          <p:nvPr/>
        </p:nvSpPr>
        <p:spPr>
          <a:xfrm>
            <a:off x="523875" y="2924175"/>
            <a:ext cx="1762125" cy="504825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9"/>
            </a:solidFill>
          </a:ln>
        </p:spPr>
        <p:txBody>
          <a:bodyPr wrap="square" anchor="t" lIns="76200" rIns="76200" tIns="76200" bIns="76200"/>
          <a:lstStyle/>
          <a:p>
            <a:pPr algn="l"/>
            <a:r>
              <a:rPr lang="en-US" sz="1600" b="1">
                <a:solidFill>
                  <a:srgbClr val="14263D"/>
                </a:solidFill>
                <a:latin typeface="Aptos"/>
              </a:rPr>
              <a:t>Draft package</a:t>
            </a:r>
            <a:endParaRPr lang="en-US"/>
          </a:p>
        </p:txBody>
      </p:sp>
      <p:sp>
        <p:nvSpPr>
          <p:cNvPr id="12" name="Table r1 c1"/>
          <p:cNvSpPr txBox="1"/>
          <p:nvPr/>
        </p:nvSpPr>
        <p:spPr>
          <a:xfrm>
            <a:off x="2286000" y="2924175"/>
            <a:ext cx="2333625" cy="504825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9"/>
            </a:solidFill>
          </a:ln>
        </p:spPr>
        <p:txBody>
          <a:bodyPr wrap="square" anchor="t" lIns="76200" rIns="76200" tIns="76200" bIns="76200"/>
          <a:lstStyle/>
          <a:p>
            <a:pPr algn="l"/>
            <a:r>
              <a:rPr lang="en-US" sz="1600" b="0">
                <a:solidFill>
                  <a:srgbClr val="14263D"/>
                </a:solidFill>
                <a:latin typeface="Aptos"/>
              </a:rPr>
              <a:t>Custodian saves</a:t>
            </a:r>
            <a:endParaRPr lang="en-US"/>
          </a:p>
        </p:txBody>
      </p:sp>
      <p:sp>
        <p:nvSpPr>
          <p:cNvPr id="13" name="Table r1 c2"/>
          <p:cNvSpPr txBox="1"/>
          <p:nvPr/>
        </p:nvSpPr>
        <p:spPr>
          <a:xfrm>
            <a:off x="4619625" y="2924175"/>
            <a:ext cx="3667125" cy="504825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9"/>
            </a:solidFill>
          </a:ln>
        </p:spPr>
        <p:txBody>
          <a:bodyPr wrap="square" anchor="t" lIns="76200" rIns="76200" tIns="76200" bIns="76200"/>
          <a:lstStyle/>
          <a:p>
            <a:pPr algn="l"/>
            <a:r>
              <a:rPr lang="en-US" sz="1600" b="0">
                <a:solidFill>
                  <a:srgbClr val="14263D"/>
                </a:solidFill>
                <a:latin typeface="Aptos"/>
              </a:rPr>
              <a:t>Selected versions remain editable</a:t>
            </a:r>
            <a:endParaRPr lang="en-US"/>
          </a:p>
        </p:txBody>
      </p:sp>
      <p:sp>
        <p:nvSpPr>
          <p:cNvPr id="14" name="Table r1 c3"/>
          <p:cNvSpPr txBox="1"/>
          <p:nvPr/>
        </p:nvSpPr>
        <p:spPr>
          <a:xfrm>
            <a:off x="8286750" y="2924175"/>
            <a:ext cx="3381375" cy="504825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9"/>
            </a:solidFill>
          </a:ln>
        </p:spPr>
        <p:txBody>
          <a:bodyPr wrap="square" anchor="t" lIns="76200" rIns="76200" tIns="76200" bIns="76200"/>
          <a:lstStyle/>
          <a:p>
            <a:pPr algn="l"/>
            <a:r>
              <a:rPr lang="en-US" sz="1600" b="0">
                <a:solidFill>
                  <a:srgbClr val="14263D"/>
                </a:solidFill>
                <a:latin typeface="Aptos"/>
              </a:rPr>
              <a:t>Submit</a:t>
            </a:r>
            <a:endParaRPr lang="en-US"/>
          </a:p>
        </p:txBody>
      </p:sp>
      <p:sp>
        <p:nvSpPr>
          <p:cNvPr id="15" name="Table r2 c0"/>
          <p:cNvSpPr txBox="1"/>
          <p:nvPr/>
        </p:nvSpPr>
        <p:spPr>
          <a:xfrm>
            <a:off x="523875" y="3448050"/>
            <a:ext cx="1762125" cy="504825"/>
          </a:xfrm>
          <a:prstGeom prst="rect">
            <a:avLst/>
          </a:prstGeom>
          <a:solidFill>
            <a:srgbClr val="EAF2F5"/>
          </a:solidFill>
          <a:ln w="9525">
            <a:solidFill>
              <a:srgbClr val="D6E2E9"/>
            </a:solidFill>
          </a:ln>
        </p:spPr>
        <p:txBody>
          <a:bodyPr wrap="square" anchor="t" lIns="76200" rIns="76200" tIns="76200" bIns="76200"/>
          <a:lstStyle/>
          <a:p>
            <a:pPr algn="l"/>
            <a:r>
              <a:rPr lang="en-US" sz="1600" b="1">
                <a:solidFill>
                  <a:srgbClr val="14263D"/>
                </a:solidFill>
                <a:latin typeface="Aptos"/>
              </a:rPr>
              <a:t>Submitted</a:t>
            </a:r>
            <a:endParaRPr lang="en-US"/>
          </a:p>
        </p:txBody>
      </p:sp>
      <p:sp>
        <p:nvSpPr>
          <p:cNvPr id="16" name="Table r2 c1"/>
          <p:cNvSpPr txBox="1"/>
          <p:nvPr/>
        </p:nvSpPr>
        <p:spPr>
          <a:xfrm>
            <a:off x="2286000" y="3448050"/>
            <a:ext cx="2333625" cy="504825"/>
          </a:xfrm>
          <a:prstGeom prst="rect">
            <a:avLst/>
          </a:prstGeom>
          <a:solidFill>
            <a:srgbClr val="EAF2F5"/>
          </a:solidFill>
          <a:ln w="9525">
            <a:solidFill>
              <a:srgbClr val="D6E2E9"/>
            </a:solidFill>
          </a:ln>
        </p:spPr>
        <p:txBody>
          <a:bodyPr wrap="square" anchor="t" lIns="76200" rIns="76200" tIns="76200" bIns="76200"/>
          <a:lstStyle/>
          <a:p>
            <a:pPr algn="l"/>
            <a:r>
              <a:rPr lang="en-US" sz="1600" b="0">
                <a:solidFill>
                  <a:srgbClr val="14263D"/>
                </a:solidFill>
                <a:latin typeface="Aptos"/>
              </a:rPr>
              <a:t>Custodian submits</a:t>
            </a:r>
            <a:endParaRPr lang="en-US"/>
          </a:p>
        </p:txBody>
      </p:sp>
      <p:sp>
        <p:nvSpPr>
          <p:cNvPr id="17" name="Table r2 c2"/>
          <p:cNvSpPr txBox="1"/>
          <p:nvPr/>
        </p:nvSpPr>
        <p:spPr>
          <a:xfrm>
            <a:off x="4619625" y="3448050"/>
            <a:ext cx="3667125" cy="504825"/>
          </a:xfrm>
          <a:prstGeom prst="rect">
            <a:avLst/>
          </a:prstGeom>
          <a:solidFill>
            <a:srgbClr val="EAF2F5"/>
          </a:solidFill>
          <a:ln w="9525">
            <a:solidFill>
              <a:srgbClr val="D6E2E9"/>
            </a:solidFill>
          </a:ln>
        </p:spPr>
        <p:txBody>
          <a:bodyPr wrap="square" anchor="t" lIns="76200" rIns="76200" tIns="76200" bIns="76200"/>
          <a:lstStyle/>
          <a:p>
            <a:pPr algn="l"/>
            <a:r>
              <a:rPr lang="en-US" sz="1600" b="0">
                <a:solidFill>
                  <a:srgbClr val="14263D"/>
                </a:solidFill>
                <a:latin typeface="Aptos"/>
              </a:rPr>
              <a:t>Attempt frozen; For Verification</a:t>
            </a:r>
            <a:endParaRPr lang="en-US"/>
          </a:p>
        </p:txBody>
      </p:sp>
      <p:sp>
        <p:nvSpPr>
          <p:cNvPr id="18" name="Table r2 c3"/>
          <p:cNvSpPr txBox="1"/>
          <p:nvPr/>
        </p:nvSpPr>
        <p:spPr>
          <a:xfrm>
            <a:off x="8286750" y="3448050"/>
            <a:ext cx="3381375" cy="504825"/>
          </a:xfrm>
          <a:prstGeom prst="rect">
            <a:avLst/>
          </a:prstGeom>
          <a:solidFill>
            <a:srgbClr val="EAF2F5"/>
          </a:solidFill>
          <a:ln w="9525">
            <a:solidFill>
              <a:srgbClr val="D6E2E9"/>
            </a:solidFill>
          </a:ln>
        </p:spPr>
        <p:txBody>
          <a:bodyPr wrap="square" anchor="t" lIns="76200" rIns="76200" tIns="76200" bIns="76200"/>
          <a:lstStyle/>
          <a:p>
            <a:pPr algn="l"/>
            <a:r>
              <a:rPr lang="en-US" sz="1600" b="0">
                <a:solidFill>
                  <a:srgbClr val="14263D"/>
                </a:solidFill>
                <a:latin typeface="Aptos"/>
              </a:rPr>
              <a:t>Reviewer decision</a:t>
            </a:r>
            <a:endParaRPr lang="en-US"/>
          </a:p>
        </p:txBody>
      </p:sp>
      <p:sp>
        <p:nvSpPr>
          <p:cNvPr id="19" name="Table r3 c0"/>
          <p:cNvSpPr txBox="1"/>
          <p:nvPr/>
        </p:nvSpPr>
        <p:spPr>
          <a:xfrm>
            <a:off x="523875" y="3971925"/>
            <a:ext cx="1762125" cy="504825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9"/>
            </a:solidFill>
          </a:ln>
        </p:spPr>
        <p:txBody>
          <a:bodyPr wrap="square" anchor="t" lIns="76200" rIns="76200" tIns="76200" bIns="76200"/>
          <a:lstStyle/>
          <a:p>
            <a:pPr algn="l"/>
            <a:r>
              <a:rPr lang="en-US" sz="1600" b="1">
                <a:solidFill>
                  <a:srgbClr val="14263D"/>
                </a:solidFill>
                <a:latin typeface="Aptos"/>
              </a:rPr>
              <a:t>Approved</a:t>
            </a:r>
            <a:endParaRPr lang="en-US"/>
          </a:p>
        </p:txBody>
      </p:sp>
      <p:sp>
        <p:nvSpPr>
          <p:cNvPr id="20" name="Table r3 c1"/>
          <p:cNvSpPr txBox="1"/>
          <p:nvPr/>
        </p:nvSpPr>
        <p:spPr>
          <a:xfrm>
            <a:off x="2286000" y="3971925"/>
            <a:ext cx="2333625" cy="504825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9"/>
            </a:solidFill>
          </a:ln>
        </p:spPr>
        <p:txBody>
          <a:bodyPr wrap="square" anchor="t" lIns="76200" rIns="76200" tIns="76200" bIns="76200"/>
          <a:lstStyle/>
          <a:p>
            <a:pPr algn="l"/>
            <a:r>
              <a:rPr lang="en-US" sz="1600" b="0">
                <a:solidFill>
                  <a:srgbClr val="14263D"/>
                </a:solidFill>
                <a:latin typeface="Aptos"/>
              </a:rPr>
              <a:t>Reviewer approves</a:t>
            </a:r>
            <a:endParaRPr lang="en-US"/>
          </a:p>
        </p:txBody>
      </p:sp>
      <p:sp>
        <p:nvSpPr>
          <p:cNvPr id="21" name="Table r3 c2"/>
          <p:cNvSpPr txBox="1"/>
          <p:nvPr/>
        </p:nvSpPr>
        <p:spPr>
          <a:xfrm>
            <a:off x="4619625" y="3971925"/>
            <a:ext cx="3667125" cy="504825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9"/>
            </a:solidFill>
          </a:ln>
        </p:spPr>
        <p:txBody>
          <a:bodyPr wrap="square" anchor="t" lIns="76200" rIns="76200" tIns="76200" bIns="76200"/>
          <a:lstStyle/>
          <a:p>
            <a:pPr algn="l"/>
            <a:r>
              <a:rPr lang="en-US" sz="1600" b="0">
                <a:solidFill>
                  <a:srgbClr val="14263D"/>
                </a:solidFill>
                <a:latin typeface="Aptos"/>
              </a:rPr>
              <a:t>Evidence accepted; not Complete</a:t>
            </a:r>
            <a:endParaRPr lang="en-US"/>
          </a:p>
        </p:txBody>
      </p:sp>
      <p:sp>
        <p:nvSpPr>
          <p:cNvPr id="22" name="Table r3 c3"/>
          <p:cNvSpPr txBox="1"/>
          <p:nvPr/>
        </p:nvSpPr>
        <p:spPr>
          <a:xfrm>
            <a:off x="8286750" y="3971925"/>
            <a:ext cx="3381375" cy="504825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9"/>
            </a:solidFill>
          </a:ln>
        </p:spPr>
        <p:txBody>
          <a:bodyPr wrap="square" anchor="t" lIns="76200" rIns="76200" tIns="76200" bIns="76200"/>
          <a:lstStyle/>
          <a:p>
            <a:pPr algn="l"/>
            <a:r>
              <a:rPr lang="en-US" sz="1600" b="0">
                <a:solidFill>
                  <a:srgbClr val="14263D"/>
                </a:solidFill>
                <a:latin typeface="Aptos"/>
              </a:rPr>
              <a:t>Coordinator certification</a:t>
            </a:r>
            <a:endParaRPr lang="en-US"/>
          </a:p>
        </p:txBody>
      </p:sp>
      <p:sp>
        <p:nvSpPr>
          <p:cNvPr id="23" name="Table r4 c0"/>
          <p:cNvSpPr txBox="1"/>
          <p:nvPr/>
        </p:nvSpPr>
        <p:spPr>
          <a:xfrm>
            <a:off x="523875" y="4495800"/>
            <a:ext cx="1762125" cy="504825"/>
          </a:xfrm>
          <a:prstGeom prst="rect">
            <a:avLst/>
          </a:prstGeom>
          <a:solidFill>
            <a:srgbClr val="EAF2F5"/>
          </a:solidFill>
          <a:ln w="9525">
            <a:solidFill>
              <a:srgbClr val="D6E2E9"/>
            </a:solidFill>
          </a:ln>
        </p:spPr>
        <p:txBody>
          <a:bodyPr wrap="square" anchor="t" lIns="76200" rIns="76200" tIns="76200" bIns="76200"/>
          <a:lstStyle/>
          <a:p>
            <a:pPr algn="l"/>
            <a:r>
              <a:rPr lang="en-US" sz="1600" b="1">
                <a:solidFill>
                  <a:srgbClr val="14263D"/>
                </a:solidFill>
                <a:latin typeface="Aptos"/>
              </a:rPr>
              <a:t>Revisions requested</a:t>
            </a:r>
            <a:endParaRPr lang="en-US"/>
          </a:p>
        </p:txBody>
      </p:sp>
      <p:sp>
        <p:nvSpPr>
          <p:cNvPr id="24" name="Table r4 c1"/>
          <p:cNvSpPr txBox="1"/>
          <p:nvPr/>
        </p:nvSpPr>
        <p:spPr>
          <a:xfrm>
            <a:off x="2286000" y="4495800"/>
            <a:ext cx="2333625" cy="504825"/>
          </a:xfrm>
          <a:prstGeom prst="rect">
            <a:avLst/>
          </a:prstGeom>
          <a:solidFill>
            <a:srgbClr val="EAF2F5"/>
          </a:solidFill>
          <a:ln w="9525">
            <a:solidFill>
              <a:srgbClr val="D6E2E9"/>
            </a:solidFill>
          </a:ln>
        </p:spPr>
        <p:txBody>
          <a:bodyPr wrap="square" anchor="t" lIns="76200" rIns="76200" tIns="76200" bIns="76200"/>
          <a:lstStyle/>
          <a:p>
            <a:pPr algn="l"/>
            <a:r>
              <a:rPr lang="en-US" sz="1600" b="0">
                <a:solidFill>
                  <a:srgbClr val="14263D"/>
                </a:solidFill>
                <a:latin typeface="Aptos"/>
              </a:rPr>
              <a:t>Reviewer decides</a:t>
            </a:r>
            <a:endParaRPr lang="en-US"/>
          </a:p>
        </p:txBody>
      </p:sp>
      <p:sp>
        <p:nvSpPr>
          <p:cNvPr id="25" name="Table r4 c2"/>
          <p:cNvSpPr txBox="1"/>
          <p:nvPr/>
        </p:nvSpPr>
        <p:spPr>
          <a:xfrm>
            <a:off x="4619625" y="4495800"/>
            <a:ext cx="3667125" cy="504825"/>
          </a:xfrm>
          <a:prstGeom prst="rect">
            <a:avLst/>
          </a:prstGeom>
          <a:solidFill>
            <a:srgbClr val="EAF2F5"/>
          </a:solidFill>
          <a:ln w="9525">
            <a:solidFill>
              <a:srgbClr val="D6E2E9"/>
            </a:solidFill>
          </a:ln>
        </p:spPr>
        <p:txBody>
          <a:bodyPr wrap="square" anchor="t" lIns="76200" rIns="76200" tIns="76200" bIns="76200"/>
          <a:lstStyle/>
          <a:p>
            <a:pPr algn="l"/>
            <a:r>
              <a:rPr lang="en-US" sz="1600" b="0">
                <a:solidFill>
                  <a:srgbClr val="14263D"/>
                </a:solidFill>
                <a:latin typeface="Aptos"/>
              </a:rPr>
              <a:t>Attempt closed; rationale retained</a:t>
            </a:r>
            <a:endParaRPr lang="en-US"/>
          </a:p>
        </p:txBody>
      </p:sp>
      <p:sp>
        <p:nvSpPr>
          <p:cNvPr id="26" name="Table r4 c3"/>
          <p:cNvSpPr txBox="1"/>
          <p:nvPr/>
        </p:nvSpPr>
        <p:spPr>
          <a:xfrm>
            <a:off x="8286750" y="4495800"/>
            <a:ext cx="3381375" cy="504825"/>
          </a:xfrm>
          <a:prstGeom prst="rect">
            <a:avLst/>
          </a:prstGeom>
          <a:solidFill>
            <a:srgbClr val="EAF2F5"/>
          </a:solidFill>
          <a:ln w="9525">
            <a:solidFill>
              <a:srgbClr val="D6E2E9"/>
            </a:solidFill>
          </a:ln>
        </p:spPr>
        <p:txBody>
          <a:bodyPr wrap="square" anchor="t" lIns="76200" rIns="76200" tIns="76200" bIns="76200"/>
          <a:lstStyle/>
          <a:p>
            <a:pPr algn="l"/>
            <a:r>
              <a:rPr lang="en-US" sz="1600" b="0">
                <a:solidFill>
                  <a:srgbClr val="14263D"/>
                </a:solidFill>
                <a:latin typeface="Aptos"/>
              </a:rPr>
              <a:t>New draft and resubmit</a:t>
            </a:r>
            <a:endParaRPr lang="en-US"/>
          </a:p>
        </p:txBody>
      </p:sp>
      <p:sp>
        <p:nvSpPr>
          <p:cNvPr id="27" name="Table r5 c0"/>
          <p:cNvSpPr txBox="1"/>
          <p:nvPr/>
        </p:nvSpPr>
        <p:spPr>
          <a:xfrm>
            <a:off x="523875" y="5019675"/>
            <a:ext cx="1762125" cy="504825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9"/>
            </a:solidFill>
          </a:ln>
        </p:spPr>
        <p:txBody>
          <a:bodyPr wrap="square" anchor="t" lIns="76200" rIns="76200" tIns="76200" bIns="76200"/>
          <a:lstStyle/>
          <a:p>
            <a:pPr algn="l"/>
            <a:r>
              <a:rPr lang="en-US" sz="1600" b="1">
                <a:solidFill>
                  <a:srgbClr val="14263D"/>
                </a:solidFill>
                <a:latin typeface="Aptos"/>
              </a:rPr>
              <a:t>Withdrawn</a:t>
            </a:r>
            <a:endParaRPr lang="en-US"/>
          </a:p>
        </p:txBody>
      </p:sp>
      <p:sp>
        <p:nvSpPr>
          <p:cNvPr id="28" name="Table r5 c1"/>
          <p:cNvSpPr txBox="1"/>
          <p:nvPr/>
        </p:nvSpPr>
        <p:spPr>
          <a:xfrm>
            <a:off x="2286000" y="5019675"/>
            <a:ext cx="2333625" cy="504825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9"/>
            </a:solidFill>
          </a:ln>
        </p:spPr>
        <p:txBody>
          <a:bodyPr wrap="square" anchor="t" lIns="76200" rIns="76200" tIns="76200" bIns="76200"/>
          <a:lstStyle/>
          <a:p>
            <a:pPr algn="l"/>
            <a:r>
              <a:rPr lang="en-US" sz="1600" b="0">
                <a:solidFill>
                  <a:srgbClr val="14263D"/>
                </a:solidFill>
                <a:latin typeface="Aptos"/>
              </a:rPr>
              <a:t>Owner withdraws</a:t>
            </a:r>
            <a:endParaRPr lang="en-US"/>
          </a:p>
        </p:txBody>
      </p:sp>
      <p:sp>
        <p:nvSpPr>
          <p:cNvPr id="29" name="Table r5 c2"/>
          <p:cNvSpPr txBox="1"/>
          <p:nvPr/>
        </p:nvSpPr>
        <p:spPr>
          <a:xfrm>
            <a:off x="4619625" y="5019675"/>
            <a:ext cx="3667125" cy="504825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9"/>
            </a:solidFill>
          </a:ln>
        </p:spPr>
        <p:txBody>
          <a:bodyPr wrap="square" anchor="t" lIns="76200" rIns="76200" tIns="76200" bIns="76200"/>
          <a:lstStyle/>
          <a:p>
            <a:pPr algn="l"/>
            <a:r>
              <a:rPr lang="en-US" sz="1600" b="0">
                <a:solidFill>
                  <a:srgbClr val="14263D"/>
                </a:solidFill>
                <a:latin typeface="Aptos"/>
              </a:rPr>
              <a:t>Attempt closed before decision</a:t>
            </a:r>
            <a:endParaRPr lang="en-US"/>
          </a:p>
        </p:txBody>
      </p:sp>
      <p:sp>
        <p:nvSpPr>
          <p:cNvPr id="30" name="Table r5 c3"/>
          <p:cNvSpPr txBox="1"/>
          <p:nvPr/>
        </p:nvSpPr>
        <p:spPr>
          <a:xfrm>
            <a:off x="8286750" y="5019675"/>
            <a:ext cx="3381375" cy="504825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9"/>
            </a:solidFill>
          </a:ln>
        </p:spPr>
        <p:txBody>
          <a:bodyPr wrap="square" anchor="t" lIns="76200" rIns="76200" tIns="76200" bIns="76200"/>
          <a:lstStyle/>
          <a:p>
            <a:pPr algn="l"/>
            <a:r>
              <a:rPr lang="en-US" sz="1600" b="0">
                <a:solidFill>
                  <a:srgbClr val="14263D"/>
                </a:solidFill>
                <a:latin typeface="Aptos"/>
              </a:rPr>
              <a:t>New draft</a:t>
            </a:r>
            <a:endParaRPr lang="en-US"/>
          </a:p>
        </p:txBody>
      </p:sp>
      <p:sp>
        <p:nvSpPr>
          <p:cNvPr id="31" name="Table r6 c0"/>
          <p:cNvSpPr txBox="1"/>
          <p:nvPr/>
        </p:nvSpPr>
        <p:spPr>
          <a:xfrm>
            <a:off x="523875" y="5543550"/>
            <a:ext cx="1762125" cy="504825"/>
          </a:xfrm>
          <a:prstGeom prst="rect">
            <a:avLst/>
          </a:prstGeom>
          <a:solidFill>
            <a:srgbClr val="EAF2F5"/>
          </a:solidFill>
          <a:ln w="9525">
            <a:solidFill>
              <a:srgbClr val="D6E2E9"/>
            </a:solidFill>
          </a:ln>
        </p:spPr>
        <p:txBody>
          <a:bodyPr wrap="square" anchor="t" lIns="76200" rIns="76200" tIns="76200" bIns="76200"/>
          <a:lstStyle/>
          <a:p>
            <a:pPr algn="l"/>
            <a:r>
              <a:rPr lang="en-US" sz="1600" b="1">
                <a:solidFill>
                  <a:srgbClr val="14263D"/>
                </a:solidFill>
                <a:latin typeface="Aptos"/>
              </a:rPr>
              <a:t>Complete</a:t>
            </a:r>
            <a:endParaRPr lang="en-US"/>
          </a:p>
        </p:txBody>
      </p:sp>
      <p:sp>
        <p:nvSpPr>
          <p:cNvPr id="32" name="Table r6 c1"/>
          <p:cNvSpPr txBox="1"/>
          <p:nvPr/>
        </p:nvSpPr>
        <p:spPr>
          <a:xfrm>
            <a:off x="2286000" y="5543550"/>
            <a:ext cx="2333625" cy="504825"/>
          </a:xfrm>
          <a:prstGeom prst="rect">
            <a:avLst/>
          </a:prstGeom>
          <a:solidFill>
            <a:srgbClr val="EAF2F5"/>
          </a:solidFill>
          <a:ln w="9525">
            <a:solidFill>
              <a:srgbClr val="D6E2E9"/>
            </a:solidFill>
          </a:ln>
        </p:spPr>
        <p:txBody>
          <a:bodyPr wrap="square" anchor="t" lIns="76200" rIns="76200" tIns="76200" bIns="76200"/>
          <a:lstStyle/>
          <a:p>
            <a:pPr algn="l"/>
            <a:r>
              <a:rPr lang="en-US" sz="1600" b="0">
                <a:solidFill>
                  <a:srgbClr val="14263D"/>
                </a:solidFill>
                <a:latin typeface="Aptos"/>
              </a:rPr>
              <a:t>Coordinator certifies</a:t>
            </a:r>
            <a:endParaRPr lang="en-US"/>
          </a:p>
        </p:txBody>
      </p:sp>
      <p:sp>
        <p:nvSpPr>
          <p:cNvPr id="33" name="Table r6 c2"/>
          <p:cNvSpPr txBox="1"/>
          <p:nvPr/>
        </p:nvSpPr>
        <p:spPr>
          <a:xfrm>
            <a:off x="4619625" y="5543550"/>
            <a:ext cx="3667125" cy="504825"/>
          </a:xfrm>
          <a:prstGeom prst="rect">
            <a:avLst/>
          </a:prstGeom>
          <a:solidFill>
            <a:srgbClr val="EAF2F5"/>
          </a:solidFill>
          <a:ln w="9525">
            <a:solidFill>
              <a:srgbClr val="D6E2E9"/>
            </a:solidFill>
          </a:ln>
        </p:spPr>
        <p:txBody>
          <a:bodyPr wrap="square" anchor="t" lIns="76200" rIns="76200" tIns="76200" bIns="76200"/>
          <a:lstStyle/>
          <a:p>
            <a:pPr algn="l"/>
            <a:r>
              <a:rPr lang="en-US" sz="1600" b="0">
                <a:solidFill>
                  <a:srgbClr val="14263D"/>
                </a:solidFill>
                <a:latin typeface="Aptos"/>
              </a:rPr>
              <a:t>Rationale and support pinned</a:t>
            </a:r>
            <a:endParaRPr lang="en-US"/>
          </a:p>
        </p:txBody>
      </p:sp>
      <p:sp>
        <p:nvSpPr>
          <p:cNvPr id="34" name="Table r6 c3"/>
          <p:cNvSpPr txBox="1"/>
          <p:nvPr/>
        </p:nvSpPr>
        <p:spPr>
          <a:xfrm>
            <a:off x="8286750" y="5543550"/>
            <a:ext cx="3381375" cy="504825"/>
          </a:xfrm>
          <a:prstGeom prst="rect">
            <a:avLst/>
          </a:prstGeom>
          <a:solidFill>
            <a:srgbClr val="EAF2F5"/>
          </a:solidFill>
          <a:ln w="9525">
            <a:solidFill>
              <a:srgbClr val="D6E2E9"/>
            </a:solidFill>
          </a:ln>
        </p:spPr>
        <p:txBody>
          <a:bodyPr wrap="square" anchor="t" lIns="76200" rIns="76200" tIns="76200" bIns="76200"/>
          <a:lstStyle/>
          <a:p>
            <a:pPr algn="l"/>
            <a:r>
              <a:rPr lang="en-US" sz="1600" b="0">
                <a:solidFill>
                  <a:srgbClr val="14263D"/>
                </a:solidFill>
                <a:latin typeface="Aptos"/>
              </a:rPr>
              <a:t>Reasoned reopen if needed</a:t>
            </a:r>
            <a:endParaRPr lang="en-US"/>
          </a:p>
        </p:txBody>
      </p:sp>
      <p:sp>
        <p:nvSpPr>
          <p:cNvPr id="35" name="Footer rule"/>
          <p:cNvSpPr txBox="1"/>
          <p:nvPr/>
        </p:nvSpPr>
        <p:spPr>
          <a:xfrm>
            <a:off x="495300" y="6334125"/>
            <a:ext cx="11163300" cy="19050"/>
          </a:xfrm>
          <a:prstGeom prst="rect">
            <a:avLst/>
          </a:prstGeom>
          <a:solidFill>
            <a:srgbClr val="D6E2E9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36" name="Footer"/>
          <p:cNvSpPr txBox="1"/>
          <p:nvPr/>
        </p:nvSpPr>
        <p:spPr>
          <a:xfrm>
            <a:off x="504825" y="6438900"/>
            <a:ext cx="962025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300" b="0">
                <a:solidFill>
                  <a:srgbClr val="486078"/>
                </a:solidFill>
                <a:latin typeface="Aptos"/>
              </a:rPr>
              <a:t>MC Accreditation Hub  ·  MIT 007  ·  Fictional local evidence unless marked otherwise</a:t>
            </a:r>
            <a:endParaRPr lang="en-US"/>
          </a:p>
        </p:txBody>
      </p:sp>
      <p:sp>
        <p:nvSpPr>
          <p:cNvPr id="37" name="Page"/>
          <p:cNvSpPr txBox="1"/>
          <p:nvPr/>
        </p:nvSpPr>
        <p:spPr>
          <a:xfrm>
            <a:off x="10572750" y="6438900"/>
            <a:ext cx="114300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300" b="0">
                <a:solidFill>
                  <a:srgbClr val="486078"/>
                </a:solidFill>
                <a:latin typeface="Aptos"/>
              </a:rPr>
              <a:t>40 / 53</a:t>
            </a:r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>
  <p:cSld name="41 Data and API reference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 txBox="1"/>
          <p:nvPr/>
        </p:nvSpPr>
        <p:spPr>
          <a:xfrm>
            <a:off x="0" y="0"/>
            <a:ext cx="12192000" cy="123825"/>
          </a:xfrm>
          <a:prstGeom prst="rect">
            <a:avLst/>
          </a:prstGeom>
          <a:solidFill>
            <a:srgbClr val="0F9E92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3" name="Section"/>
          <p:cNvSpPr txBox="1"/>
          <p:nvPr/>
        </p:nvSpPr>
        <p:spPr>
          <a:xfrm>
            <a:off x="495300" y="323850"/>
            <a:ext cx="809625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700" b="1">
                <a:solidFill>
                  <a:srgbClr val="0F9E92"/>
                </a:solidFill>
                <a:latin typeface="Aptos"/>
              </a:rPr>
              <a:t>APPENDIX</a:t>
            </a:r>
            <a:endParaRPr lang="en-US"/>
          </a:p>
        </p:txBody>
      </p:sp>
      <p:sp>
        <p:nvSpPr>
          <p:cNvPr id="4" name="Status"/>
          <p:cNvSpPr txBox="1"/>
          <p:nvPr/>
        </p:nvSpPr>
        <p:spPr>
          <a:xfrm>
            <a:off x="8810625" y="3048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600" b="0">
                <a:solidFill>
                  <a:srgbClr val="486078"/>
                </a:solidFill>
                <a:latin typeface="Aptos"/>
              </a:rPr>
              <a:t>LOCAL IMPLEMENTATION</a:t>
            </a:r>
            <a:endParaRPr lang="en-US"/>
          </a:p>
        </p:txBody>
      </p:sp>
      <p:sp>
        <p:nvSpPr>
          <p:cNvPr id="5" name="Title"/>
          <p:cNvSpPr txBox="1"/>
          <p:nvPr/>
        </p:nvSpPr>
        <p:spPr>
          <a:xfrm>
            <a:off x="495300" y="781050"/>
            <a:ext cx="11144250" cy="71437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4200" b="1">
                <a:solidFill>
                  <a:srgbClr val="0B2545"/>
                </a:solidFill>
                <a:latin typeface="Aptos"/>
              </a:rPr>
              <a:t>Data and API reference</a:t>
            </a:r>
            <a:endParaRPr lang="en-US"/>
          </a:p>
        </p:txBody>
      </p:sp>
      <p:sp>
        <p:nvSpPr>
          <p:cNvPr id="6" name="Lead"/>
          <p:cNvSpPr txBox="1"/>
          <p:nvPr/>
        </p:nvSpPr>
        <p:spPr>
          <a:xfrm>
            <a:off x="523875" y="1552575"/>
            <a:ext cx="11049000" cy="7334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>The current API is same-origin under /api/ and uses scoped integer and UUID identifiers.</a:t>
            </a:r>
            <a:endParaRPr lang="en-US"/>
          </a:p>
        </p:txBody>
      </p:sp>
      <p:sp>
        <p:nvSpPr>
          <p:cNvPr id="7" name="Point 1"/>
          <p:cNvSpPr txBox="1"/>
          <p:nvPr/>
        </p:nvSpPr>
        <p:spPr>
          <a:xfrm>
            <a:off x="666750" y="2447925"/>
            <a:ext cx="10858500" cy="7239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Main entities: User, RoleAssignment, Cycle, Area, Requirement, EvidenceItem, Document, DocumentVersion.</a:t>
            </a:r>
            <a:endParaRPr lang="en-US"/>
          </a:p>
        </p:txBody>
      </p:sp>
      <p:sp>
        <p:nvSpPr>
          <p:cNvPr id="8" name="Point 2"/>
          <p:cNvSpPr txBox="1"/>
          <p:nvPr/>
        </p:nvSpPr>
        <p:spPr>
          <a:xfrm>
            <a:off x="666750" y="32861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History: PackageAttempt/Item/Decision, RequirementCertification, DocumentScan, AuditEvent.</a:t>
            </a:r>
            <a:endParaRPr lang="en-US"/>
          </a:p>
        </p:txBody>
      </p:sp>
      <p:sp>
        <p:nvSpPr>
          <p:cNvPr id="9" name="Point 3"/>
          <p:cNvSpPr txBox="1"/>
          <p:nvPr/>
        </p:nvSpPr>
        <p:spPr>
          <a:xfrm>
            <a:off x="666750" y="39338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Django owns permissions and transitions; the browser displays returned capabilities.</a:t>
            </a:r>
            <a:endParaRPr lang="en-US"/>
          </a:p>
        </p:txBody>
      </p:sp>
      <p:sp>
        <p:nvSpPr>
          <p:cNvPr id="10" name="Point 4"/>
          <p:cNvSpPr txBox="1"/>
          <p:nvPr/>
        </p:nvSpPr>
        <p:spPr>
          <a:xfrm>
            <a:off x="666750" y="45815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API routes and data shapes are documented separately.</a:t>
            </a:r>
            <a:endParaRPr lang="en-US"/>
          </a:p>
        </p:txBody>
      </p:sp>
      <p:sp>
        <p:nvSpPr>
          <p:cNvPr id="11" name="Footer rule"/>
          <p:cNvSpPr txBox="1"/>
          <p:nvPr/>
        </p:nvSpPr>
        <p:spPr>
          <a:xfrm>
            <a:off x="495300" y="6334125"/>
            <a:ext cx="11163300" cy="19050"/>
          </a:xfrm>
          <a:prstGeom prst="rect">
            <a:avLst/>
          </a:prstGeom>
          <a:solidFill>
            <a:srgbClr val="D6E2E9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12" name="Footer"/>
          <p:cNvSpPr txBox="1"/>
          <p:nvPr/>
        </p:nvSpPr>
        <p:spPr>
          <a:xfrm>
            <a:off x="504825" y="6438900"/>
            <a:ext cx="962025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300" b="0">
                <a:solidFill>
                  <a:srgbClr val="486078"/>
                </a:solidFill>
                <a:latin typeface="Aptos"/>
              </a:rPr>
              <a:t>MC Accreditation Hub  ·  MIT 007  ·  Fictional local evidence unless marked otherwise</a:t>
            </a:r>
            <a:endParaRPr lang="en-US"/>
          </a:p>
        </p:txBody>
      </p:sp>
      <p:sp>
        <p:nvSpPr>
          <p:cNvPr id="13" name="Page"/>
          <p:cNvSpPr txBox="1"/>
          <p:nvPr/>
        </p:nvSpPr>
        <p:spPr>
          <a:xfrm>
            <a:off x="10572750" y="6438900"/>
            <a:ext cx="114300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300" b="0">
                <a:solidFill>
                  <a:srgbClr val="486078"/>
                </a:solidFill>
                <a:latin typeface="Aptos"/>
              </a:rPr>
              <a:t>41 / 53</a:t>
            </a:r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>
  <p:cSld name="42 File and scan policy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 txBox="1"/>
          <p:nvPr/>
        </p:nvSpPr>
        <p:spPr>
          <a:xfrm>
            <a:off x="0" y="0"/>
            <a:ext cx="12192000" cy="123825"/>
          </a:xfrm>
          <a:prstGeom prst="rect">
            <a:avLst/>
          </a:prstGeom>
          <a:solidFill>
            <a:srgbClr val="0F9E92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3" name="Section"/>
          <p:cNvSpPr txBox="1"/>
          <p:nvPr/>
        </p:nvSpPr>
        <p:spPr>
          <a:xfrm>
            <a:off x="495300" y="323850"/>
            <a:ext cx="809625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700" b="1">
                <a:solidFill>
                  <a:srgbClr val="0F9E92"/>
                </a:solidFill>
                <a:latin typeface="Aptos"/>
              </a:rPr>
              <a:t>APPENDIX</a:t>
            </a:r>
            <a:endParaRPr lang="en-US"/>
          </a:p>
        </p:txBody>
      </p:sp>
      <p:sp>
        <p:nvSpPr>
          <p:cNvPr id="4" name="Status"/>
          <p:cNvSpPr txBox="1"/>
          <p:nvPr/>
        </p:nvSpPr>
        <p:spPr>
          <a:xfrm>
            <a:off x="8810625" y="3048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600" b="0">
                <a:solidFill>
                  <a:srgbClr val="486078"/>
                </a:solidFill>
                <a:latin typeface="Aptos"/>
              </a:rPr>
              <a:t>LOCAL / PENDING POLICY</a:t>
            </a:r>
            <a:endParaRPr lang="en-US"/>
          </a:p>
        </p:txBody>
      </p:sp>
      <p:sp>
        <p:nvSpPr>
          <p:cNvPr id="5" name="Title"/>
          <p:cNvSpPr txBox="1"/>
          <p:nvPr/>
        </p:nvSpPr>
        <p:spPr>
          <a:xfrm>
            <a:off x="495300" y="781050"/>
            <a:ext cx="11144250" cy="71437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4200" b="1">
                <a:solidFill>
                  <a:srgbClr val="0B2545"/>
                </a:solidFill>
                <a:latin typeface="Aptos"/>
              </a:rPr>
              <a:t>File and scan policy</a:t>
            </a:r>
            <a:endParaRPr lang="en-US"/>
          </a:p>
        </p:txBody>
      </p:sp>
      <p:sp>
        <p:nvSpPr>
          <p:cNvPr id="6" name="Lead"/>
          <p:cNvSpPr txBox="1"/>
          <p:nvPr/>
        </p:nvSpPr>
        <p:spPr>
          <a:xfrm>
            <a:off x="523875" y="1552575"/>
            <a:ext cx="11049000" cy="7334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>Current local validation accepts PDF, DOCX, XLSX, PNG, and JPEG up to 25 MiB.</a:t>
            </a:r>
            <a:endParaRPr lang="en-US"/>
          </a:p>
        </p:txBody>
      </p:sp>
      <p:sp>
        <p:nvSpPr>
          <p:cNvPr id="7" name="Point 1"/>
          <p:cNvSpPr txBox="1"/>
          <p:nvPr/>
        </p:nvSpPr>
        <p:spPr>
          <a:xfrm>
            <a:off x="666750" y="24479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The application checks file content and bounds archive expansion.</a:t>
            </a:r>
            <a:endParaRPr lang="en-US"/>
          </a:p>
        </p:txBody>
      </p:sp>
      <p:sp>
        <p:nvSpPr>
          <p:cNvPr id="8" name="Point 2"/>
          <p:cNvSpPr txBox="1"/>
          <p:nvPr/>
        </p:nvSpPr>
        <p:spPr>
          <a:xfrm>
            <a:off x="666750" y="30956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It quarantines unscanned, infected, failed, or checksum-mismatched versions.</a:t>
            </a:r>
            <a:endParaRPr lang="en-US"/>
          </a:p>
        </p:txBody>
      </p:sp>
      <p:sp>
        <p:nvSpPr>
          <p:cNvPr id="9" name="Point 3"/>
          <p:cNvSpPr txBox="1"/>
          <p:nvPr/>
        </p:nvSpPr>
        <p:spPr>
          <a:xfrm>
            <a:off x="666750" y="37433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The course fixture simulates a clean verdict only for two known fictional PDFs.</a:t>
            </a:r>
            <a:endParaRPr lang="en-US"/>
          </a:p>
        </p:txBody>
      </p:sp>
      <p:sp>
        <p:nvSpPr>
          <p:cNvPr id="10" name="Point 4"/>
          <p:cNvSpPr txBox="1"/>
          <p:nvPr/>
        </p:nvSpPr>
        <p:spPr>
          <a:xfrm>
            <a:off x="666750" y="43910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Accepted formats, resources, scanner, and records classes still need owner approval.</a:t>
            </a:r>
            <a:endParaRPr lang="en-US"/>
          </a:p>
        </p:txBody>
      </p:sp>
      <p:sp>
        <p:nvSpPr>
          <p:cNvPr id="11" name="Footer rule"/>
          <p:cNvSpPr txBox="1"/>
          <p:nvPr/>
        </p:nvSpPr>
        <p:spPr>
          <a:xfrm>
            <a:off x="495300" y="6334125"/>
            <a:ext cx="11163300" cy="19050"/>
          </a:xfrm>
          <a:prstGeom prst="rect">
            <a:avLst/>
          </a:prstGeom>
          <a:solidFill>
            <a:srgbClr val="D6E2E9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12" name="Footer"/>
          <p:cNvSpPr txBox="1"/>
          <p:nvPr/>
        </p:nvSpPr>
        <p:spPr>
          <a:xfrm>
            <a:off x="504825" y="6438900"/>
            <a:ext cx="962025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300" b="0">
                <a:solidFill>
                  <a:srgbClr val="486078"/>
                </a:solidFill>
                <a:latin typeface="Aptos"/>
              </a:rPr>
              <a:t>MC Accreditation Hub  ·  MIT 007  ·  Fictional local evidence unless marked otherwise</a:t>
            </a:r>
            <a:endParaRPr lang="en-US"/>
          </a:p>
        </p:txBody>
      </p:sp>
      <p:sp>
        <p:nvSpPr>
          <p:cNvPr id="13" name="Page"/>
          <p:cNvSpPr txBox="1"/>
          <p:nvPr/>
        </p:nvSpPr>
        <p:spPr>
          <a:xfrm>
            <a:off x="10572750" y="6438900"/>
            <a:ext cx="114300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300" b="0">
                <a:solidFill>
                  <a:srgbClr val="486078"/>
                </a:solidFill>
                <a:latin typeface="Aptos"/>
              </a:rPr>
              <a:t>42 / 53</a:t>
            </a:r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>
  <p:cSld name="43 Report calculation reference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 txBox="1"/>
          <p:nvPr/>
        </p:nvSpPr>
        <p:spPr>
          <a:xfrm>
            <a:off x="0" y="0"/>
            <a:ext cx="12192000" cy="123825"/>
          </a:xfrm>
          <a:prstGeom prst="rect">
            <a:avLst/>
          </a:prstGeom>
          <a:solidFill>
            <a:srgbClr val="0F9E92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3" name="Section"/>
          <p:cNvSpPr txBox="1"/>
          <p:nvPr/>
        </p:nvSpPr>
        <p:spPr>
          <a:xfrm>
            <a:off x="495300" y="323850"/>
            <a:ext cx="809625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700" b="1">
                <a:solidFill>
                  <a:srgbClr val="0F9E92"/>
                </a:solidFill>
                <a:latin typeface="Aptos"/>
              </a:rPr>
              <a:t>APPENDIX</a:t>
            </a:r>
            <a:endParaRPr lang="en-US"/>
          </a:p>
        </p:txBody>
      </p:sp>
      <p:sp>
        <p:nvSpPr>
          <p:cNvPr id="4" name="Status"/>
          <p:cNvSpPr txBox="1"/>
          <p:nvPr/>
        </p:nvSpPr>
        <p:spPr>
          <a:xfrm>
            <a:off x="8810625" y="3048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600" b="0">
                <a:solidFill>
                  <a:srgbClr val="486078"/>
                </a:solidFill>
                <a:latin typeface="Aptos"/>
              </a:rPr>
              <a:t>LOCAL / SAMPLE CORRECTED</a:t>
            </a:r>
            <a:endParaRPr lang="en-US"/>
          </a:p>
        </p:txBody>
      </p:sp>
      <p:sp>
        <p:nvSpPr>
          <p:cNvPr id="5" name="Title"/>
          <p:cNvSpPr txBox="1"/>
          <p:nvPr/>
        </p:nvSpPr>
        <p:spPr>
          <a:xfrm>
            <a:off x="495300" y="781050"/>
            <a:ext cx="11144250" cy="71437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4200" b="1">
                <a:solidFill>
                  <a:srgbClr val="0B2545"/>
                </a:solidFill>
                <a:latin typeface="Aptos"/>
              </a:rPr>
              <a:t>Report calculation reference</a:t>
            </a:r>
            <a:endParaRPr lang="en-US"/>
          </a:p>
        </p:txBody>
      </p:sp>
      <p:sp>
        <p:nvSpPr>
          <p:cNvPr id="6" name="Lead"/>
          <p:cNvSpPr txBox="1"/>
          <p:nvPr/>
        </p:nvSpPr>
        <p:spPr>
          <a:xfrm>
            <a:off x="523875" y="1552575"/>
            <a:ext cx="11049000" cy="7334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>Readiness and filtered row count answer different questions.</a:t>
            </a:r>
            <a:endParaRPr lang="en-US"/>
          </a:p>
        </p:txBody>
      </p:sp>
      <p:sp>
        <p:nvSpPr>
          <p:cNvPr id="7" name="Point 1"/>
          <p:cNvSpPr txBox="1"/>
          <p:nvPr/>
        </p:nvSpPr>
        <p:spPr>
          <a:xfrm>
            <a:off x="666750" y="2447925"/>
            <a:ext cx="10858500" cy="7239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Numerator: complete active applicable non-archived requirements in the selected authorized cycle/area.</a:t>
            </a:r>
            <a:endParaRPr lang="en-US"/>
          </a:p>
        </p:txBody>
      </p:sp>
      <p:sp>
        <p:nvSpPr>
          <p:cNvPr id="8" name="Point 2"/>
          <p:cNvSpPr txBox="1"/>
          <p:nvPr/>
        </p:nvSpPr>
        <p:spPr>
          <a:xfrm>
            <a:off x="666750" y="32861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Denominator: all active applicable non-archived requirements in that population.</a:t>
            </a:r>
            <a:endParaRPr lang="en-US"/>
          </a:p>
        </p:txBody>
      </p:sp>
      <p:sp>
        <p:nvSpPr>
          <p:cNvPr id="9" name="Point 3"/>
          <p:cNvSpPr txBox="1"/>
          <p:nvPr/>
        </p:nvSpPr>
        <p:spPr>
          <a:xfrm>
            <a:off x="666750" y="39338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Status filters affect rows only; JSON, CSV, and print state the provenance.</a:t>
            </a:r>
            <a:endParaRPr lang="en-US"/>
          </a:p>
        </p:txBody>
      </p:sp>
      <p:sp>
        <p:nvSpPr>
          <p:cNvPr id="10" name="Point 4"/>
          <p:cNvSpPr txBox="1"/>
          <p:nvPr/>
        </p:nvSpPr>
        <p:spPr>
          <a:xfrm>
            <a:off x="666750" y="45815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Fictional demo: 1 / 8 = 12.5%. The source deck’s 94 / 120 would equal 78.3%, not 87%.</a:t>
            </a:r>
            <a:endParaRPr lang="en-US"/>
          </a:p>
        </p:txBody>
      </p:sp>
      <p:sp>
        <p:nvSpPr>
          <p:cNvPr id="11" name="Footer rule"/>
          <p:cNvSpPr txBox="1"/>
          <p:nvPr/>
        </p:nvSpPr>
        <p:spPr>
          <a:xfrm>
            <a:off x="495300" y="6334125"/>
            <a:ext cx="11163300" cy="19050"/>
          </a:xfrm>
          <a:prstGeom prst="rect">
            <a:avLst/>
          </a:prstGeom>
          <a:solidFill>
            <a:srgbClr val="D6E2E9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12" name="Footer"/>
          <p:cNvSpPr txBox="1"/>
          <p:nvPr/>
        </p:nvSpPr>
        <p:spPr>
          <a:xfrm>
            <a:off x="504825" y="6438900"/>
            <a:ext cx="962025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300" b="0">
                <a:solidFill>
                  <a:srgbClr val="486078"/>
                </a:solidFill>
                <a:latin typeface="Aptos"/>
              </a:rPr>
              <a:t>MC Accreditation Hub  ·  MIT 007  ·  Fictional local evidence unless marked otherwise</a:t>
            </a:r>
            <a:endParaRPr lang="en-US"/>
          </a:p>
        </p:txBody>
      </p:sp>
      <p:sp>
        <p:nvSpPr>
          <p:cNvPr id="13" name="Page"/>
          <p:cNvSpPr txBox="1"/>
          <p:nvPr/>
        </p:nvSpPr>
        <p:spPr>
          <a:xfrm>
            <a:off x="10572750" y="6438900"/>
            <a:ext cx="114300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300" b="0">
                <a:solidFill>
                  <a:srgbClr val="486078"/>
                </a:solidFill>
                <a:latin typeface="Aptos"/>
              </a:rPr>
              <a:t>43 / 53</a:t>
            </a:r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>
  <p:cSld name="44 Test and screenshot inventory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 txBox="1"/>
          <p:nvPr/>
        </p:nvSpPr>
        <p:spPr>
          <a:xfrm>
            <a:off x="0" y="0"/>
            <a:ext cx="12192000" cy="123825"/>
          </a:xfrm>
          <a:prstGeom prst="rect">
            <a:avLst/>
          </a:prstGeom>
          <a:solidFill>
            <a:srgbClr val="0F9E92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3" name="Section"/>
          <p:cNvSpPr txBox="1"/>
          <p:nvPr/>
        </p:nvSpPr>
        <p:spPr>
          <a:xfrm>
            <a:off x="495300" y="323850"/>
            <a:ext cx="809625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700" b="1">
                <a:solidFill>
                  <a:srgbClr val="0F9E92"/>
                </a:solidFill>
                <a:latin typeface="Aptos"/>
              </a:rPr>
              <a:t>APPENDIX</a:t>
            </a:r>
            <a:endParaRPr lang="en-US"/>
          </a:p>
        </p:txBody>
      </p:sp>
      <p:sp>
        <p:nvSpPr>
          <p:cNvPr id="4" name="Status"/>
          <p:cNvSpPr txBox="1"/>
          <p:nvPr/>
        </p:nvSpPr>
        <p:spPr>
          <a:xfrm>
            <a:off x="8810625" y="3048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600" b="0">
                <a:solidFill>
                  <a:srgbClr val="486078"/>
                </a:solidFill>
                <a:latin typeface="Aptos"/>
              </a:rPr>
              <a:t>LOCAL EVIDENCE</a:t>
            </a:r>
            <a:endParaRPr lang="en-US"/>
          </a:p>
        </p:txBody>
      </p:sp>
      <p:sp>
        <p:nvSpPr>
          <p:cNvPr id="5" name="Title"/>
          <p:cNvSpPr txBox="1"/>
          <p:nvPr/>
        </p:nvSpPr>
        <p:spPr>
          <a:xfrm>
            <a:off x="495300" y="781050"/>
            <a:ext cx="11144250" cy="71437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4200" b="1">
                <a:solidFill>
                  <a:srgbClr val="0B2545"/>
                </a:solidFill>
                <a:latin typeface="Aptos"/>
              </a:rPr>
              <a:t>Test and screenshot inventory</a:t>
            </a:r>
            <a:endParaRPr lang="en-US"/>
          </a:p>
        </p:txBody>
      </p:sp>
      <p:sp>
        <p:nvSpPr>
          <p:cNvPr id="6" name="Lead"/>
          <p:cNvSpPr txBox="1"/>
          <p:nvPr/>
        </p:nvSpPr>
        <p:spPr>
          <a:xfrm>
            <a:off x="523875" y="1552575"/>
            <a:ext cx="11049000" cy="7334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>Current test outputs belong in the evidence sheet with date, checkout, and environment.</a:t>
            </a:r>
            <a:endParaRPr lang="en-US"/>
          </a:p>
        </p:txBody>
      </p:sp>
      <p:sp>
        <p:nvSpPr>
          <p:cNvPr id="7" name="Point 1"/>
          <p:cNvSpPr txBox="1"/>
          <p:nvPr/>
        </p:nvSpPr>
        <p:spPr>
          <a:xfrm>
            <a:off x="666750" y="24479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Backend: workflow, permissions, scan quarantine, audit, and reporting checks.</a:t>
            </a:r>
            <a:endParaRPr lang="en-US"/>
          </a:p>
        </p:txBody>
      </p:sp>
      <p:sp>
        <p:nvSpPr>
          <p:cNvPr id="8" name="Point 2"/>
          <p:cNvSpPr txBox="1"/>
          <p:nvPr/>
        </p:nvSpPr>
        <p:spPr>
          <a:xfrm>
            <a:off x="666750" y="30956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Frontend: TypeScript/Vite build and isolated browser workflows.</a:t>
            </a:r>
            <a:endParaRPr lang="en-US"/>
          </a:p>
        </p:txBody>
      </p:sp>
      <p:sp>
        <p:nvSpPr>
          <p:cNvPr id="9" name="Point 3"/>
          <p:cNvSpPr txBox="1"/>
          <p:nvPr/>
        </p:nvSpPr>
        <p:spPr>
          <a:xfrm>
            <a:off x="666750" y="37433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Course capture: 19 viewport screenshots plus full-page copies, all fictional.</a:t>
            </a:r>
            <a:endParaRPr lang="en-US"/>
          </a:p>
        </p:txBody>
      </p:sp>
      <p:sp>
        <p:nvSpPr>
          <p:cNvPr id="10" name="Point 4"/>
          <p:cNvSpPr txBox="1"/>
          <p:nvPr/>
        </p:nvSpPr>
        <p:spPr>
          <a:xfrm>
            <a:off x="666750" y="43910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The local checks do not substitute for a school HTTPS or restore rehearsal.</a:t>
            </a:r>
            <a:endParaRPr lang="en-US"/>
          </a:p>
        </p:txBody>
      </p:sp>
      <p:sp>
        <p:nvSpPr>
          <p:cNvPr id="11" name="Footer rule"/>
          <p:cNvSpPr txBox="1"/>
          <p:nvPr/>
        </p:nvSpPr>
        <p:spPr>
          <a:xfrm>
            <a:off x="495300" y="6334125"/>
            <a:ext cx="11163300" cy="19050"/>
          </a:xfrm>
          <a:prstGeom prst="rect">
            <a:avLst/>
          </a:prstGeom>
          <a:solidFill>
            <a:srgbClr val="D6E2E9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12" name="Footer"/>
          <p:cNvSpPr txBox="1"/>
          <p:nvPr/>
        </p:nvSpPr>
        <p:spPr>
          <a:xfrm>
            <a:off x="504825" y="6438900"/>
            <a:ext cx="962025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300" b="0">
                <a:solidFill>
                  <a:srgbClr val="486078"/>
                </a:solidFill>
                <a:latin typeface="Aptos"/>
              </a:rPr>
              <a:t>MC Accreditation Hub  ·  MIT 007  ·  Fictional local evidence unless marked otherwise</a:t>
            </a:r>
            <a:endParaRPr lang="en-US"/>
          </a:p>
        </p:txBody>
      </p:sp>
      <p:sp>
        <p:nvSpPr>
          <p:cNvPr id="13" name="Page"/>
          <p:cNvSpPr txBox="1"/>
          <p:nvPr/>
        </p:nvSpPr>
        <p:spPr>
          <a:xfrm>
            <a:off x="10572750" y="6438900"/>
            <a:ext cx="114300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300" b="0">
                <a:solidFill>
                  <a:srgbClr val="486078"/>
                </a:solidFill>
                <a:latin typeface="Aptos"/>
              </a:rPr>
              <a:t>44 / 53</a:t>
            </a:r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>
  <p:cSld name="45 Participant evaluation worksheet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 txBox="1"/>
          <p:nvPr/>
        </p:nvSpPr>
        <p:spPr>
          <a:xfrm>
            <a:off x="0" y="0"/>
            <a:ext cx="12192000" cy="123825"/>
          </a:xfrm>
          <a:prstGeom prst="rect">
            <a:avLst/>
          </a:prstGeom>
          <a:solidFill>
            <a:srgbClr val="0F9E92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3" name="Section"/>
          <p:cNvSpPr txBox="1"/>
          <p:nvPr/>
        </p:nvSpPr>
        <p:spPr>
          <a:xfrm>
            <a:off x="495300" y="323850"/>
            <a:ext cx="809625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700" b="1">
                <a:solidFill>
                  <a:srgbClr val="0F9E92"/>
                </a:solidFill>
                <a:latin typeface="Aptos"/>
              </a:rPr>
              <a:t>APPENDIX</a:t>
            </a:r>
            <a:endParaRPr lang="en-US"/>
          </a:p>
        </p:txBody>
      </p:sp>
      <p:sp>
        <p:nvSpPr>
          <p:cNvPr id="4" name="Status"/>
          <p:cNvSpPr txBox="1"/>
          <p:nvPr/>
        </p:nvSpPr>
        <p:spPr>
          <a:xfrm>
            <a:off x="8810625" y="3048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600" b="0">
                <a:solidFill>
                  <a:srgbClr val="486078"/>
                </a:solidFill>
                <a:latin typeface="Aptos"/>
              </a:rPr>
              <a:t>RESULTS PENDING</a:t>
            </a:r>
            <a:endParaRPr lang="en-US"/>
          </a:p>
        </p:txBody>
      </p:sp>
      <p:sp>
        <p:nvSpPr>
          <p:cNvPr id="5" name="Title"/>
          <p:cNvSpPr txBox="1"/>
          <p:nvPr/>
        </p:nvSpPr>
        <p:spPr>
          <a:xfrm>
            <a:off x="495300" y="781050"/>
            <a:ext cx="11144250" cy="71437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4200" b="1">
                <a:solidFill>
                  <a:srgbClr val="0B2545"/>
                </a:solidFill>
                <a:latin typeface="Aptos"/>
              </a:rPr>
              <a:t>Participant evaluation worksheet</a:t>
            </a:r>
            <a:endParaRPr lang="en-US"/>
          </a:p>
        </p:txBody>
      </p:sp>
      <p:sp>
        <p:nvSpPr>
          <p:cNvPr id="6" name="Lead"/>
          <p:cNvSpPr txBox="1"/>
          <p:nvPr/>
        </p:nvSpPr>
        <p:spPr>
          <a:xfrm>
            <a:off x="523875" y="1552575"/>
            <a:ext cx="11049000" cy="7334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>Use comparable tasks and record actual results after consent.</a:t>
            </a:r>
            <a:endParaRPr lang="en-US"/>
          </a:p>
        </p:txBody>
      </p:sp>
      <p:sp>
        <p:nvSpPr>
          <p:cNvPr id="7" name="Point 1"/>
          <p:cNvSpPr txBox="1"/>
          <p:nvPr/>
        </p:nvSpPr>
        <p:spPr>
          <a:xfrm>
            <a:off x="666750" y="24479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Participant code, role, date, and environment.</a:t>
            </a:r>
            <a:endParaRPr lang="en-US"/>
          </a:p>
        </p:txBody>
      </p:sp>
      <p:sp>
        <p:nvSpPr>
          <p:cNvPr id="8" name="Point 2"/>
          <p:cNvSpPr txBox="1"/>
          <p:nvPr/>
        </p:nvSpPr>
        <p:spPr>
          <a:xfrm>
            <a:off x="666750" y="30956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Task success, time, errors, assistance, and observed feedback.</a:t>
            </a:r>
            <a:endParaRPr lang="en-US"/>
          </a:p>
        </p:txBody>
      </p:sp>
      <p:sp>
        <p:nvSpPr>
          <p:cNvPr id="9" name="Point 3"/>
          <p:cNvSpPr txBox="1"/>
          <p:nvPr/>
        </p:nvSpPr>
        <p:spPr>
          <a:xfrm>
            <a:off x="666750" y="37433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Compare like-for-like baseline and Hub tasks; report sample size and exclusions.</a:t>
            </a:r>
            <a:endParaRPr lang="en-US"/>
          </a:p>
        </p:txBody>
      </p:sp>
      <p:sp>
        <p:nvSpPr>
          <p:cNvPr id="10" name="Point 4"/>
          <p:cNvSpPr txBox="1"/>
          <p:nvPr/>
        </p:nvSpPr>
        <p:spPr>
          <a:xfrm>
            <a:off x="666750" y="43910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No participant findings have been supplied for this deck.</a:t>
            </a:r>
            <a:endParaRPr lang="en-US"/>
          </a:p>
        </p:txBody>
      </p:sp>
      <p:sp>
        <p:nvSpPr>
          <p:cNvPr id="11" name="Footer rule"/>
          <p:cNvSpPr txBox="1"/>
          <p:nvPr/>
        </p:nvSpPr>
        <p:spPr>
          <a:xfrm>
            <a:off x="495300" y="6334125"/>
            <a:ext cx="11163300" cy="19050"/>
          </a:xfrm>
          <a:prstGeom prst="rect">
            <a:avLst/>
          </a:prstGeom>
          <a:solidFill>
            <a:srgbClr val="D6E2E9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12" name="Footer"/>
          <p:cNvSpPr txBox="1"/>
          <p:nvPr/>
        </p:nvSpPr>
        <p:spPr>
          <a:xfrm>
            <a:off x="504825" y="6438900"/>
            <a:ext cx="962025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300" b="0">
                <a:solidFill>
                  <a:srgbClr val="486078"/>
                </a:solidFill>
                <a:latin typeface="Aptos"/>
              </a:rPr>
              <a:t>MC Accreditation Hub  ·  MIT 007  ·  Fictional local evidence unless marked otherwise</a:t>
            </a:r>
            <a:endParaRPr lang="en-US"/>
          </a:p>
        </p:txBody>
      </p:sp>
      <p:sp>
        <p:nvSpPr>
          <p:cNvPr id="13" name="Page"/>
          <p:cNvSpPr txBox="1"/>
          <p:nvPr/>
        </p:nvSpPr>
        <p:spPr>
          <a:xfrm>
            <a:off x="10572750" y="6438900"/>
            <a:ext cx="114300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300" b="0">
                <a:solidFill>
                  <a:srgbClr val="486078"/>
                </a:solidFill>
                <a:latin typeface="Aptos"/>
              </a:rPr>
              <a:t>45 / 53</a:t>
            </a:r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>
  <p:cSld name="46 Deployment and recovery gates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 txBox="1"/>
          <p:nvPr/>
        </p:nvSpPr>
        <p:spPr>
          <a:xfrm>
            <a:off x="0" y="0"/>
            <a:ext cx="12192000" cy="123825"/>
          </a:xfrm>
          <a:prstGeom prst="rect">
            <a:avLst/>
          </a:prstGeom>
          <a:solidFill>
            <a:srgbClr val="0F9E92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3" name="Section"/>
          <p:cNvSpPr txBox="1"/>
          <p:nvPr/>
        </p:nvSpPr>
        <p:spPr>
          <a:xfrm>
            <a:off x="495300" y="323850"/>
            <a:ext cx="809625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700" b="1">
                <a:solidFill>
                  <a:srgbClr val="0F9E92"/>
                </a:solidFill>
                <a:latin typeface="Aptos"/>
              </a:rPr>
              <a:t>APPENDIX</a:t>
            </a:r>
            <a:endParaRPr lang="en-US"/>
          </a:p>
        </p:txBody>
      </p:sp>
      <p:sp>
        <p:nvSpPr>
          <p:cNvPr id="4" name="Status"/>
          <p:cNvSpPr txBox="1"/>
          <p:nvPr/>
        </p:nvSpPr>
        <p:spPr>
          <a:xfrm>
            <a:off x="8810625" y="3048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600" b="0">
                <a:solidFill>
                  <a:srgbClr val="486078"/>
                </a:solidFill>
                <a:latin typeface="Aptos"/>
              </a:rPr>
              <a:t>TARGET PENDING</a:t>
            </a:r>
            <a:endParaRPr lang="en-US"/>
          </a:p>
        </p:txBody>
      </p:sp>
      <p:sp>
        <p:nvSpPr>
          <p:cNvPr id="5" name="Title"/>
          <p:cNvSpPr txBox="1"/>
          <p:nvPr/>
        </p:nvSpPr>
        <p:spPr>
          <a:xfrm>
            <a:off x="495300" y="781050"/>
            <a:ext cx="11144250" cy="71437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4200" b="1">
                <a:solidFill>
                  <a:srgbClr val="0B2545"/>
                </a:solidFill>
                <a:latin typeface="Aptos"/>
              </a:rPr>
              <a:t>Deployment and recovery gates</a:t>
            </a:r>
            <a:endParaRPr lang="en-US"/>
          </a:p>
        </p:txBody>
      </p:sp>
      <p:sp>
        <p:nvSpPr>
          <p:cNvPr id="6" name="Lead"/>
          <p:cNvSpPr txBox="1"/>
          <p:nvPr/>
        </p:nvSpPr>
        <p:spPr>
          <a:xfrm>
            <a:off x="523875" y="1552575"/>
            <a:ext cx="11049000" cy="7334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>Real evidence requires more than a working local application.</a:t>
            </a:r>
            <a:endParaRPr lang="en-US"/>
          </a:p>
        </p:txBody>
      </p:sp>
      <p:sp>
        <p:nvSpPr>
          <p:cNvPr id="7" name="Point 1"/>
          <p:cNvSpPr txBox="1"/>
          <p:nvPr/>
        </p:nvSpPr>
        <p:spPr>
          <a:xfrm>
            <a:off x="666750" y="24479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D11 scanner and D12 records handling must be approved and verified.</a:t>
            </a:r>
            <a:endParaRPr lang="en-US"/>
          </a:p>
        </p:txBody>
      </p:sp>
      <p:sp>
        <p:nvSpPr>
          <p:cNvPr id="8" name="Point 2"/>
          <p:cNvSpPr txBox="1"/>
          <p:nvPr/>
        </p:nvSpPr>
        <p:spPr>
          <a:xfrm>
            <a:off x="666750" y="3095625"/>
            <a:ext cx="10858500" cy="7239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D18 network/admin boundary, D19 backup/restore, D20 capacity/operations, and D22 acceptance require School IT evidence.</a:t>
            </a:r>
            <a:endParaRPr lang="en-US"/>
          </a:p>
        </p:txBody>
      </p:sp>
      <p:sp>
        <p:nvSpPr>
          <p:cNvPr id="9" name="Point 3"/>
          <p:cNvSpPr txBox="1"/>
          <p:nvPr/>
        </p:nvSpPr>
        <p:spPr>
          <a:xfrm>
            <a:off x="666750" y="39338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A synthetic browser test or archive checksum does not establish target acceptance.</a:t>
            </a:r>
            <a:endParaRPr lang="en-US"/>
          </a:p>
        </p:txBody>
      </p:sp>
      <p:sp>
        <p:nvSpPr>
          <p:cNvPr id="10" name="Footer rule"/>
          <p:cNvSpPr txBox="1"/>
          <p:nvPr/>
        </p:nvSpPr>
        <p:spPr>
          <a:xfrm>
            <a:off x="495300" y="6334125"/>
            <a:ext cx="11163300" cy="19050"/>
          </a:xfrm>
          <a:prstGeom prst="rect">
            <a:avLst/>
          </a:prstGeom>
          <a:solidFill>
            <a:srgbClr val="D6E2E9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11" name="Footer"/>
          <p:cNvSpPr txBox="1"/>
          <p:nvPr/>
        </p:nvSpPr>
        <p:spPr>
          <a:xfrm>
            <a:off x="504825" y="6438900"/>
            <a:ext cx="962025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300" b="0">
                <a:solidFill>
                  <a:srgbClr val="486078"/>
                </a:solidFill>
                <a:latin typeface="Aptos"/>
              </a:rPr>
              <a:t>MC Accreditation Hub  ·  MIT 007  ·  Fictional local evidence unless marked otherwise</a:t>
            </a:r>
            <a:endParaRPr lang="en-US"/>
          </a:p>
        </p:txBody>
      </p:sp>
      <p:sp>
        <p:nvSpPr>
          <p:cNvPr id="12" name="Page"/>
          <p:cNvSpPr txBox="1"/>
          <p:nvPr/>
        </p:nvSpPr>
        <p:spPr>
          <a:xfrm>
            <a:off x="10572750" y="6438900"/>
            <a:ext cx="114300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300" b="0">
                <a:solidFill>
                  <a:srgbClr val="486078"/>
                </a:solidFill>
                <a:latin typeface="Aptos"/>
              </a:rPr>
              <a:t>46 / 53</a:t>
            </a:r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>
  <p:cSld name="47 Corrections to the source deck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 txBox="1"/>
          <p:nvPr/>
        </p:nvSpPr>
        <p:spPr>
          <a:xfrm>
            <a:off x="0" y="0"/>
            <a:ext cx="12192000" cy="123825"/>
          </a:xfrm>
          <a:prstGeom prst="rect">
            <a:avLst/>
          </a:prstGeom>
          <a:solidFill>
            <a:srgbClr val="0F9E92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3" name="Section"/>
          <p:cNvSpPr txBox="1"/>
          <p:nvPr/>
        </p:nvSpPr>
        <p:spPr>
          <a:xfrm>
            <a:off x="495300" y="323850"/>
            <a:ext cx="809625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700" b="1">
                <a:solidFill>
                  <a:srgbClr val="0F9E92"/>
                </a:solidFill>
                <a:latin typeface="Aptos"/>
              </a:rPr>
              <a:t>APPENDIX</a:t>
            </a:r>
            <a:endParaRPr lang="en-US"/>
          </a:p>
        </p:txBody>
      </p:sp>
      <p:sp>
        <p:nvSpPr>
          <p:cNvPr id="4" name="Status"/>
          <p:cNvSpPr txBox="1"/>
          <p:nvPr/>
        </p:nvSpPr>
        <p:spPr>
          <a:xfrm>
            <a:off x="8810625" y="3048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600" b="0">
                <a:solidFill>
                  <a:srgbClr val="486078"/>
                </a:solidFill>
                <a:latin typeface="Aptos"/>
              </a:rPr>
              <a:t>SOURCE RECONCILIATION</a:t>
            </a:r>
            <a:endParaRPr lang="en-US"/>
          </a:p>
        </p:txBody>
      </p:sp>
      <p:sp>
        <p:nvSpPr>
          <p:cNvPr id="5" name="Title"/>
          <p:cNvSpPr txBox="1"/>
          <p:nvPr/>
        </p:nvSpPr>
        <p:spPr>
          <a:xfrm>
            <a:off x="495300" y="781050"/>
            <a:ext cx="11144250" cy="71437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4200" b="1">
                <a:solidFill>
                  <a:srgbClr val="0B2545"/>
                </a:solidFill>
                <a:latin typeface="Aptos"/>
              </a:rPr>
              <a:t>Corrections to the source deck</a:t>
            </a:r>
            <a:endParaRPr lang="en-US"/>
          </a:p>
        </p:txBody>
      </p:sp>
      <p:sp>
        <p:nvSpPr>
          <p:cNvPr id="6" name="Lead"/>
          <p:cNvSpPr txBox="1"/>
          <p:nvPr/>
        </p:nvSpPr>
        <p:spPr>
          <a:xfrm>
            <a:off x="523875" y="1552575"/>
            <a:ext cx="11049000" cy="7334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>The presentation’s 11 slides supply the project concept; this course deck reports actual local behavior.</a:t>
            </a:r>
            <a:endParaRPr lang="en-US"/>
          </a:p>
        </p:txBody>
      </p:sp>
      <p:sp>
        <p:nvSpPr>
          <p:cNvPr id="7" name="Point 1"/>
          <p:cNvSpPr txBox="1"/>
          <p:nvPr/>
        </p:nvSpPr>
        <p:spPr>
          <a:xfrm>
            <a:off x="666750" y="24479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Slide 5 mentions Reject; new package Reject is unavailable pending an Academic Owner rule.</a:t>
            </a:r>
            <a:endParaRPr lang="en-US"/>
          </a:p>
        </p:txBody>
      </p:sp>
      <p:sp>
        <p:nvSpPr>
          <p:cNvPr id="8" name="Point 2"/>
          <p:cNvSpPr txBox="1"/>
          <p:nvPr/>
        </p:nvSpPr>
        <p:spPr>
          <a:xfrm>
            <a:off x="666750" y="3095625"/>
            <a:ext cx="10858500" cy="7239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Slide 6 says Coordinator review; the implementation separates Reviewer approval and Coordinator certification.</a:t>
            </a:r>
            <a:endParaRPr lang="en-US"/>
          </a:p>
        </p:txBody>
      </p:sp>
      <p:sp>
        <p:nvSpPr>
          <p:cNvPr id="9" name="Point 3"/>
          <p:cNvSpPr txBox="1"/>
          <p:nvPr/>
        </p:nvSpPr>
        <p:spPr>
          <a:xfrm>
            <a:off x="666750" y="39338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Slide 7 shows 87% with 94 of 120 complete; that fraction is 78.3%.</a:t>
            </a:r>
            <a:endParaRPr lang="en-US"/>
          </a:p>
        </p:txBody>
      </p:sp>
      <p:sp>
        <p:nvSpPr>
          <p:cNvPr id="10" name="Point 4"/>
          <p:cNvSpPr txBox="1"/>
          <p:nvPr/>
        </p:nvSpPr>
        <p:spPr>
          <a:xfrm>
            <a:off x="666750" y="45815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Slide 4 describes private cloud; school infrastructure has not been verified.</a:t>
            </a:r>
            <a:endParaRPr lang="en-US"/>
          </a:p>
        </p:txBody>
      </p:sp>
      <p:sp>
        <p:nvSpPr>
          <p:cNvPr id="11" name="Footer rule"/>
          <p:cNvSpPr txBox="1"/>
          <p:nvPr/>
        </p:nvSpPr>
        <p:spPr>
          <a:xfrm>
            <a:off x="495300" y="6334125"/>
            <a:ext cx="11163300" cy="19050"/>
          </a:xfrm>
          <a:prstGeom prst="rect">
            <a:avLst/>
          </a:prstGeom>
          <a:solidFill>
            <a:srgbClr val="D6E2E9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12" name="Footer"/>
          <p:cNvSpPr txBox="1"/>
          <p:nvPr/>
        </p:nvSpPr>
        <p:spPr>
          <a:xfrm>
            <a:off x="504825" y="6438900"/>
            <a:ext cx="962025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300" b="0">
                <a:solidFill>
                  <a:srgbClr val="486078"/>
                </a:solidFill>
                <a:latin typeface="Aptos"/>
              </a:rPr>
              <a:t>MC Accreditation Hub  ·  MIT 007  ·  Fictional local evidence unless marked otherwise</a:t>
            </a:r>
            <a:endParaRPr lang="en-US"/>
          </a:p>
        </p:txBody>
      </p:sp>
      <p:sp>
        <p:nvSpPr>
          <p:cNvPr id="13" name="Page"/>
          <p:cNvSpPr txBox="1"/>
          <p:nvPr/>
        </p:nvSpPr>
        <p:spPr>
          <a:xfrm>
            <a:off x="10572750" y="6438900"/>
            <a:ext cx="114300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300" b="0">
                <a:solidFill>
                  <a:srgbClr val="486078"/>
                </a:solidFill>
                <a:latin typeface="Aptos"/>
              </a:rPr>
              <a:t>47 / 53</a:t>
            </a:r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>
  <p:cSld name="48 Decisions D01–D0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 txBox="1"/>
          <p:nvPr/>
        </p:nvSpPr>
        <p:spPr>
          <a:xfrm>
            <a:off x="0" y="0"/>
            <a:ext cx="12192000" cy="123825"/>
          </a:xfrm>
          <a:prstGeom prst="rect">
            <a:avLst/>
          </a:prstGeom>
          <a:solidFill>
            <a:srgbClr val="0F9E92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3" name="Section"/>
          <p:cNvSpPr txBox="1"/>
          <p:nvPr/>
        </p:nvSpPr>
        <p:spPr>
          <a:xfrm>
            <a:off x="495300" y="323850"/>
            <a:ext cx="809625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700" b="1">
                <a:solidFill>
                  <a:srgbClr val="0F9E92"/>
                </a:solidFill>
                <a:latin typeface="Aptos"/>
              </a:rPr>
              <a:t>APPENDIX · DECISION REGISTER</a:t>
            </a:r>
            <a:endParaRPr lang="en-US"/>
          </a:p>
        </p:txBody>
      </p:sp>
      <p:sp>
        <p:nvSpPr>
          <p:cNvPr id="4" name="Status"/>
          <p:cNvSpPr txBox="1"/>
          <p:nvPr/>
        </p:nvSpPr>
        <p:spPr>
          <a:xfrm>
            <a:off x="8810625" y="3048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600" b="0">
                <a:solidFill>
                  <a:srgbClr val="486078"/>
                </a:solidFill>
                <a:latin typeface="Aptos"/>
              </a:rPr>
              <a:t>APPROVAL PENDING</a:t>
            </a:r>
            <a:endParaRPr lang="en-US"/>
          </a:p>
        </p:txBody>
      </p:sp>
      <p:sp>
        <p:nvSpPr>
          <p:cNvPr id="5" name="Title"/>
          <p:cNvSpPr txBox="1"/>
          <p:nvPr/>
        </p:nvSpPr>
        <p:spPr>
          <a:xfrm>
            <a:off x="495300" y="781050"/>
            <a:ext cx="11144250" cy="71437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4200" b="1">
                <a:solidFill>
                  <a:srgbClr val="0B2545"/>
                </a:solidFill>
                <a:latin typeface="Aptos"/>
              </a:rPr>
              <a:t>Decisions D01–D05</a:t>
            </a:r>
            <a:endParaRPr lang="en-US"/>
          </a:p>
        </p:txBody>
      </p:sp>
      <p:sp>
        <p:nvSpPr>
          <p:cNvPr id="6" name="Lead"/>
          <p:cNvSpPr txBox="1"/>
          <p:nvPr/>
        </p:nvSpPr>
        <p:spPr>
          <a:xfrm>
            <a:off x="523875" y="1552575"/>
            <a:ext cx="11049000" cy="7334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>The selected option remains provisional until every listed owner records approval evidence.</a:t>
            </a:r>
            <a:endParaRPr lang="en-US"/>
          </a:p>
        </p:txBody>
      </p:sp>
      <p:sp>
        <p:nvSpPr>
          <p:cNvPr id="7" name="D01 code"/>
          <p:cNvSpPr txBox="1"/>
          <p:nvPr/>
        </p:nvSpPr>
        <p:spPr>
          <a:xfrm>
            <a:off x="552450" y="2333625"/>
            <a:ext cx="8382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1">
                <a:solidFill>
                  <a:srgbClr val="0F9E92"/>
                </a:solidFill>
                <a:latin typeface="Aptos"/>
              </a:rPr>
              <a:t>D01</a:t>
            </a:r>
            <a:endParaRPr lang="en-US"/>
          </a:p>
        </p:txBody>
      </p:sp>
      <p:sp>
        <p:nvSpPr>
          <p:cNvPr id="8" name="D01 topic"/>
          <p:cNvSpPr txBox="1"/>
          <p:nvPr/>
        </p:nvSpPr>
        <p:spPr>
          <a:xfrm>
            <a:off x="1428750" y="2333625"/>
            <a:ext cx="41910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1">
                <a:solidFill>
                  <a:srgbClr val="0B2545"/>
                </a:solidFill>
                <a:latin typeface="Aptos"/>
              </a:rPr>
              <a:t>Cycle-wide authority</a:t>
            </a:r>
            <a:endParaRPr lang="en-US"/>
          </a:p>
        </p:txBody>
      </p:sp>
      <p:sp>
        <p:nvSpPr>
          <p:cNvPr id="9" name="D01 state"/>
          <p:cNvSpPr txBox="1"/>
          <p:nvPr/>
        </p:nvSpPr>
        <p:spPr>
          <a:xfrm>
            <a:off x="5762625" y="2333625"/>
            <a:ext cx="26670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800" b="0">
                <a:solidFill>
                  <a:srgbClr val="486078"/>
                </a:solidFill>
                <a:latin typeface="Aptos"/>
              </a:rPr>
              <a:t>Provisional A</a:t>
            </a:r>
            <a:endParaRPr lang="en-US"/>
          </a:p>
        </p:txBody>
      </p:sp>
      <p:sp>
        <p:nvSpPr>
          <p:cNvPr id="10" name="D01 owners"/>
          <p:cNvSpPr txBox="1"/>
          <p:nvPr/>
        </p:nvSpPr>
        <p:spPr>
          <a:xfrm>
            <a:off x="8667750" y="2333625"/>
            <a:ext cx="30480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00" b="0">
                <a:solidFill>
                  <a:srgbClr val="486078"/>
                </a:solidFill>
                <a:latin typeface="Aptos"/>
              </a:rPr>
              <a:t>Academic Owner; Project Owner</a:t>
            </a:r>
            <a:endParaRPr lang="en-US"/>
          </a:p>
        </p:txBody>
      </p:sp>
      <p:sp>
        <p:nvSpPr>
          <p:cNvPr id="11" name="D01 gate"/>
          <p:cNvSpPr txBox="1"/>
          <p:nvPr/>
        </p:nvSpPr>
        <p:spPr>
          <a:xfrm>
            <a:off x="1428750" y="2686050"/>
            <a:ext cx="10048875" cy="4000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700" b="0">
                <a:solidFill>
                  <a:srgbClr val="14263D"/>
                </a:solidFill>
                <a:latin typeface="Aptos"/>
              </a:rPr>
              <a:t>Approve whole-cycle delegation and scope. Pilot: lifecycle authority gate.</a:t>
            </a:r>
            <a:endParaRPr lang="en-US"/>
          </a:p>
        </p:txBody>
      </p:sp>
      <p:sp>
        <p:nvSpPr>
          <p:cNvPr id="12" name="D02 code"/>
          <p:cNvSpPr txBox="1"/>
          <p:nvPr/>
        </p:nvSpPr>
        <p:spPr>
          <a:xfrm>
            <a:off x="552450" y="3086100"/>
            <a:ext cx="8382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1">
                <a:solidFill>
                  <a:srgbClr val="0F9E92"/>
                </a:solidFill>
                <a:latin typeface="Aptos"/>
              </a:rPr>
              <a:t>D02</a:t>
            </a:r>
            <a:endParaRPr lang="en-US"/>
          </a:p>
        </p:txBody>
      </p:sp>
      <p:sp>
        <p:nvSpPr>
          <p:cNvPr id="13" name="D02 topic"/>
          <p:cNvSpPr txBox="1"/>
          <p:nvPr/>
        </p:nvSpPr>
        <p:spPr>
          <a:xfrm>
            <a:off x="1428750" y="3086100"/>
            <a:ext cx="41910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1">
                <a:solidFill>
                  <a:srgbClr val="0B2545"/>
                </a:solidFill>
                <a:latin typeface="Aptos"/>
              </a:rPr>
              <a:t>Evidence visibility</a:t>
            </a:r>
            <a:endParaRPr lang="en-US"/>
          </a:p>
        </p:txBody>
      </p:sp>
      <p:sp>
        <p:nvSpPr>
          <p:cNvPr id="14" name="D02 state"/>
          <p:cNvSpPr txBox="1"/>
          <p:nvPr/>
        </p:nvSpPr>
        <p:spPr>
          <a:xfrm>
            <a:off x="5762625" y="3086100"/>
            <a:ext cx="26670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800" b="0">
                <a:solidFill>
                  <a:srgbClr val="486078"/>
                </a:solidFill>
                <a:latin typeface="Aptos"/>
              </a:rPr>
              <a:t>Provisional A</a:t>
            </a:r>
            <a:endParaRPr lang="en-US"/>
          </a:p>
        </p:txBody>
      </p:sp>
      <p:sp>
        <p:nvSpPr>
          <p:cNvPr id="15" name="D02 owners"/>
          <p:cNvSpPr txBox="1"/>
          <p:nvPr/>
        </p:nvSpPr>
        <p:spPr>
          <a:xfrm>
            <a:off x="8667750" y="3086100"/>
            <a:ext cx="30480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00" b="0">
                <a:solidFill>
                  <a:srgbClr val="486078"/>
                </a:solidFill>
                <a:latin typeface="Aptos"/>
              </a:rPr>
              <a:t>Security/Records; Academic Owner</a:t>
            </a:r>
            <a:endParaRPr lang="en-US"/>
          </a:p>
        </p:txBody>
      </p:sp>
      <p:sp>
        <p:nvSpPr>
          <p:cNvPr id="16" name="D02 gate"/>
          <p:cNvSpPr txBox="1"/>
          <p:nvPr/>
        </p:nvSpPr>
        <p:spPr>
          <a:xfrm>
            <a:off x="1428750" y="3438525"/>
            <a:ext cx="10048875" cy="4000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700" b="0">
                <a:solidFill>
                  <a:srgbClr val="14263D"/>
                </a:solidFill>
                <a:latin typeface="Aptos"/>
              </a:rPr>
              <a:t>Approve draft/history/file boundaries. Real evidence: visibility gate.</a:t>
            </a:r>
            <a:endParaRPr lang="en-US"/>
          </a:p>
        </p:txBody>
      </p:sp>
      <p:sp>
        <p:nvSpPr>
          <p:cNvPr id="17" name="D03 code"/>
          <p:cNvSpPr txBox="1"/>
          <p:nvPr/>
        </p:nvSpPr>
        <p:spPr>
          <a:xfrm>
            <a:off x="552450" y="3838575"/>
            <a:ext cx="8382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1">
                <a:solidFill>
                  <a:srgbClr val="0F9E92"/>
                </a:solidFill>
                <a:latin typeface="Aptos"/>
              </a:rPr>
              <a:t>D03</a:t>
            </a:r>
            <a:endParaRPr lang="en-US"/>
          </a:p>
        </p:txBody>
      </p:sp>
      <p:sp>
        <p:nvSpPr>
          <p:cNvPr id="18" name="D03 topic"/>
          <p:cNvSpPr txBox="1"/>
          <p:nvPr/>
        </p:nvSpPr>
        <p:spPr>
          <a:xfrm>
            <a:off x="1428750" y="3838575"/>
            <a:ext cx="41910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1">
                <a:solidFill>
                  <a:srgbClr val="0B2545"/>
                </a:solidFill>
                <a:latin typeface="Aptos"/>
              </a:rPr>
              <a:t>Sharing boundary</a:t>
            </a:r>
            <a:endParaRPr lang="en-US"/>
          </a:p>
        </p:txBody>
      </p:sp>
      <p:sp>
        <p:nvSpPr>
          <p:cNvPr id="19" name="D03 state"/>
          <p:cNvSpPr txBox="1"/>
          <p:nvPr/>
        </p:nvSpPr>
        <p:spPr>
          <a:xfrm>
            <a:off x="5762625" y="3838575"/>
            <a:ext cx="26670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800" b="0">
                <a:solidFill>
                  <a:srgbClr val="486078"/>
                </a:solidFill>
                <a:latin typeface="Aptos"/>
              </a:rPr>
              <a:t>Provisional A</a:t>
            </a:r>
            <a:endParaRPr lang="en-US"/>
          </a:p>
        </p:txBody>
      </p:sp>
      <p:sp>
        <p:nvSpPr>
          <p:cNvPr id="20" name="D03 owners"/>
          <p:cNvSpPr txBox="1"/>
          <p:nvPr/>
        </p:nvSpPr>
        <p:spPr>
          <a:xfrm>
            <a:off x="8667750" y="3838575"/>
            <a:ext cx="30480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00" b="0">
                <a:solidFill>
                  <a:srgbClr val="486078"/>
                </a:solidFill>
                <a:latin typeface="Aptos"/>
              </a:rPr>
              <a:t>Security/Records; Academic Owner</a:t>
            </a:r>
            <a:endParaRPr lang="en-US"/>
          </a:p>
        </p:txBody>
      </p:sp>
      <p:sp>
        <p:nvSpPr>
          <p:cNvPr id="21" name="D03 gate"/>
          <p:cNvSpPr txBox="1"/>
          <p:nvPr/>
        </p:nvSpPr>
        <p:spPr>
          <a:xfrm>
            <a:off x="1428750" y="4191000"/>
            <a:ext cx="10048875" cy="4000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700" b="0">
                <a:solidFill>
                  <a:srgbClr val="14263D"/>
                </a:solidFill>
                <a:latin typeface="Aptos"/>
              </a:rPr>
              <a:t>Approve cross-scope and legacy retrieval. Real evidence: sharing/search gate.</a:t>
            </a:r>
            <a:endParaRPr lang="en-US"/>
          </a:p>
        </p:txBody>
      </p:sp>
      <p:sp>
        <p:nvSpPr>
          <p:cNvPr id="22" name="D04 code"/>
          <p:cNvSpPr txBox="1"/>
          <p:nvPr/>
        </p:nvSpPr>
        <p:spPr>
          <a:xfrm>
            <a:off x="552450" y="4591050"/>
            <a:ext cx="8382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1">
                <a:solidFill>
                  <a:srgbClr val="0F9E92"/>
                </a:solidFill>
                <a:latin typeface="Aptos"/>
              </a:rPr>
              <a:t>D04</a:t>
            </a:r>
            <a:endParaRPr lang="en-US"/>
          </a:p>
        </p:txBody>
      </p:sp>
      <p:sp>
        <p:nvSpPr>
          <p:cNvPr id="23" name="D04 topic"/>
          <p:cNvSpPr txBox="1"/>
          <p:nvPr/>
        </p:nvSpPr>
        <p:spPr>
          <a:xfrm>
            <a:off x="1428750" y="4591050"/>
            <a:ext cx="41910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1">
                <a:solidFill>
                  <a:srgbClr val="0B2545"/>
                </a:solidFill>
                <a:latin typeface="Aptos"/>
              </a:rPr>
              <a:t>Assignments/stewards</a:t>
            </a:r>
            <a:endParaRPr lang="en-US"/>
          </a:p>
        </p:txBody>
      </p:sp>
      <p:sp>
        <p:nvSpPr>
          <p:cNvPr id="24" name="D04 state"/>
          <p:cNvSpPr txBox="1"/>
          <p:nvPr/>
        </p:nvSpPr>
        <p:spPr>
          <a:xfrm>
            <a:off x="5762625" y="4591050"/>
            <a:ext cx="26670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800" b="0">
                <a:solidFill>
                  <a:srgbClr val="486078"/>
                </a:solidFill>
                <a:latin typeface="Aptos"/>
              </a:rPr>
              <a:t>Provisional A</a:t>
            </a:r>
            <a:endParaRPr lang="en-US"/>
          </a:p>
        </p:txBody>
      </p:sp>
      <p:sp>
        <p:nvSpPr>
          <p:cNvPr id="25" name="D04 owners"/>
          <p:cNvSpPr txBox="1"/>
          <p:nvPr/>
        </p:nvSpPr>
        <p:spPr>
          <a:xfrm>
            <a:off x="8667750" y="4591050"/>
            <a:ext cx="30480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00" b="0">
                <a:solidFill>
                  <a:srgbClr val="486078"/>
                </a:solidFill>
                <a:latin typeface="Aptos"/>
              </a:rPr>
              <a:t>Academic Owner; Project Owner</a:t>
            </a:r>
            <a:endParaRPr lang="en-US"/>
          </a:p>
        </p:txBody>
      </p:sp>
      <p:sp>
        <p:nvSpPr>
          <p:cNvPr id="26" name="D04 gate"/>
          <p:cNvSpPr txBox="1"/>
          <p:nvPr/>
        </p:nvSpPr>
        <p:spPr>
          <a:xfrm>
            <a:off x="1428750" y="4943475"/>
            <a:ext cx="10048875" cy="4000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700" b="0">
                <a:solidFill>
                  <a:srgbClr val="14263D"/>
                </a:solidFill>
                <a:latin typeface="Aptos"/>
              </a:rPr>
              <a:t>Approve contributor and exception model. Real evidence: assignment gate.</a:t>
            </a:r>
            <a:endParaRPr lang="en-US"/>
          </a:p>
        </p:txBody>
      </p:sp>
      <p:sp>
        <p:nvSpPr>
          <p:cNvPr id="27" name="D05 code"/>
          <p:cNvSpPr txBox="1"/>
          <p:nvPr/>
        </p:nvSpPr>
        <p:spPr>
          <a:xfrm>
            <a:off x="552450" y="5343525"/>
            <a:ext cx="8382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1">
                <a:solidFill>
                  <a:srgbClr val="0F9E92"/>
                </a:solidFill>
                <a:latin typeface="Aptos"/>
              </a:rPr>
              <a:t>D05</a:t>
            </a:r>
            <a:endParaRPr lang="en-US"/>
          </a:p>
        </p:txBody>
      </p:sp>
      <p:sp>
        <p:nvSpPr>
          <p:cNvPr id="28" name="D05 topic"/>
          <p:cNvSpPr txBox="1"/>
          <p:nvPr/>
        </p:nvSpPr>
        <p:spPr>
          <a:xfrm>
            <a:off x="1428750" y="5343525"/>
            <a:ext cx="41910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1">
                <a:solidFill>
                  <a:srgbClr val="0B2545"/>
                </a:solidFill>
                <a:latin typeface="Aptos"/>
              </a:rPr>
              <a:t>Pinned certification</a:t>
            </a:r>
            <a:endParaRPr lang="en-US"/>
          </a:p>
        </p:txBody>
      </p:sp>
      <p:sp>
        <p:nvSpPr>
          <p:cNvPr id="29" name="D05 state"/>
          <p:cNvSpPr txBox="1"/>
          <p:nvPr/>
        </p:nvSpPr>
        <p:spPr>
          <a:xfrm>
            <a:off x="5762625" y="5343525"/>
            <a:ext cx="26670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800" b="0">
                <a:solidFill>
                  <a:srgbClr val="486078"/>
                </a:solidFill>
                <a:latin typeface="Aptos"/>
              </a:rPr>
              <a:t>Provisional A</a:t>
            </a:r>
            <a:endParaRPr lang="en-US"/>
          </a:p>
        </p:txBody>
      </p:sp>
      <p:sp>
        <p:nvSpPr>
          <p:cNvPr id="30" name="D05 owners"/>
          <p:cNvSpPr txBox="1"/>
          <p:nvPr/>
        </p:nvSpPr>
        <p:spPr>
          <a:xfrm>
            <a:off x="8667750" y="5343525"/>
            <a:ext cx="30480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00" b="0">
                <a:solidFill>
                  <a:srgbClr val="486078"/>
                </a:solidFill>
                <a:latin typeface="Aptos"/>
              </a:rPr>
              <a:t>Academic Owner; Security/Records</a:t>
            </a:r>
            <a:endParaRPr lang="en-US"/>
          </a:p>
        </p:txBody>
      </p:sp>
      <p:sp>
        <p:nvSpPr>
          <p:cNvPr id="31" name="D05 gate"/>
          <p:cNvSpPr txBox="1"/>
          <p:nvPr/>
        </p:nvSpPr>
        <p:spPr>
          <a:xfrm>
            <a:off x="1428750" y="5695950"/>
            <a:ext cx="10048875" cy="4000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700" b="0">
                <a:solidFill>
                  <a:srgbClr val="14263D"/>
                </a:solidFill>
                <a:latin typeface="Aptos"/>
              </a:rPr>
              <a:t>Approve exact support and legacy treatment. Pilot: certification support gate.</a:t>
            </a:r>
            <a:endParaRPr lang="en-US"/>
          </a:p>
        </p:txBody>
      </p:sp>
      <p:sp>
        <p:nvSpPr>
          <p:cNvPr id="32" name="Footer rule"/>
          <p:cNvSpPr txBox="1"/>
          <p:nvPr/>
        </p:nvSpPr>
        <p:spPr>
          <a:xfrm>
            <a:off x="495300" y="6334125"/>
            <a:ext cx="11163300" cy="19050"/>
          </a:xfrm>
          <a:prstGeom prst="rect">
            <a:avLst/>
          </a:prstGeom>
          <a:solidFill>
            <a:srgbClr val="D6E2E9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33" name="Footer"/>
          <p:cNvSpPr txBox="1"/>
          <p:nvPr/>
        </p:nvSpPr>
        <p:spPr>
          <a:xfrm>
            <a:off x="504825" y="6438900"/>
            <a:ext cx="962025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300" b="0">
                <a:solidFill>
                  <a:srgbClr val="486078"/>
                </a:solidFill>
                <a:latin typeface="Aptos"/>
              </a:rPr>
              <a:t>MC Accreditation Hub  ·  MIT 007  ·  Fictional local evidence unless marked otherwise</a:t>
            </a:r>
            <a:endParaRPr lang="en-US"/>
          </a:p>
        </p:txBody>
      </p:sp>
      <p:sp>
        <p:nvSpPr>
          <p:cNvPr id="34" name="Page"/>
          <p:cNvSpPr txBox="1"/>
          <p:nvPr/>
        </p:nvSpPr>
        <p:spPr>
          <a:xfrm>
            <a:off x="10572750" y="6438900"/>
            <a:ext cx="114300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300" b="0">
                <a:solidFill>
                  <a:srgbClr val="486078"/>
                </a:solidFill>
                <a:latin typeface="Aptos"/>
              </a:rPr>
              <a:t>48 / 53</a:t>
            </a:r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>
  <p:cSld name="49 Decisions D06–D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 txBox="1"/>
          <p:nvPr/>
        </p:nvSpPr>
        <p:spPr>
          <a:xfrm>
            <a:off x="0" y="0"/>
            <a:ext cx="12192000" cy="123825"/>
          </a:xfrm>
          <a:prstGeom prst="rect">
            <a:avLst/>
          </a:prstGeom>
          <a:solidFill>
            <a:srgbClr val="0F9E92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3" name="Section"/>
          <p:cNvSpPr txBox="1"/>
          <p:nvPr/>
        </p:nvSpPr>
        <p:spPr>
          <a:xfrm>
            <a:off x="495300" y="323850"/>
            <a:ext cx="809625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700" b="1">
                <a:solidFill>
                  <a:srgbClr val="0F9E92"/>
                </a:solidFill>
                <a:latin typeface="Aptos"/>
              </a:rPr>
              <a:t>APPENDIX · DECISION REGISTER</a:t>
            </a:r>
            <a:endParaRPr lang="en-US"/>
          </a:p>
        </p:txBody>
      </p:sp>
      <p:sp>
        <p:nvSpPr>
          <p:cNvPr id="4" name="Status"/>
          <p:cNvSpPr txBox="1"/>
          <p:nvPr/>
        </p:nvSpPr>
        <p:spPr>
          <a:xfrm>
            <a:off x="8810625" y="3048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600" b="0">
                <a:solidFill>
                  <a:srgbClr val="486078"/>
                </a:solidFill>
                <a:latin typeface="Aptos"/>
              </a:rPr>
              <a:t>APPROVAL PENDING</a:t>
            </a:r>
            <a:endParaRPr lang="en-US"/>
          </a:p>
        </p:txBody>
      </p:sp>
      <p:sp>
        <p:nvSpPr>
          <p:cNvPr id="5" name="Title"/>
          <p:cNvSpPr txBox="1"/>
          <p:nvPr/>
        </p:nvSpPr>
        <p:spPr>
          <a:xfrm>
            <a:off x="495300" y="781050"/>
            <a:ext cx="11144250" cy="71437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4200" b="1">
                <a:solidFill>
                  <a:srgbClr val="0B2545"/>
                </a:solidFill>
                <a:latin typeface="Aptos"/>
              </a:rPr>
              <a:t>Decisions D06–D10</a:t>
            </a:r>
            <a:endParaRPr lang="en-US"/>
          </a:p>
        </p:txBody>
      </p:sp>
      <p:sp>
        <p:nvSpPr>
          <p:cNvPr id="6" name="Lead"/>
          <p:cNvSpPr txBox="1"/>
          <p:nvPr/>
        </p:nvSpPr>
        <p:spPr>
          <a:xfrm>
            <a:off x="523875" y="1552575"/>
            <a:ext cx="11049000" cy="7334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>The selected option remains provisional until every listed owner records approval evidence.</a:t>
            </a:r>
            <a:endParaRPr lang="en-US"/>
          </a:p>
        </p:txBody>
      </p:sp>
      <p:sp>
        <p:nvSpPr>
          <p:cNvPr id="7" name="D06 code"/>
          <p:cNvSpPr txBox="1"/>
          <p:nvPr/>
        </p:nvSpPr>
        <p:spPr>
          <a:xfrm>
            <a:off x="552450" y="2333625"/>
            <a:ext cx="8382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1">
                <a:solidFill>
                  <a:srgbClr val="0F9E92"/>
                </a:solidFill>
                <a:latin typeface="Aptos"/>
              </a:rPr>
              <a:t>D06</a:t>
            </a:r>
            <a:endParaRPr lang="en-US"/>
          </a:p>
        </p:txBody>
      </p:sp>
      <p:sp>
        <p:nvSpPr>
          <p:cNvPr id="8" name="D06 topic"/>
          <p:cNvSpPr txBox="1"/>
          <p:nvPr/>
        </p:nvSpPr>
        <p:spPr>
          <a:xfrm>
            <a:off x="1428750" y="2333625"/>
            <a:ext cx="41910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1">
                <a:solidFill>
                  <a:srgbClr val="0B2545"/>
                </a:solidFill>
                <a:latin typeface="Aptos"/>
              </a:rPr>
              <a:t>Criteria/applicability</a:t>
            </a:r>
            <a:endParaRPr lang="en-US"/>
          </a:p>
        </p:txBody>
      </p:sp>
      <p:sp>
        <p:nvSpPr>
          <p:cNvPr id="9" name="D06 state"/>
          <p:cNvSpPr txBox="1"/>
          <p:nvPr/>
        </p:nvSpPr>
        <p:spPr>
          <a:xfrm>
            <a:off x="5762625" y="2333625"/>
            <a:ext cx="26670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800" b="0">
                <a:solidFill>
                  <a:srgbClr val="486078"/>
                </a:solidFill>
                <a:latin typeface="Aptos"/>
              </a:rPr>
              <a:t>Provisional A</a:t>
            </a:r>
            <a:endParaRPr lang="en-US"/>
          </a:p>
        </p:txBody>
      </p:sp>
      <p:sp>
        <p:nvSpPr>
          <p:cNvPr id="10" name="D06 owners"/>
          <p:cNvSpPr txBox="1"/>
          <p:nvPr/>
        </p:nvSpPr>
        <p:spPr>
          <a:xfrm>
            <a:off x="8667750" y="2333625"/>
            <a:ext cx="30480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00" b="0">
                <a:solidFill>
                  <a:srgbClr val="486078"/>
                </a:solidFill>
                <a:latin typeface="Aptos"/>
              </a:rPr>
              <a:t>Academic Owner; Security/Records</a:t>
            </a:r>
            <a:endParaRPr lang="en-US"/>
          </a:p>
        </p:txBody>
      </p:sp>
      <p:sp>
        <p:nvSpPr>
          <p:cNvPr id="11" name="D06 gate"/>
          <p:cNvSpPr txBox="1"/>
          <p:nvPr/>
        </p:nvSpPr>
        <p:spPr>
          <a:xfrm>
            <a:off x="1428750" y="2686050"/>
            <a:ext cx="10048875" cy="4000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700" b="0">
                <a:solidFill>
                  <a:srgbClr val="14263D"/>
                </a:solidFill>
                <a:latin typeface="Aptos"/>
              </a:rPr>
              <a:t>Approve reopen and decision history. Pilot: criteria history gate.</a:t>
            </a:r>
            <a:endParaRPr lang="en-US"/>
          </a:p>
        </p:txBody>
      </p:sp>
      <p:sp>
        <p:nvSpPr>
          <p:cNvPr id="12" name="D07 code"/>
          <p:cNvSpPr txBox="1"/>
          <p:nvPr/>
        </p:nvSpPr>
        <p:spPr>
          <a:xfrm>
            <a:off x="552450" y="3086100"/>
            <a:ext cx="8382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1">
                <a:solidFill>
                  <a:srgbClr val="0F9E92"/>
                </a:solidFill>
                <a:latin typeface="Aptos"/>
              </a:rPr>
              <a:t>D07</a:t>
            </a:r>
            <a:endParaRPr lang="en-US"/>
          </a:p>
        </p:txBody>
      </p:sp>
      <p:sp>
        <p:nvSpPr>
          <p:cNvPr id="13" name="D07 topic"/>
          <p:cNvSpPr txBox="1"/>
          <p:nvPr/>
        </p:nvSpPr>
        <p:spPr>
          <a:xfrm>
            <a:off x="1428750" y="3086100"/>
            <a:ext cx="41910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1">
                <a:solidFill>
                  <a:srgbClr val="0B2545"/>
                </a:solidFill>
                <a:latin typeface="Aptos"/>
              </a:rPr>
              <a:t>Package workflow</a:t>
            </a:r>
            <a:endParaRPr lang="en-US"/>
          </a:p>
        </p:txBody>
      </p:sp>
      <p:sp>
        <p:nvSpPr>
          <p:cNvPr id="14" name="D07 state"/>
          <p:cNvSpPr txBox="1"/>
          <p:nvPr/>
        </p:nvSpPr>
        <p:spPr>
          <a:xfrm>
            <a:off x="5762625" y="3086100"/>
            <a:ext cx="26670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800" b="0">
                <a:solidFill>
                  <a:srgbClr val="486078"/>
                </a:solidFill>
                <a:latin typeface="Aptos"/>
              </a:rPr>
              <a:t>Provisional A</a:t>
            </a:r>
            <a:endParaRPr lang="en-US"/>
          </a:p>
        </p:txBody>
      </p:sp>
      <p:sp>
        <p:nvSpPr>
          <p:cNvPr id="15" name="D07 owners"/>
          <p:cNvSpPr txBox="1"/>
          <p:nvPr/>
        </p:nvSpPr>
        <p:spPr>
          <a:xfrm>
            <a:off x="8667750" y="3086100"/>
            <a:ext cx="30480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00" b="0">
                <a:solidFill>
                  <a:srgbClr val="486078"/>
                </a:solidFill>
                <a:latin typeface="Aptos"/>
              </a:rPr>
              <a:t>Academic Owner</a:t>
            </a:r>
            <a:endParaRPr lang="en-US"/>
          </a:p>
        </p:txBody>
      </p:sp>
      <p:sp>
        <p:nvSpPr>
          <p:cNvPr id="16" name="D07 gate"/>
          <p:cNvSpPr txBox="1"/>
          <p:nvPr/>
        </p:nvSpPr>
        <p:spPr>
          <a:xfrm>
            <a:off x="1428750" y="3438525"/>
            <a:ext cx="10048875" cy="4000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700" b="0">
                <a:solidFill>
                  <a:srgbClr val="14263D"/>
                </a:solidFill>
                <a:latin typeface="Aptos"/>
              </a:rPr>
              <a:t>Approve states and separate Reject rule. Pilot: package/review gate.</a:t>
            </a:r>
            <a:endParaRPr lang="en-US"/>
          </a:p>
        </p:txBody>
      </p:sp>
      <p:sp>
        <p:nvSpPr>
          <p:cNvPr id="17" name="D08 code"/>
          <p:cNvSpPr txBox="1"/>
          <p:nvPr/>
        </p:nvSpPr>
        <p:spPr>
          <a:xfrm>
            <a:off x="552450" y="3838575"/>
            <a:ext cx="8382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1">
                <a:solidFill>
                  <a:srgbClr val="0F9E92"/>
                </a:solidFill>
                <a:latin typeface="Aptos"/>
              </a:rPr>
              <a:t>D08</a:t>
            </a:r>
            <a:endParaRPr lang="en-US"/>
          </a:p>
        </p:txBody>
      </p:sp>
      <p:sp>
        <p:nvSpPr>
          <p:cNvPr id="18" name="D08 topic"/>
          <p:cNvSpPr txBox="1"/>
          <p:nvPr/>
        </p:nvSpPr>
        <p:spPr>
          <a:xfrm>
            <a:off x="1428750" y="3838575"/>
            <a:ext cx="41910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1">
                <a:solidFill>
                  <a:srgbClr val="0B2545"/>
                </a:solidFill>
                <a:latin typeface="Aptos"/>
              </a:rPr>
              <a:t>Validity/expiry</a:t>
            </a:r>
            <a:endParaRPr lang="en-US"/>
          </a:p>
        </p:txBody>
      </p:sp>
      <p:sp>
        <p:nvSpPr>
          <p:cNvPr id="19" name="D08 state"/>
          <p:cNvSpPr txBox="1"/>
          <p:nvPr/>
        </p:nvSpPr>
        <p:spPr>
          <a:xfrm>
            <a:off x="5762625" y="3838575"/>
            <a:ext cx="26670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800" b="0">
                <a:solidFill>
                  <a:srgbClr val="486078"/>
                </a:solidFill>
                <a:latin typeface="Aptos"/>
              </a:rPr>
              <a:t>Pending</a:t>
            </a:r>
            <a:endParaRPr lang="en-US"/>
          </a:p>
        </p:txBody>
      </p:sp>
      <p:sp>
        <p:nvSpPr>
          <p:cNvPr id="20" name="D08 owners"/>
          <p:cNvSpPr txBox="1"/>
          <p:nvPr/>
        </p:nvSpPr>
        <p:spPr>
          <a:xfrm>
            <a:off x="8667750" y="3838575"/>
            <a:ext cx="30480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00" b="0">
                <a:solidFill>
                  <a:srgbClr val="486078"/>
                </a:solidFill>
                <a:latin typeface="Aptos"/>
              </a:rPr>
              <a:t>Academic Owner; Security/Records</a:t>
            </a:r>
            <a:endParaRPr lang="en-US"/>
          </a:p>
        </p:txBody>
      </p:sp>
      <p:sp>
        <p:nvSpPr>
          <p:cNvPr id="21" name="D08 gate"/>
          <p:cNvSpPr txBox="1"/>
          <p:nvPr/>
        </p:nvSpPr>
        <p:spPr>
          <a:xfrm>
            <a:off x="1428750" y="4191000"/>
            <a:ext cx="10048875" cy="4000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700" b="0">
                <a:solidFill>
                  <a:srgbClr val="14263D"/>
                </a:solidFill>
                <a:latin typeface="Aptos"/>
              </a:rPr>
              <a:t>Choose warning or eligibility effect. Pilot: validity rule gate.</a:t>
            </a:r>
            <a:endParaRPr lang="en-US"/>
          </a:p>
        </p:txBody>
      </p:sp>
      <p:sp>
        <p:nvSpPr>
          <p:cNvPr id="22" name="D09 code"/>
          <p:cNvSpPr txBox="1"/>
          <p:nvPr/>
        </p:nvSpPr>
        <p:spPr>
          <a:xfrm>
            <a:off x="552450" y="4591050"/>
            <a:ext cx="8382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1">
                <a:solidFill>
                  <a:srgbClr val="0F9E92"/>
                </a:solidFill>
                <a:latin typeface="Aptos"/>
              </a:rPr>
              <a:t>D09</a:t>
            </a:r>
            <a:endParaRPr lang="en-US"/>
          </a:p>
        </p:txBody>
      </p:sp>
      <p:sp>
        <p:nvSpPr>
          <p:cNvPr id="23" name="D09 topic"/>
          <p:cNvSpPr txBox="1"/>
          <p:nvPr/>
        </p:nvSpPr>
        <p:spPr>
          <a:xfrm>
            <a:off x="1428750" y="4591050"/>
            <a:ext cx="41910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1">
                <a:solidFill>
                  <a:srgbClr val="0B2545"/>
                </a:solidFill>
                <a:latin typeface="Aptos"/>
              </a:rPr>
              <a:t>Audit access</a:t>
            </a:r>
            <a:endParaRPr lang="en-US"/>
          </a:p>
        </p:txBody>
      </p:sp>
      <p:sp>
        <p:nvSpPr>
          <p:cNvPr id="24" name="D09 state"/>
          <p:cNvSpPr txBox="1"/>
          <p:nvPr/>
        </p:nvSpPr>
        <p:spPr>
          <a:xfrm>
            <a:off x="5762625" y="4591050"/>
            <a:ext cx="26670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800" b="0">
                <a:solidFill>
                  <a:srgbClr val="486078"/>
                </a:solidFill>
                <a:latin typeface="Aptos"/>
              </a:rPr>
              <a:t>Provisional A</a:t>
            </a:r>
            <a:endParaRPr lang="en-US"/>
          </a:p>
        </p:txBody>
      </p:sp>
      <p:sp>
        <p:nvSpPr>
          <p:cNvPr id="25" name="D09 owners"/>
          <p:cNvSpPr txBox="1"/>
          <p:nvPr/>
        </p:nvSpPr>
        <p:spPr>
          <a:xfrm>
            <a:off x="8667750" y="4591050"/>
            <a:ext cx="30480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00" b="0">
                <a:solidFill>
                  <a:srgbClr val="486078"/>
                </a:solidFill>
                <a:latin typeface="Aptos"/>
              </a:rPr>
              <a:t>Security/Records; IT; Academic Owner</a:t>
            </a:r>
            <a:endParaRPr lang="en-US"/>
          </a:p>
        </p:txBody>
      </p:sp>
      <p:sp>
        <p:nvSpPr>
          <p:cNvPr id="26" name="D09 gate"/>
          <p:cNvSpPr txBox="1"/>
          <p:nvPr/>
        </p:nvSpPr>
        <p:spPr>
          <a:xfrm>
            <a:off x="1428750" y="4943475"/>
            <a:ext cx="10048875" cy="4000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700" b="0">
                <a:solidFill>
                  <a:srgbClr val="14263D"/>
                </a:solidFill>
                <a:latin typeface="Aptos"/>
              </a:rPr>
              <a:t>Approve readers, fields, preservation. Real evidence: audit access gate.</a:t>
            </a:r>
            <a:endParaRPr lang="en-US"/>
          </a:p>
        </p:txBody>
      </p:sp>
      <p:sp>
        <p:nvSpPr>
          <p:cNvPr id="27" name="D10 code"/>
          <p:cNvSpPr txBox="1"/>
          <p:nvPr/>
        </p:nvSpPr>
        <p:spPr>
          <a:xfrm>
            <a:off x="552450" y="5343525"/>
            <a:ext cx="8382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1">
                <a:solidFill>
                  <a:srgbClr val="0F9E92"/>
                </a:solidFill>
                <a:latin typeface="Aptos"/>
              </a:rPr>
              <a:t>D10</a:t>
            </a:r>
            <a:endParaRPr lang="en-US"/>
          </a:p>
        </p:txBody>
      </p:sp>
      <p:sp>
        <p:nvSpPr>
          <p:cNvPr id="28" name="D10 topic"/>
          <p:cNvSpPr txBox="1"/>
          <p:nvPr/>
        </p:nvSpPr>
        <p:spPr>
          <a:xfrm>
            <a:off x="1428750" y="5343525"/>
            <a:ext cx="41910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1">
                <a:solidFill>
                  <a:srgbClr val="0B2545"/>
                </a:solidFill>
                <a:latin typeface="Aptos"/>
              </a:rPr>
              <a:t>Formats/limits</a:t>
            </a:r>
            <a:endParaRPr lang="en-US"/>
          </a:p>
        </p:txBody>
      </p:sp>
      <p:sp>
        <p:nvSpPr>
          <p:cNvPr id="29" name="D10 state"/>
          <p:cNvSpPr txBox="1"/>
          <p:nvPr/>
        </p:nvSpPr>
        <p:spPr>
          <a:xfrm>
            <a:off x="5762625" y="5343525"/>
            <a:ext cx="26670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800" b="0">
                <a:solidFill>
                  <a:srgbClr val="486078"/>
                </a:solidFill>
                <a:latin typeface="Aptos"/>
              </a:rPr>
              <a:t>Pending</a:t>
            </a:r>
            <a:endParaRPr lang="en-US"/>
          </a:p>
        </p:txBody>
      </p:sp>
      <p:sp>
        <p:nvSpPr>
          <p:cNvPr id="30" name="D10 owners"/>
          <p:cNvSpPr txBox="1"/>
          <p:nvPr/>
        </p:nvSpPr>
        <p:spPr>
          <a:xfrm>
            <a:off x="8667750" y="5343525"/>
            <a:ext cx="30480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00" b="0">
                <a:solidFill>
                  <a:srgbClr val="486078"/>
                </a:solidFill>
                <a:latin typeface="Aptos"/>
              </a:rPr>
              <a:t>Academic Owner; IT; Security/Records</a:t>
            </a:r>
            <a:endParaRPr lang="en-US"/>
          </a:p>
        </p:txBody>
      </p:sp>
      <p:sp>
        <p:nvSpPr>
          <p:cNvPr id="31" name="D10 gate"/>
          <p:cNvSpPr txBox="1"/>
          <p:nvPr/>
        </p:nvSpPr>
        <p:spPr>
          <a:xfrm>
            <a:off x="1428750" y="5695950"/>
            <a:ext cx="10048875" cy="4000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700" b="0">
                <a:solidFill>
                  <a:srgbClr val="14263D"/>
                </a:solidFill>
                <a:latin typeface="Aptos"/>
              </a:rPr>
              <a:t>Approve type, byte limit, target bounds. Real evidence: file policy gate.</a:t>
            </a:r>
            <a:endParaRPr lang="en-US"/>
          </a:p>
        </p:txBody>
      </p:sp>
      <p:sp>
        <p:nvSpPr>
          <p:cNvPr id="32" name="Footer rule"/>
          <p:cNvSpPr txBox="1"/>
          <p:nvPr/>
        </p:nvSpPr>
        <p:spPr>
          <a:xfrm>
            <a:off x="495300" y="6334125"/>
            <a:ext cx="11163300" cy="19050"/>
          </a:xfrm>
          <a:prstGeom prst="rect">
            <a:avLst/>
          </a:prstGeom>
          <a:solidFill>
            <a:srgbClr val="D6E2E9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33" name="Footer"/>
          <p:cNvSpPr txBox="1"/>
          <p:nvPr/>
        </p:nvSpPr>
        <p:spPr>
          <a:xfrm>
            <a:off x="504825" y="6438900"/>
            <a:ext cx="962025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300" b="0">
                <a:solidFill>
                  <a:srgbClr val="486078"/>
                </a:solidFill>
                <a:latin typeface="Aptos"/>
              </a:rPr>
              <a:t>MC Accreditation Hub  ·  MIT 007  ·  Fictional local evidence unless marked otherwise</a:t>
            </a:r>
            <a:endParaRPr lang="en-US"/>
          </a:p>
        </p:txBody>
      </p:sp>
      <p:sp>
        <p:nvSpPr>
          <p:cNvPr id="34" name="Page"/>
          <p:cNvSpPr txBox="1"/>
          <p:nvPr/>
        </p:nvSpPr>
        <p:spPr>
          <a:xfrm>
            <a:off x="10572750" y="6438900"/>
            <a:ext cx="114300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300" b="0">
                <a:solidFill>
                  <a:srgbClr val="486078"/>
                </a:solidFill>
                <a:latin typeface="Aptos"/>
              </a:rPr>
              <a:t>49 / 53</a:t>
            </a:r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>
  <p:cSld name="50 Decisions D11–D1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 txBox="1"/>
          <p:nvPr/>
        </p:nvSpPr>
        <p:spPr>
          <a:xfrm>
            <a:off x="0" y="0"/>
            <a:ext cx="12192000" cy="123825"/>
          </a:xfrm>
          <a:prstGeom prst="rect">
            <a:avLst/>
          </a:prstGeom>
          <a:solidFill>
            <a:srgbClr val="0F9E92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3" name="Section"/>
          <p:cNvSpPr txBox="1"/>
          <p:nvPr/>
        </p:nvSpPr>
        <p:spPr>
          <a:xfrm>
            <a:off x="495300" y="323850"/>
            <a:ext cx="809625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700" b="1">
                <a:solidFill>
                  <a:srgbClr val="0F9E92"/>
                </a:solidFill>
                <a:latin typeface="Aptos"/>
              </a:rPr>
              <a:t>APPENDIX · DECISION REGISTER</a:t>
            </a:r>
            <a:endParaRPr lang="en-US"/>
          </a:p>
        </p:txBody>
      </p:sp>
      <p:sp>
        <p:nvSpPr>
          <p:cNvPr id="4" name="Status"/>
          <p:cNvSpPr txBox="1"/>
          <p:nvPr/>
        </p:nvSpPr>
        <p:spPr>
          <a:xfrm>
            <a:off x="8810625" y="3048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600" b="0">
                <a:solidFill>
                  <a:srgbClr val="486078"/>
                </a:solidFill>
                <a:latin typeface="Aptos"/>
              </a:rPr>
              <a:t>APPROVAL PENDING</a:t>
            </a:r>
            <a:endParaRPr lang="en-US"/>
          </a:p>
        </p:txBody>
      </p:sp>
      <p:sp>
        <p:nvSpPr>
          <p:cNvPr id="5" name="Title"/>
          <p:cNvSpPr txBox="1"/>
          <p:nvPr/>
        </p:nvSpPr>
        <p:spPr>
          <a:xfrm>
            <a:off x="495300" y="781050"/>
            <a:ext cx="11144250" cy="71437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4200" b="1">
                <a:solidFill>
                  <a:srgbClr val="0B2545"/>
                </a:solidFill>
                <a:latin typeface="Aptos"/>
              </a:rPr>
              <a:t>Decisions D11–D15</a:t>
            </a:r>
            <a:endParaRPr lang="en-US"/>
          </a:p>
        </p:txBody>
      </p:sp>
      <p:sp>
        <p:nvSpPr>
          <p:cNvPr id="6" name="Lead"/>
          <p:cNvSpPr txBox="1"/>
          <p:nvPr/>
        </p:nvSpPr>
        <p:spPr>
          <a:xfrm>
            <a:off x="523875" y="1552575"/>
            <a:ext cx="11049000" cy="7334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>The selected option remains provisional until every listed owner records approval evidence.</a:t>
            </a:r>
            <a:endParaRPr lang="en-US"/>
          </a:p>
        </p:txBody>
      </p:sp>
      <p:sp>
        <p:nvSpPr>
          <p:cNvPr id="7" name="D11 code"/>
          <p:cNvSpPr txBox="1"/>
          <p:nvPr/>
        </p:nvSpPr>
        <p:spPr>
          <a:xfrm>
            <a:off x="552450" y="2333625"/>
            <a:ext cx="8382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1">
                <a:solidFill>
                  <a:srgbClr val="0F9E92"/>
                </a:solidFill>
                <a:latin typeface="Aptos"/>
              </a:rPr>
              <a:t>D11</a:t>
            </a:r>
            <a:endParaRPr lang="en-US"/>
          </a:p>
        </p:txBody>
      </p:sp>
      <p:sp>
        <p:nvSpPr>
          <p:cNvPr id="8" name="D11 topic"/>
          <p:cNvSpPr txBox="1"/>
          <p:nvPr/>
        </p:nvSpPr>
        <p:spPr>
          <a:xfrm>
            <a:off x="1428750" y="2333625"/>
            <a:ext cx="41910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1">
                <a:solidFill>
                  <a:srgbClr val="0B2545"/>
                </a:solidFill>
                <a:latin typeface="Aptos"/>
              </a:rPr>
              <a:t>Malware scanning</a:t>
            </a:r>
            <a:endParaRPr lang="en-US"/>
          </a:p>
        </p:txBody>
      </p:sp>
      <p:sp>
        <p:nvSpPr>
          <p:cNvPr id="9" name="D11 state"/>
          <p:cNvSpPr txBox="1"/>
          <p:nvPr/>
        </p:nvSpPr>
        <p:spPr>
          <a:xfrm>
            <a:off x="5762625" y="2333625"/>
            <a:ext cx="26670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800" b="0">
                <a:solidFill>
                  <a:srgbClr val="486078"/>
                </a:solidFill>
                <a:latin typeface="Aptos"/>
              </a:rPr>
              <a:t>Pending</a:t>
            </a:r>
            <a:endParaRPr lang="en-US"/>
          </a:p>
        </p:txBody>
      </p:sp>
      <p:sp>
        <p:nvSpPr>
          <p:cNvPr id="10" name="D11 owners"/>
          <p:cNvSpPr txBox="1"/>
          <p:nvPr/>
        </p:nvSpPr>
        <p:spPr>
          <a:xfrm>
            <a:off x="8667750" y="2333625"/>
            <a:ext cx="30480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00" b="0">
                <a:solidFill>
                  <a:srgbClr val="486078"/>
                </a:solidFill>
                <a:latin typeface="Aptos"/>
              </a:rPr>
              <a:t>Security/Records; IT</a:t>
            </a:r>
            <a:endParaRPr lang="en-US"/>
          </a:p>
        </p:txBody>
      </p:sp>
      <p:sp>
        <p:nvSpPr>
          <p:cNvPr id="11" name="D11 gate"/>
          <p:cNvSpPr txBox="1"/>
          <p:nvPr/>
        </p:nvSpPr>
        <p:spPr>
          <a:xfrm>
            <a:off x="1428750" y="2686050"/>
            <a:ext cx="10048875" cy="4000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700" b="0">
                <a:solidFill>
                  <a:srgbClr val="14263D"/>
                </a:solidFill>
                <a:latin typeface="Aptos"/>
              </a:rPr>
              <a:t>Approve scanner and target failure tests. Real evidence: approved scan required.</a:t>
            </a:r>
            <a:endParaRPr lang="en-US"/>
          </a:p>
        </p:txBody>
      </p:sp>
      <p:sp>
        <p:nvSpPr>
          <p:cNvPr id="12" name="D12 code"/>
          <p:cNvSpPr txBox="1"/>
          <p:nvPr/>
        </p:nvSpPr>
        <p:spPr>
          <a:xfrm>
            <a:off x="552450" y="3086100"/>
            <a:ext cx="8382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1">
                <a:solidFill>
                  <a:srgbClr val="0F9E92"/>
                </a:solidFill>
                <a:latin typeface="Aptos"/>
              </a:rPr>
              <a:t>D12</a:t>
            </a:r>
            <a:endParaRPr lang="en-US"/>
          </a:p>
        </p:txBody>
      </p:sp>
      <p:sp>
        <p:nvSpPr>
          <p:cNvPr id="13" name="D12 topic"/>
          <p:cNvSpPr txBox="1"/>
          <p:nvPr/>
        </p:nvSpPr>
        <p:spPr>
          <a:xfrm>
            <a:off x="1428750" y="3086100"/>
            <a:ext cx="41910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1">
                <a:solidFill>
                  <a:srgbClr val="0B2545"/>
                </a:solidFill>
                <a:latin typeface="Aptos"/>
              </a:rPr>
              <a:t>Records schedule</a:t>
            </a:r>
            <a:endParaRPr lang="en-US"/>
          </a:p>
        </p:txBody>
      </p:sp>
      <p:sp>
        <p:nvSpPr>
          <p:cNvPr id="14" name="D12 state"/>
          <p:cNvSpPr txBox="1"/>
          <p:nvPr/>
        </p:nvSpPr>
        <p:spPr>
          <a:xfrm>
            <a:off x="5762625" y="3086100"/>
            <a:ext cx="26670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800" b="0">
                <a:solidFill>
                  <a:srgbClr val="486078"/>
                </a:solidFill>
                <a:latin typeface="Aptos"/>
              </a:rPr>
              <a:t>Pending</a:t>
            </a:r>
            <a:endParaRPr lang="en-US"/>
          </a:p>
        </p:txBody>
      </p:sp>
      <p:sp>
        <p:nvSpPr>
          <p:cNvPr id="15" name="D12 owners"/>
          <p:cNvSpPr txBox="1"/>
          <p:nvPr/>
        </p:nvSpPr>
        <p:spPr>
          <a:xfrm>
            <a:off x="8667750" y="3086100"/>
            <a:ext cx="30480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00" b="0">
                <a:solidFill>
                  <a:srgbClr val="486078"/>
                </a:solidFill>
                <a:latin typeface="Aptos"/>
              </a:rPr>
              <a:t>Security/Records; IT; Academic Owner</a:t>
            </a:r>
            <a:endParaRPr lang="en-US"/>
          </a:p>
        </p:txBody>
      </p:sp>
      <p:sp>
        <p:nvSpPr>
          <p:cNvPr id="16" name="D12 gate"/>
          <p:cNvSpPr txBox="1"/>
          <p:nvPr/>
        </p:nvSpPr>
        <p:spPr>
          <a:xfrm>
            <a:off x="1428750" y="3438525"/>
            <a:ext cx="10048875" cy="4000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700" b="0">
                <a:solidFill>
                  <a:srgbClr val="14263D"/>
                </a:solidFill>
                <a:latin typeface="Aptos"/>
              </a:rPr>
              <a:t>Approve classes, retention, holds, disposal. Real evidence: records control required.</a:t>
            </a:r>
            <a:endParaRPr lang="en-US"/>
          </a:p>
        </p:txBody>
      </p:sp>
      <p:sp>
        <p:nvSpPr>
          <p:cNvPr id="17" name="D13 code"/>
          <p:cNvSpPr txBox="1"/>
          <p:nvPr/>
        </p:nvSpPr>
        <p:spPr>
          <a:xfrm>
            <a:off x="552450" y="3838575"/>
            <a:ext cx="8382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1">
                <a:solidFill>
                  <a:srgbClr val="0F9E92"/>
                </a:solidFill>
                <a:latin typeface="Aptos"/>
              </a:rPr>
              <a:t>D13</a:t>
            </a:r>
            <a:endParaRPr lang="en-US"/>
          </a:p>
        </p:txBody>
      </p:sp>
      <p:sp>
        <p:nvSpPr>
          <p:cNvPr id="18" name="D13 topic"/>
          <p:cNvSpPr txBox="1"/>
          <p:nvPr/>
        </p:nvSpPr>
        <p:spPr>
          <a:xfrm>
            <a:off x="1428750" y="3838575"/>
            <a:ext cx="41910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1">
                <a:solidFill>
                  <a:srgbClr val="0B2545"/>
                </a:solidFill>
                <a:latin typeface="Aptos"/>
              </a:rPr>
              <a:t>Overdue rule</a:t>
            </a:r>
            <a:endParaRPr lang="en-US"/>
          </a:p>
        </p:txBody>
      </p:sp>
      <p:sp>
        <p:nvSpPr>
          <p:cNvPr id="19" name="D13 state"/>
          <p:cNvSpPr txBox="1"/>
          <p:nvPr/>
        </p:nvSpPr>
        <p:spPr>
          <a:xfrm>
            <a:off x="5762625" y="3838575"/>
            <a:ext cx="26670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800" b="0">
                <a:solidFill>
                  <a:srgbClr val="486078"/>
                </a:solidFill>
                <a:latin typeface="Aptos"/>
              </a:rPr>
              <a:t>Pending</a:t>
            </a:r>
            <a:endParaRPr lang="en-US"/>
          </a:p>
        </p:txBody>
      </p:sp>
      <p:sp>
        <p:nvSpPr>
          <p:cNvPr id="20" name="D13 owners"/>
          <p:cNvSpPr txBox="1"/>
          <p:nvPr/>
        </p:nvSpPr>
        <p:spPr>
          <a:xfrm>
            <a:off x="8667750" y="3838575"/>
            <a:ext cx="30480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00" b="0">
                <a:solidFill>
                  <a:srgbClr val="486078"/>
                </a:solidFill>
                <a:latin typeface="Aptos"/>
              </a:rPr>
              <a:t>Academic Owner; Project Owner</a:t>
            </a:r>
            <a:endParaRPr lang="en-US"/>
          </a:p>
        </p:txBody>
      </p:sp>
      <p:sp>
        <p:nvSpPr>
          <p:cNvPr id="21" name="D13 gate"/>
          <p:cNvSpPr txBox="1"/>
          <p:nvPr/>
        </p:nvSpPr>
        <p:spPr>
          <a:xfrm>
            <a:off x="1428750" y="4191000"/>
            <a:ext cx="10048875" cy="4000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700" b="0">
                <a:solidFill>
                  <a:srgbClr val="14263D"/>
                </a:solidFill>
                <a:latin typeface="Aptos"/>
              </a:rPr>
              <a:t>Approve deadline and Manila boundary. Pilot: overdue semantics gate.</a:t>
            </a:r>
            <a:endParaRPr lang="en-US"/>
          </a:p>
        </p:txBody>
      </p:sp>
      <p:sp>
        <p:nvSpPr>
          <p:cNvPr id="22" name="D14 code"/>
          <p:cNvSpPr txBox="1"/>
          <p:nvPr/>
        </p:nvSpPr>
        <p:spPr>
          <a:xfrm>
            <a:off x="552450" y="4591050"/>
            <a:ext cx="8382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1">
                <a:solidFill>
                  <a:srgbClr val="0F9E92"/>
                </a:solidFill>
                <a:latin typeface="Aptos"/>
              </a:rPr>
              <a:t>D14</a:t>
            </a:r>
            <a:endParaRPr lang="en-US"/>
          </a:p>
        </p:txBody>
      </p:sp>
      <p:sp>
        <p:nvSpPr>
          <p:cNvPr id="23" name="D14 topic"/>
          <p:cNvSpPr txBox="1"/>
          <p:nvPr/>
        </p:nvSpPr>
        <p:spPr>
          <a:xfrm>
            <a:off x="1428750" y="4591050"/>
            <a:ext cx="41910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1">
                <a:solidFill>
                  <a:srgbClr val="0B2545"/>
                </a:solidFill>
                <a:latin typeface="Aptos"/>
              </a:rPr>
              <a:t>Archive lifecycle</a:t>
            </a:r>
            <a:endParaRPr lang="en-US"/>
          </a:p>
        </p:txBody>
      </p:sp>
      <p:sp>
        <p:nvSpPr>
          <p:cNvPr id="24" name="D14 state"/>
          <p:cNvSpPr txBox="1"/>
          <p:nvPr/>
        </p:nvSpPr>
        <p:spPr>
          <a:xfrm>
            <a:off x="5762625" y="4591050"/>
            <a:ext cx="26670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800" b="0">
                <a:solidFill>
                  <a:srgbClr val="486078"/>
                </a:solidFill>
                <a:latin typeface="Aptos"/>
              </a:rPr>
              <a:t>Pending</a:t>
            </a:r>
            <a:endParaRPr lang="en-US"/>
          </a:p>
        </p:txBody>
      </p:sp>
      <p:sp>
        <p:nvSpPr>
          <p:cNvPr id="25" name="D14 owners"/>
          <p:cNvSpPr txBox="1"/>
          <p:nvPr/>
        </p:nvSpPr>
        <p:spPr>
          <a:xfrm>
            <a:off x="8667750" y="4591050"/>
            <a:ext cx="30480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00" b="0">
                <a:solidFill>
                  <a:srgbClr val="486078"/>
                </a:solidFill>
                <a:latin typeface="Aptos"/>
              </a:rPr>
              <a:t>Project; Academic; Security/Records</a:t>
            </a:r>
            <a:endParaRPr lang="en-US"/>
          </a:p>
        </p:txBody>
      </p:sp>
      <p:sp>
        <p:nvSpPr>
          <p:cNvPr id="26" name="D14 gate"/>
          <p:cNvSpPr txBox="1"/>
          <p:nvPr/>
        </p:nvSpPr>
        <p:spPr>
          <a:xfrm>
            <a:off x="1428750" y="4943475"/>
            <a:ext cx="10048875" cy="4000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700" b="0">
                <a:solidFill>
                  <a:srgbClr val="14263D"/>
                </a:solidFill>
                <a:latin typeface="Aptos"/>
              </a:rPr>
              <a:t>Approve transitions and preservation. Pilot: archive lifecycle gate.</a:t>
            </a:r>
            <a:endParaRPr lang="en-US"/>
          </a:p>
        </p:txBody>
      </p:sp>
      <p:sp>
        <p:nvSpPr>
          <p:cNvPr id="27" name="D15 code"/>
          <p:cNvSpPr txBox="1"/>
          <p:nvPr/>
        </p:nvSpPr>
        <p:spPr>
          <a:xfrm>
            <a:off x="552450" y="5343525"/>
            <a:ext cx="8382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1">
                <a:solidFill>
                  <a:srgbClr val="0F9E92"/>
                </a:solidFill>
                <a:latin typeface="Aptos"/>
              </a:rPr>
              <a:t>D15</a:t>
            </a:r>
            <a:endParaRPr lang="en-US"/>
          </a:p>
        </p:txBody>
      </p:sp>
      <p:sp>
        <p:nvSpPr>
          <p:cNvPr id="28" name="D15 topic"/>
          <p:cNvSpPr txBox="1"/>
          <p:nvPr/>
        </p:nvSpPr>
        <p:spPr>
          <a:xfrm>
            <a:off x="1428750" y="5343525"/>
            <a:ext cx="41910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1">
                <a:solidFill>
                  <a:srgbClr val="0B2545"/>
                </a:solidFill>
                <a:latin typeface="Aptos"/>
              </a:rPr>
              <a:t>Launch administration</a:t>
            </a:r>
            <a:endParaRPr lang="en-US"/>
          </a:p>
        </p:txBody>
      </p:sp>
      <p:sp>
        <p:nvSpPr>
          <p:cNvPr id="29" name="D15 state"/>
          <p:cNvSpPr txBox="1"/>
          <p:nvPr/>
        </p:nvSpPr>
        <p:spPr>
          <a:xfrm>
            <a:off x="5762625" y="5343525"/>
            <a:ext cx="26670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800" b="0">
                <a:solidFill>
                  <a:srgbClr val="486078"/>
                </a:solidFill>
                <a:latin typeface="Aptos"/>
              </a:rPr>
              <a:t>Pending</a:t>
            </a:r>
            <a:endParaRPr lang="en-US"/>
          </a:p>
        </p:txBody>
      </p:sp>
      <p:sp>
        <p:nvSpPr>
          <p:cNvPr id="30" name="D15 owners"/>
          <p:cNvSpPr txBox="1"/>
          <p:nvPr/>
        </p:nvSpPr>
        <p:spPr>
          <a:xfrm>
            <a:off x="8667750" y="5343525"/>
            <a:ext cx="30480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00" b="0">
                <a:solidFill>
                  <a:srgbClr val="486078"/>
                </a:solidFill>
                <a:latin typeface="Aptos"/>
              </a:rPr>
              <a:t>Project; IT; Academic Owner</a:t>
            </a:r>
            <a:endParaRPr lang="en-US"/>
          </a:p>
        </p:txBody>
      </p:sp>
      <p:sp>
        <p:nvSpPr>
          <p:cNvPr id="31" name="D15 gate"/>
          <p:cNvSpPr txBox="1"/>
          <p:nvPr/>
        </p:nvSpPr>
        <p:spPr>
          <a:xfrm>
            <a:off x="1428750" y="5695950"/>
            <a:ext cx="10048875" cy="4000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700" b="0">
                <a:solidFill>
                  <a:srgbClr val="14263D"/>
                </a:solidFill>
                <a:latin typeface="Aptos"/>
              </a:rPr>
              <a:t>Approve separate named operators. Pilot: named operators gate.</a:t>
            </a:r>
            <a:endParaRPr lang="en-US"/>
          </a:p>
        </p:txBody>
      </p:sp>
      <p:sp>
        <p:nvSpPr>
          <p:cNvPr id="32" name="Footer rule"/>
          <p:cNvSpPr txBox="1"/>
          <p:nvPr/>
        </p:nvSpPr>
        <p:spPr>
          <a:xfrm>
            <a:off x="495300" y="6334125"/>
            <a:ext cx="11163300" cy="19050"/>
          </a:xfrm>
          <a:prstGeom prst="rect">
            <a:avLst/>
          </a:prstGeom>
          <a:solidFill>
            <a:srgbClr val="D6E2E9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33" name="Footer"/>
          <p:cNvSpPr txBox="1"/>
          <p:nvPr/>
        </p:nvSpPr>
        <p:spPr>
          <a:xfrm>
            <a:off x="504825" y="6438900"/>
            <a:ext cx="962025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300" b="0">
                <a:solidFill>
                  <a:srgbClr val="486078"/>
                </a:solidFill>
                <a:latin typeface="Aptos"/>
              </a:rPr>
              <a:t>MC Accreditation Hub  ·  MIT 007  ·  Fictional local evidence unless marked otherwise</a:t>
            </a:r>
            <a:endParaRPr lang="en-US"/>
          </a:p>
        </p:txBody>
      </p:sp>
      <p:sp>
        <p:nvSpPr>
          <p:cNvPr id="34" name="Page"/>
          <p:cNvSpPr txBox="1"/>
          <p:nvPr/>
        </p:nvSpPr>
        <p:spPr>
          <a:xfrm>
            <a:off x="10572750" y="6438900"/>
            <a:ext cx="114300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300" b="0">
                <a:solidFill>
                  <a:srgbClr val="486078"/>
                </a:solidFill>
                <a:latin typeface="Aptos"/>
              </a:rPr>
              <a:t>50 / 53</a:t>
            </a:r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>
  <p:cSld name="51 Decisions D16–D1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 txBox="1"/>
          <p:nvPr/>
        </p:nvSpPr>
        <p:spPr>
          <a:xfrm>
            <a:off x="0" y="0"/>
            <a:ext cx="12192000" cy="123825"/>
          </a:xfrm>
          <a:prstGeom prst="rect">
            <a:avLst/>
          </a:prstGeom>
          <a:solidFill>
            <a:srgbClr val="0F9E92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3" name="Section"/>
          <p:cNvSpPr txBox="1"/>
          <p:nvPr/>
        </p:nvSpPr>
        <p:spPr>
          <a:xfrm>
            <a:off x="495300" y="323850"/>
            <a:ext cx="809625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700" b="1">
                <a:solidFill>
                  <a:srgbClr val="0F9E92"/>
                </a:solidFill>
                <a:latin typeface="Aptos"/>
              </a:rPr>
              <a:t>APPENDIX · DECISION REGISTER</a:t>
            </a:r>
            <a:endParaRPr lang="en-US"/>
          </a:p>
        </p:txBody>
      </p:sp>
      <p:sp>
        <p:nvSpPr>
          <p:cNvPr id="4" name="Status"/>
          <p:cNvSpPr txBox="1"/>
          <p:nvPr/>
        </p:nvSpPr>
        <p:spPr>
          <a:xfrm>
            <a:off x="8810625" y="3048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600" b="0">
                <a:solidFill>
                  <a:srgbClr val="486078"/>
                </a:solidFill>
                <a:latin typeface="Aptos"/>
              </a:rPr>
              <a:t>APPROVAL PENDING</a:t>
            </a:r>
            <a:endParaRPr lang="en-US"/>
          </a:p>
        </p:txBody>
      </p:sp>
      <p:sp>
        <p:nvSpPr>
          <p:cNvPr id="5" name="Title"/>
          <p:cNvSpPr txBox="1"/>
          <p:nvPr/>
        </p:nvSpPr>
        <p:spPr>
          <a:xfrm>
            <a:off x="495300" y="781050"/>
            <a:ext cx="11144250" cy="71437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4200" b="1">
                <a:solidFill>
                  <a:srgbClr val="0B2545"/>
                </a:solidFill>
                <a:latin typeface="Aptos"/>
              </a:rPr>
              <a:t>Decisions D16–D19</a:t>
            </a:r>
            <a:endParaRPr lang="en-US"/>
          </a:p>
        </p:txBody>
      </p:sp>
      <p:sp>
        <p:nvSpPr>
          <p:cNvPr id="6" name="Lead"/>
          <p:cNvSpPr txBox="1"/>
          <p:nvPr/>
        </p:nvSpPr>
        <p:spPr>
          <a:xfrm>
            <a:off x="523875" y="1552575"/>
            <a:ext cx="11049000" cy="7334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>The selected option remains provisional until every listed owner records approval evidence.</a:t>
            </a:r>
            <a:endParaRPr lang="en-US"/>
          </a:p>
        </p:txBody>
      </p:sp>
      <p:sp>
        <p:nvSpPr>
          <p:cNvPr id="7" name="D16 code"/>
          <p:cNvSpPr txBox="1"/>
          <p:nvPr/>
        </p:nvSpPr>
        <p:spPr>
          <a:xfrm>
            <a:off x="552450" y="2333625"/>
            <a:ext cx="8382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1">
                <a:solidFill>
                  <a:srgbClr val="0F9E92"/>
                </a:solidFill>
                <a:latin typeface="Aptos"/>
              </a:rPr>
              <a:t>D16</a:t>
            </a:r>
            <a:endParaRPr lang="en-US"/>
          </a:p>
        </p:txBody>
      </p:sp>
      <p:sp>
        <p:nvSpPr>
          <p:cNvPr id="8" name="D16 topic"/>
          <p:cNvSpPr txBox="1"/>
          <p:nvPr/>
        </p:nvSpPr>
        <p:spPr>
          <a:xfrm>
            <a:off x="1428750" y="2333625"/>
            <a:ext cx="41910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1">
                <a:solidFill>
                  <a:srgbClr val="0B2545"/>
                </a:solidFill>
                <a:latin typeface="Aptos"/>
              </a:rPr>
              <a:t>Version 1 baseline</a:t>
            </a:r>
            <a:endParaRPr lang="en-US"/>
          </a:p>
        </p:txBody>
      </p:sp>
      <p:sp>
        <p:nvSpPr>
          <p:cNvPr id="9" name="D16 state"/>
          <p:cNvSpPr txBox="1"/>
          <p:nvPr/>
        </p:nvSpPr>
        <p:spPr>
          <a:xfrm>
            <a:off x="5762625" y="2333625"/>
            <a:ext cx="26670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800" b="0">
                <a:solidFill>
                  <a:srgbClr val="486078"/>
                </a:solidFill>
                <a:latin typeface="Aptos"/>
              </a:rPr>
              <a:t>Pending</a:t>
            </a:r>
            <a:endParaRPr lang="en-US"/>
          </a:p>
        </p:txBody>
      </p:sp>
      <p:sp>
        <p:nvSpPr>
          <p:cNvPr id="10" name="D16 owners"/>
          <p:cNvSpPr txBox="1"/>
          <p:nvPr/>
        </p:nvSpPr>
        <p:spPr>
          <a:xfrm>
            <a:off x="8667750" y="2333625"/>
            <a:ext cx="30480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00" b="0">
                <a:solidFill>
                  <a:srgbClr val="486078"/>
                </a:solidFill>
                <a:latin typeface="Aptos"/>
              </a:rPr>
              <a:t>Project; Academic; IT; Security/Records</a:t>
            </a:r>
            <a:endParaRPr lang="en-US"/>
          </a:p>
        </p:txBody>
      </p:sp>
      <p:sp>
        <p:nvSpPr>
          <p:cNvPr id="11" name="D16 gate"/>
          <p:cNvSpPr txBox="1"/>
          <p:nvPr/>
        </p:nvSpPr>
        <p:spPr>
          <a:xfrm>
            <a:off x="1428750" y="2686050"/>
            <a:ext cx="10048875" cy="4000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700" b="0">
                <a:solidFill>
                  <a:srgbClr val="14263D"/>
                </a:solidFill>
                <a:latin typeface="Aptos"/>
              </a:rPr>
              <a:t>Resolve D01–D15 before ratification. Pilot: no version 1 baseline yet.</a:t>
            </a:r>
            <a:endParaRPr lang="en-US"/>
          </a:p>
        </p:txBody>
      </p:sp>
      <p:sp>
        <p:nvSpPr>
          <p:cNvPr id="12" name="D17 code"/>
          <p:cNvSpPr txBox="1"/>
          <p:nvPr/>
        </p:nvSpPr>
        <p:spPr>
          <a:xfrm>
            <a:off x="552450" y="3086100"/>
            <a:ext cx="8382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1">
                <a:solidFill>
                  <a:srgbClr val="0F9E92"/>
                </a:solidFill>
                <a:latin typeface="Aptos"/>
              </a:rPr>
              <a:t>D17</a:t>
            </a:r>
            <a:endParaRPr lang="en-US"/>
          </a:p>
        </p:txBody>
      </p:sp>
      <p:sp>
        <p:nvSpPr>
          <p:cNvPr id="13" name="D17 topic"/>
          <p:cNvSpPr txBox="1"/>
          <p:nvPr/>
        </p:nvSpPr>
        <p:spPr>
          <a:xfrm>
            <a:off x="1428750" y="3086100"/>
            <a:ext cx="41910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1">
                <a:solidFill>
                  <a:srgbClr val="0B2545"/>
                </a:solidFill>
                <a:latin typeface="Aptos"/>
              </a:rPr>
              <a:t>Account recovery</a:t>
            </a:r>
            <a:endParaRPr lang="en-US"/>
          </a:p>
        </p:txBody>
      </p:sp>
      <p:sp>
        <p:nvSpPr>
          <p:cNvPr id="14" name="D17 state"/>
          <p:cNvSpPr txBox="1"/>
          <p:nvPr/>
        </p:nvSpPr>
        <p:spPr>
          <a:xfrm>
            <a:off x="5762625" y="3086100"/>
            <a:ext cx="26670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800" b="0">
                <a:solidFill>
                  <a:srgbClr val="486078"/>
                </a:solidFill>
                <a:latin typeface="Aptos"/>
              </a:rPr>
              <a:t>Provisional A</a:t>
            </a:r>
            <a:endParaRPr lang="en-US"/>
          </a:p>
        </p:txBody>
      </p:sp>
      <p:sp>
        <p:nvSpPr>
          <p:cNvPr id="15" name="D17 owners"/>
          <p:cNvSpPr txBox="1"/>
          <p:nvPr/>
        </p:nvSpPr>
        <p:spPr>
          <a:xfrm>
            <a:off x="8667750" y="3086100"/>
            <a:ext cx="30480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00" b="0">
                <a:solidFill>
                  <a:srgbClr val="486078"/>
                </a:solidFill>
                <a:latin typeface="Aptos"/>
              </a:rPr>
              <a:t>IT; Security/Records</a:t>
            </a:r>
            <a:endParaRPr lang="en-US"/>
          </a:p>
        </p:txBody>
      </p:sp>
      <p:sp>
        <p:nvSpPr>
          <p:cNvPr id="16" name="D17 gate"/>
          <p:cNvSpPr txBox="1"/>
          <p:nvPr/>
        </p:nvSpPr>
        <p:spPr>
          <a:xfrm>
            <a:off x="1428750" y="3438525"/>
            <a:ext cx="10048875" cy="4000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700" b="0">
                <a:solidFill>
                  <a:srgbClr val="14263D"/>
                </a:solidFill>
                <a:latin typeface="Aptos"/>
              </a:rPr>
              <a:t>Approve assisted recovery procedure. Pilot: recovery procedure gate.</a:t>
            </a:r>
            <a:endParaRPr lang="en-US"/>
          </a:p>
        </p:txBody>
      </p:sp>
      <p:sp>
        <p:nvSpPr>
          <p:cNvPr id="17" name="D18 code"/>
          <p:cNvSpPr txBox="1"/>
          <p:nvPr/>
        </p:nvSpPr>
        <p:spPr>
          <a:xfrm>
            <a:off x="552450" y="3838575"/>
            <a:ext cx="8382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1">
                <a:solidFill>
                  <a:srgbClr val="0F9E92"/>
                </a:solidFill>
                <a:latin typeface="Aptos"/>
              </a:rPr>
              <a:t>D18</a:t>
            </a:r>
            <a:endParaRPr lang="en-US"/>
          </a:p>
        </p:txBody>
      </p:sp>
      <p:sp>
        <p:nvSpPr>
          <p:cNvPr id="18" name="D18 topic"/>
          <p:cNvSpPr txBox="1"/>
          <p:nvPr/>
        </p:nvSpPr>
        <p:spPr>
          <a:xfrm>
            <a:off x="1428750" y="3838575"/>
            <a:ext cx="41910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1">
                <a:solidFill>
                  <a:srgbClr val="0B2545"/>
                </a:solidFill>
                <a:latin typeface="Aptos"/>
              </a:rPr>
              <a:t>Network/admin access</a:t>
            </a:r>
            <a:endParaRPr lang="en-US"/>
          </a:p>
        </p:txBody>
      </p:sp>
      <p:sp>
        <p:nvSpPr>
          <p:cNvPr id="19" name="D18 state"/>
          <p:cNvSpPr txBox="1"/>
          <p:nvPr/>
        </p:nvSpPr>
        <p:spPr>
          <a:xfrm>
            <a:off x="5762625" y="3838575"/>
            <a:ext cx="26670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800" b="0">
                <a:solidFill>
                  <a:srgbClr val="486078"/>
                </a:solidFill>
                <a:latin typeface="Aptos"/>
              </a:rPr>
              <a:t>Provisional test A</a:t>
            </a:r>
            <a:endParaRPr lang="en-US"/>
          </a:p>
        </p:txBody>
      </p:sp>
      <p:sp>
        <p:nvSpPr>
          <p:cNvPr id="20" name="D18 owners"/>
          <p:cNvSpPr txBox="1"/>
          <p:nvPr/>
        </p:nvSpPr>
        <p:spPr>
          <a:xfrm>
            <a:off x="8667750" y="3838575"/>
            <a:ext cx="30480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00" b="0">
                <a:solidFill>
                  <a:srgbClr val="486078"/>
                </a:solidFill>
                <a:latin typeface="Aptos"/>
              </a:rPr>
              <a:t>IT; Security/Records</a:t>
            </a:r>
            <a:endParaRPr lang="en-US"/>
          </a:p>
        </p:txBody>
      </p:sp>
      <p:sp>
        <p:nvSpPr>
          <p:cNvPr id="21" name="D18 gate"/>
          <p:cNvSpPr txBox="1"/>
          <p:nvPr/>
        </p:nvSpPr>
        <p:spPr>
          <a:xfrm>
            <a:off x="1428750" y="4191000"/>
            <a:ext cx="10048875" cy="4000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700" b="0">
                <a:solidFill>
                  <a:srgbClr val="14263D"/>
                </a:solidFill>
                <a:latin typeface="Aptos"/>
              </a:rPr>
              <a:t>Supply actual proxy, TLS, admin networks. Pilot: target network test required.</a:t>
            </a:r>
            <a:endParaRPr lang="en-US"/>
          </a:p>
        </p:txBody>
      </p:sp>
      <p:sp>
        <p:nvSpPr>
          <p:cNvPr id="22" name="D19 code"/>
          <p:cNvSpPr txBox="1"/>
          <p:nvPr/>
        </p:nvSpPr>
        <p:spPr>
          <a:xfrm>
            <a:off x="552450" y="4591050"/>
            <a:ext cx="8382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1">
                <a:solidFill>
                  <a:srgbClr val="0F9E92"/>
                </a:solidFill>
                <a:latin typeface="Aptos"/>
              </a:rPr>
              <a:t>D19</a:t>
            </a:r>
            <a:endParaRPr lang="en-US"/>
          </a:p>
        </p:txBody>
      </p:sp>
      <p:sp>
        <p:nvSpPr>
          <p:cNvPr id="23" name="D19 topic"/>
          <p:cNvSpPr txBox="1"/>
          <p:nvPr/>
        </p:nvSpPr>
        <p:spPr>
          <a:xfrm>
            <a:off x="1428750" y="4591050"/>
            <a:ext cx="41910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1">
                <a:solidFill>
                  <a:srgbClr val="0B2545"/>
                </a:solidFill>
                <a:latin typeface="Aptos"/>
              </a:rPr>
              <a:t>Backup/recovery</a:t>
            </a:r>
            <a:endParaRPr lang="en-US"/>
          </a:p>
        </p:txBody>
      </p:sp>
      <p:sp>
        <p:nvSpPr>
          <p:cNvPr id="24" name="D19 state"/>
          <p:cNvSpPr txBox="1"/>
          <p:nvPr/>
        </p:nvSpPr>
        <p:spPr>
          <a:xfrm>
            <a:off x="5762625" y="4591050"/>
            <a:ext cx="26670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800" b="0">
                <a:solidFill>
                  <a:srgbClr val="486078"/>
                </a:solidFill>
                <a:latin typeface="Aptos"/>
              </a:rPr>
              <a:t>Pending</a:t>
            </a:r>
            <a:endParaRPr lang="en-US"/>
          </a:p>
        </p:txBody>
      </p:sp>
      <p:sp>
        <p:nvSpPr>
          <p:cNvPr id="25" name="D19 owners"/>
          <p:cNvSpPr txBox="1"/>
          <p:nvPr/>
        </p:nvSpPr>
        <p:spPr>
          <a:xfrm>
            <a:off x="8667750" y="4591050"/>
            <a:ext cx="30480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00" b="0">
                <a:solidFill>
                  <a:srgbClr val="486078"/>
                </a:solidFill>
                <a:latin typeface="Aptos"/>
              </a:rPr>
              <a:t>IT; Security/Records</a:t>
            </a:r>
            <a:endParaRPr lang="en-US"/>
          </a:p>
        </p:txBody>
      </p:sp>
      <p:sp>
        <p:nvSpPr>
          <p:cNvPr id="26" name="D19 gate"/>
          <p:cNvSpPr txBox="1"/>
          <p:nvPr/>
        </p:nvSpPr>
        <p:spPr>
          <a:xfrm>
            <a:off x="1428750" y="4943475"/>
            <a:ext cx="10048875" cy="4000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700" b="0">
                <a:solidFill>
                  <a:srgbClr val="14263D"/>
                </a:solidFill>
                <a:latin typeface="Aptos"/>
              </a:rPr>
              <a:t>Assign target, operators, RPO/RTO, restore. Pilot: target restore proof required.</a:t>
            </a:r>
            <a:endParaRPr lang="en-US"/>
          </a:p>
        </p:txBody>
      </p:sp>
      <p:sp>
        <p:nvSpPr>
          <p:cNvPr id="27" name="Footer rule"/>
          <p:cNvSpPr txBox="1"/>
          <p:nvPr/>
        </p:nvSpPr>
        <p:spPr>
          <a:xfrm>
            <a:off x="495300" y="6334125"/>
            <a:ext cx="11163300" cy="19050"/>
          </a:xfrm>
          <a:prstGeom prst="rect">
            <a:avLst/>
          </a:prstGeom>
          <a:solidFill>
            <a:srgbClr val="D6E2E9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28" name="Footer"/>
          <p:cNvSpPr txBox="1"/>
          <p:nvPr/>
        </p:nvSpPr>
        <p:spPr>
          <a:xfrm>
            <a:off x="504825" y="6438900"/>
            <a:ext cx="962025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300" b="0">
                <a:solidFill>
                  <a:srgbClr val="486078"/>
                </a:solidFill>
                <a:latin typeface="Aptos"/>
              </a:rPr>
              <a:t>MC Accreditation Hub  ·  MIT 007  ·  Fictional local evidence unless marked otherwise</a:t>
            </a:r>
            <a:endParaRPr lang="en-US"/>
          </a:p>
        </p:txBody>
      </p:sp>
      <p:sp>
        <p:nvSpPr>
          <p:cNvPr id="29" name="Page"/>
          <p:cNvSpPr txBox="1"/>
          <p:nvPr/>
        </p:nvSpPr>
        <p:spPr>
          <a:xfrm>
            <a:off x="10572750" y="6438900"/>
            <a:ext cx="114300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300" b="0">
                <a:solidFill>
                  <a:srgbClr val="486078"/>
                </a:solidFill>
                <a:latin typeface="Aptos"/>
              </a:rPr>
              <a:t>51 / 53</a:t>
            </a:r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>
  <p:cSld name="52 Decisions D20–D2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 txBox="1"/>
          <p:nvPr/>
        </p:nvSpPr>
        <p:spPr>
          <a:xfrm>
            <a:off x="0" y="0"/>
            <a:ext cx="12192000" cy="123825"/>
          </a:xfrm>
          <a:prstGeom prst="rect">
            <a:avLst/>
          </a:prstGeom>
          <a:solidFill>
            <a:srgbClr val="0F9E92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3" name="Section"/>
          <p:cNvSpPr txBox="1"/>
          <p:nvPr/>
        </p:nvSpPr>
        <p:spPr>
          <a:xfrm>
            <a:off x="495300" y="323850"/>
            <a:ext cx="809625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700" b="1">
                <a:solidFill>
                  <a:srgbClr val="0F9E92"/>
                </a:solidFill>
                <a:latin typeface="Aptos"/>
              </a:rPr>
              <a:t>APPENDIX · DECISION REGISTER</a:t>
            </a:r>
            <a:endParaRPr lang="en-US"/>
          </a:p>
        </p:txBody>
      </p:sp>
      <p:sp>
        <p:nvSpPr>
          <p:cNvPr id="4" name="Status"/>
          <p:cNvSpPr txBox="1"/>
          <p:nvPr/>
        </p:nvSpPr>
        <p:spPr>
          <a:xfrm>
            <a:off x="8810625" y="3048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600" b="0">
                <a:solidFill>
                  <a:srgbClr val="486078"/>
                </a:solidFill>
                <a:latin typeface="Aptos"/>
              </a:rPr>
              <a:t>APPROVAL PENDING</a:t>
            </a:r>
            <a:endParaRPr lang="en-US"/>
          </a:p>
        </p:txBody>
      </p:sp>
      <p:sp>
        <p:nvSpPr>
          <p:cNvPr id="5" name="Title"/>
          <p:cNvSpPr txBox="1"/>
          <p:nvPr/>
        </p:nvSpPr>
        <p:spPr>
          <a:xfrm>
            <a:off x="495300" y="781050"/>
            <a:ext cx="11144250" cy="71437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4200" b="1">
                <a:solidFill>
                  <a:srgbClr val="0B2545"/>
                </a:solidFill>
                <a:latin typeface="Aptos"/>
              </a:rPr>
              <a:t>Decisions D20–D22</a:t>
            </a:r>
            <a:endParaRPr lang="en-US"/>
          </a:p>
        </p:txBody>
      </p:sp>
      <p:sp>
        <p:nvSpPr>
          <p:cNvPr id="6" name="Lead"/>
          <p:cNvSpPr txBox="1"/>
          <p:nvPr/>
        </p:nvSpPr>
        <p:spPr>
          <a:xfrm>
            <a:off x="523875" y="1552575"/>
            <a:ext cx="11049000" cy="7334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>The selected option remains provisional until every listed owner records approval evidence.</a:t>
            </a:r>
            <a:endParaRPr lang="en-US"/>
          </a:p>
        </p:txBody>
      </p:sp>
      <p:sp>
        <p:nvSpPr>
          <p:cNvPr id="7" name="D20 code"/>
          <p:cNvSpPr txBox="1"/>
          <p:nvPr/>
        </p:nvSpPr>
        <p:spPr>
          <a:xfrm>
            <a:off x="552450" y="2333625"/>
            <a:ext cx="8382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1">
                <a:solidFill>
                  <a:srgbClr val="0F9E92"/>
                </a:solidFill>
                <a:latin typeface="Aptos"/>
              </a:rPr>
              <a:t>D20</a:t>
            </a:r>
            <a:endParaRPr lang="en-US"/>
          </a:p>
        </p:txBody>
      </p:sp>
      <p:sp>
        <p:nvSpPr>
          <p:cNvPr id="8" name="D20 topic"/>
          <p:cNvSpPr txBox="1"/>
          <p:nvPr/>
        </p:nvSpPr>
        <p:spPr>
          <a:xfrm>
            <a:off x="1428750" y="2333625"/>
            <a:ext cx="41910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1">
                <a:solidFill>
                  <a:srgbClr val="0B2545"/>
                </a:solidFill>
                <a:latin typeface="Aptos"/>
              </a:rPr>
              <a:t>Capacity/operations</a:t>
            </a:r>
            <a:endParaRPr lang="en-US"/>
          </a:p>
        </p:txBody>
      </p:sp>
      <p:sp>
        <p:nvSpPr>
          <p:cNvPr id="9" name="D20 state"/>
          <p:cNvSpPr txBox="1"/>
          <p:nvPr/>
        </p:nvSpPr>
        <p:spPr>
          <a:xfrm>
            <a:off x="5762625" y="2333625"/>
            <a:ext cx="26670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800" b="0">
                <a:solidFill>
                  <a:srgbClr val="486078"/>
                </a:solidFill>
                <a:latin typeface="Aptos"/>
              </a:rPr>
              <a:t>Pending</a:t>
            </a:r>
            <a:endParaRPr lang="en-US"/>
          </a:p>
        </p:txBody>
      </p:sp>
      <p:sp>
        <p:nvSpPr>
          <p:cNvPr id="10" name="D20 owners"/>
          <p:cNvSpPr txBox="1"/>
          <p:nvPr/>
        </p:nvSpPr>
        <p:spPr>
          <a:xfrm>
            <a:off x="8667750" y="2333625"/>
            <a:ext cx="30480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00" b="0">
                <a:solidFill>
                  <a:srgbClr val="486078"/>
                </a:solidFill>
                <a:latin typeface="Aptos"/>
              </a:rPr>
              <a:t>IT; Project; Security/Records</a:t>
            </a:r>
            <a:endParaRPr lang="en-US"/>
          </a:p>
        </p:txBody>
      </p:sp>
      <p:sp>
        <p:nvSpPr>
          <p:cNvPr id="11" name="D20 gate"/>
          <p:cNvSpPr txBox="1"/>
          <p:nvPr/>
        </p:nvSpPr>
        <p:spPr>
          <a:xfrm>
            <a:off x="1428750" y="2686050"/>
            <a:ext cx="10048875" cy="4000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700" b="0">
                <a:solidFill>
                  <a:srgbClr val="14263D"/>
                </a:solidFill>
                <a:latin typeface="Aptos"/>
              </a:rPr>
              <a:t>Measure pilot scale and service controls. Pilot: capacity/operations proof required.</a:t>
            </a:r>
            <a:endParaRPr lang="en-US"/>
          </a:p>
        </p:txBody>
      </p:sp>
      <p:sp>
        <p:nvSpPr>
          <p:cNvPr id="12" name="D21 code"/>
          <p:cNvSpPr txBox="1"/>
          <p:nvPr/>
        </p:nvSpPr>
        <p:spPr>
          <a:xfrm>
            <a:off x="552450" y="3086100"/>
            <a:ext cx="8382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1">
                <a:solidFill>
                  <a:srgbClr val="0F9E92"/>
                </a:solidFill>
                <a:latin typeface="Aptos"/>
              </a:rPr>
              <a:t>D21</a:t>
            </a:r>
            <a:endParaRPr lang="en-US"/>
          </a:p>
        </p:txBody>
      </p:sp>
      <p:sp>
        <p:nvSpPr>
          <p:cNvPr id="13" name="D21 topic"/>
          <p:cNvSpPr txBox="1"/>
          <p:nvPr/>
        </p:nvSpPr>
        <p:spPr>
          <a:xfrm>
            <a:off x="1428750" y="3086100"/>
            <a:ext cx="41910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1">
                <a:solidFill>
                  <a:srgbClr val="0B2545"/>
                </a:solidFill>
                <a:latin typeface="Aptos"/>
              </a:rPr>
              <a:t>Report population</a:t>
            </a:r>
            <a:endParaRPr lang="en-US"/>
          </a:p>
        </p:txBody>
      </p:sp>
      <p:sp>
        <p:nvSpPr>
          <p:cNvPr id="14" name="D21 state"/>
          <p:cNvSpPr txBox="1"/>
          <p:nvPr/>
        </p:nvSpPr>
        <p:spPr>
          <a:xfrm>
            <a:off x="5762625" y="3086100"/>
            <a:ext cx="26670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800" b="0">
                <a:solidFill>
                  <a:srgbClr val="486078"/>
                </a:solidFill>
                <a:latin typeface="Aptos"/>
              </a:rPr>
              <a:t>Provisional B</a:t>
            </a:r>
            <a:endParaRPr lang="en-US"/>
          </a:p>
        </p:txBody>
      </p:sp>
      <p:sp>
        <p:nvSpPr>
          <p:cNvPr id="15" name="D21 owners"/>
          <p:cNvSpPr txBox="1"/>
          <p:nvPr/>
        </p:nvSpPr>
        <p:spPr>
          <a:xfrm>
            <a:off x="8667750" y="3086100"/>
            <a:ext cx="30480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00" b="0">
                <a:solidFill>
                  <a:srgbClr val="486078"/>
                </a:solidFill>
                <a:latin typeface="Aptos"/>
              </a:rPr>
              <a:t>Academic Owner; Project Owner</a:t>
            </a:r>
            <a:endParaRPr lang="en-US"/>
          </a:p>
        </p:txBody>
      </p:sp>
      <p:sp>
        <p:nvSpPr>
          <p:cNvPr id="16" name="D21 gate"/>
          <p:cNvSpPr txBox="1"/>
          <p:nvPr/>
        </p:nvSpPr>
        <p:spPr>
          <a:xfrm>
            <a:off x="1428750" y="3438525"/>
            <a:ext cx="10048875" cy="4000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700" b="0">
                <a:solidFill>
                  <a:srgbClr val="14263D"/>
                </a:solidFill>
                <a:latin typeface="Aptos"/>
              </a:rPr>
              <a:t>Ratify filter/readiness behavior. Pilot: report semantics gate.</a:t>
            </a:r>
            <a:endParaRPr lang="en-US"/>
          </a:p>
        </p:txBody>
      </p:sp>
      <p:sp>
        <p:nvSpPr>
          <p:cNvPr id="17" name="D22 code"/>
          <p:cNvSpPr txBox="1"/>
          <p:nvPr/>
        </p:nvSpPr>
        <p:spPr>
          <a:xfrm>
            <a:off x="552450" y="3838575"/>
            <a:ext cx="8382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1">
                <a:solidFill>
                  <a:srgbClr val="0F9E92"/>
                </a:solidFill>
                <a:latin typeface="Aptos"/>
              </a:rPr>
              <a:t>D22</a:t>
            </a:r>
            <a:endParaRPr lang="en-US"/>
          </a:p>
        </p:txBody>
      </p:sp>
      <p:sp>
        <p:nvSpPr>
          <p:cNvPr id="18" name="D22 topic"/>
          <p:cNvSpPr txBox="1"/>
          <p:nvPr/>
        </p:nvSpPr>
        <p:spPr>
          <a:xfrm>
            <a:off x="1428750" y="3838575"/>
            <a:ext cx="41910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1">
                <a:solidFill>
                  <a:srgbClr val="0B2545"/>
                </a:solidFill>
                <a:latin typeface="Aptos"/>
              </a:rPr>
              <a:t>Acceptance evidence</a:t>
            </a:r>
            <a:endParaRPr lang="en-US"/>
          </a:p>
        </p:txBody>
      </p:sp>
      <p:sp>
        <p:nvSpPr>
          <p:cNvPr id="19" name="D22 state"/>
          <p:cNvSpPr txBox="1"/>
          <p:nvPr/>
        </p:nvSpPr>
        <p:spPr>
          <a:xfrm>
            <a:off x="5762625" y="3838575"/>
            <a:ext cx="26670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800" b="0">
                <a:solidFill>
                  <a:srgbClr val="486078"/>
                </a:solidFill>
                <a:latin typeface="Aptos"/>
              </a:rPr>
              <a:t>Provisional local B</a:t>
            </a:r>
            <a:endParaRPr lang="en-US"/>
          </a:p>
        </p:txBody>
      </p:sp>
      <p:sp>
        <p:nvSpPr>
          <p:cNvPr id="20" name="D22 owners"/>
          <p:cNvSpPr txBox="1"/>
          <p:nvPr/>
        </p:nvSpPr>
        <p:spPr>
          <a:xfrm>
            <a:off x="8667750" y="3838575"/>
            <a:ext cx="30480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00" b="0">
                <a:solidFill>
                  <a:srgbClr val="486078"/>
                </a:solidFill>
                <a:latin typeface="Aptos"/>
              </a:rPr>
              <a:t>IT; Academic; Project Owner</a:t>
            </a:r>
            <a:endParaRPr lang="en-US"/>
          </a:p>
        </p:txBody>
      </p:sp>
      <p:sp>
        <p:nvSpPr>
          <p:cNvPr id="21" name="D22 gate"/>
          <p:cNvSpPr txBox="1"/>
          <p:nvPr/>
        </p:nvSpPr>
        <p:spPr>
          <a:xfrm>
            <a:off x="1428750" y="4191000"/>
            <a:ext cx="10048875" cy="4000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700" b="0">
                <a:solidFill>
                  <a:srgbClr val="14263D"/>
                </a:solidFill>
                <a:latin typeface="Aptos"/>
              </a:rPr>
              <a:t>Name target reviewers and record. Pilot: target acceptance record required.</a:t>
            </a:r>
            <a:endParaRPr lang="en-US"/>
          </a:p>
        </p:txBody>
      </p:sp>
      <p:sp>
        <p:nvSpPr>
          <p:cNvPr id="22" name="Footer rule"/>
          <p:cNvSpPr txBox="1"/>
          <p:nvPr/>
        </p:nvSpPr>
        <p:spPr>
          <a:xfrm>
            <a:off x="495300" y="6334125"/>
            <a:ext cx="11163300" cy="19050"/>
          </a:xfrm>
          <a:prstGeom prst="rect">
            <a:avLst/>
          </a:prstGeom>
          <a:solidFill>
            <a:srgbClr val="D6E2E9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23" name="Footer"/>
          <p:cNvSpPr txBox="1"/>
          <p:nvPr/>
        </p:nvSpPr>
        <p:spPr>
          <a:xfrm>
            <a:off x="504825" y="6438900"/>
            <a:ext cx="962025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300" b="0">
                <a:solidFill>
                  <a:srgbClr val="486078"/>
                </a:solidFill>
                <a:latin typeface="Aptos"/>
              </a:rPr>
              <a:t>MC Accreditation Hub  ·  MIT 007  ·  Fictional local evidence unless marked otherwise</a:t>
            </a:r>
            <a:endParaRPr lang="en-US"/>
          </a:p>
        </p:txBody>
      </p:sp>
      <p:sp>
        <p:nvSpPr>
          <p:cNvPr id="24" name="Page"/>
          <p:cNvSpPr txBox="1"/>
          <p:nvPr/>
        </p:nvSpPr>
        <p:spPr>
          <a:xfrm>
            <a:off x="10572750" y="6438900"/>
            <a:ext cx="114300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300" b="0">
                <a:solidFill>
                  <a:srgbClr val="486078"/>
                </a:solidFill>
                <a:latin typeface="Aptos"/>
              </a:rPr>
              <a:t>52 / 53</a:t>
            </a:r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>
  <p:cSld name="53 Source and reading map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/>
          <p:cNvSpPr txBox="1"/>
          <p:nvPr/>
        </p:nvSpPr>
        <p:spPr>
          <a:xfrm>
            <a:off x="0" y="0"/>
            <a:ext cx="12192000" cy="123825"/>
          </a:xfrm>
          <a:prstGeom prst="rect">
            <a:avLst/>
          </a:prstGeom>
          <a:solidFill>
            <a:srgbClr val="0F9E92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3" name="Section"/>
          <p:cNvSpPr txBox="1"/>
          <p:nvPr/>
        </p:nvSpPr>
        <p:spPr>
          <a:xfrm>
            <a:off x="495300" y="323850"/>
            <a:ext cx="809625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700" b="1">
                <a:solidFill>
                  <a:srgbClr val="0F9E92"/>
                </a:solidFill>
                <a:latin typeface="Aptos"/>
              </a:rPr>
              <a:t>APPENDIX</a:t>
            </a:r>
            <a:endParaRPr lang="en-US"/>
          </a:p>
        </p:txBody>
      </p:sp>
      <p:sp>
        <p:nvSpPr>
          <p:cNvPr id="4" name="Status"/>
          <p:cNvSpPr txBox="1"/>
          <p:nvPr/>
        </p:nvSpPr>
        <p:spPr>
          <a:xfrm>
            <a:off x="8810625" y="3048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600" b="0">
                <a:solidFill>
                  <a:srgbClr val="486078"/>
                </a:solidFill>
                <a:latin typeface="Aptos"/>
              </a:rPr>
              <a:t>SOURCE INDEX</a:t>
            </a:r>
            <a:endParaRPr lang="en-US"/>
          </a:p>
        </p:txBody>
      </p:sp>
      <p:sp>
        <p:nvSpPr>
          <p:cNvPr id="5" name="Title"/>
          <p:cNvSpPr txBox="1"/>
          <p:nvPr/>
        </p:nvSpPr>
        <p:spPr>
          <a:xfrm>
            <a:off x="495300" y="781050"/>
            <a:ext cx="11144250" cy="71437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4200" b="1">
                <a:solidFill>
                  <a:srgbClr val="0B2545"/>
                </a:solidFill>
                <a:latin typeface="Aptos"/>
              </a:rPr>
              <a:t>Source and reading map</a:t>
            </a:r>
            <a:endParaRPr lang="en-US"/>
          </a:p>
        </p:txBody>
      </p:sp>
      <p:sp>
        <p:nvSpPr>
          <p:cNvPr id="6" name="Lead"/>
          <p:cNvSpPr txBox="1"/>
          <p:nvPr/>
        </p:nvSpPr>
        <p:spPr>
          <a:xfrm>
            <a:off x="523875" y="1552575"/>
            <a:ext cx="11049000" cy="7334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>The deck connects the original concept to the current repository and its stated limits.</a:t>
            </a:r>
            <a:endParaRPr lang="en-US"/>
          </a:p>
        </p:txBody>
      </p:sp>
      <p:sp>
        <p:nvSpPr>
          <p:cNvPr id="7" name="Point 1"/>
          <p:cNvSpPr txBox="1"/>
          <p:nvPr/>
        </p:nvSpPr>
        <p:spPr>
          <a:xfrm>
            <a:off x="666750" y="24479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Source concept: docs/MC_Accreditation_Hub.pptx (11 slides).</a:t>
            </a:r>
            <a:endParaRPr lang="en-US"/>
          </a:p>
        </p:txBody>
      </p:sp>
      <p:sp>
        <p:nvSpPr>
          <p:cNvPr id="8" name="Point 2"/>
          <p:cNvSpPr txBox="1"/>
          <p:nvPr/>
        </p:nvSpPr>
        <p:spPr>
          <a:xfrm>
            <a:off x="666750" y="30956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Implementation: README.md; docs/API.md; backend/hub; frontend/src.</a:t>
            </a:r>
            <a:endParaRPr lang="en-US"/>
          </a:p>
        </p:txBody>
      </p:sp>
      <p:sp>
        <p:nvSpPr>
          <p:cNvPr id="9" name="Point 3"/>
          <p:cNvSpPr txBox="1"/>
          <p:nvPr/>
        </p:nvSpPr>
        <p:spPr>
          <a:xfrm>
            <a:off x="666750" y="3743325"/>
            <a:ext cx="10858500" cy="7239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Verification and demo: docs/PROGRESS.md; course-presentation/EVIDENCE.md; captured screenshots.</a:t>
            </a:r>
            <a:endParaRPr lang="en-US"/>
          </a:p>
        </p:txBody>
      </p:sp>
      <p:sp>
        <p:nvSpPr>
          <p:cNvPr id="10" name="Point 4"/>
          <p:cNvSpPr txBox="1"/>
          <p:nvPr/>
        </p:nvSpPr>
        <p:spPr>
          <a:xfrm>
            <a:off x="666750" y="4581525"/>
            <a:ext cx="10858500" cy="7239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Policy and target gates: production decision register, D16 baseline proposal, release checklist.</a:t>
            </a:r>
            <a:endParaRPr lang="en-US"/>
          </a:p>
        </p:txBody>
      </p:sp>
      <p:sp>
        <p:nvSpPr>
          <p:cNvPr id="11" name="Point 5"/>
          <p:cNvSpPr txBox="1"/>
          <p:nvPr/>
        </p:nvSpPr>
        <p:spPr>
          <a:xfrm>
            <a:off x="666750" y="54197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200" b="0">
                <a:solidFill>
                  <a:srgbClr val="14263D"/>
                </a:solidFill>
                <a:latin typeface="Aptos"/>
              </a:rPr>
              <a:t>•  Evaluation: docs/THESIS_EVALUATION.md.</a:t>
            </a:r>
            <a:endParaRPr lang="en-US"/>
          </a:p>
        </p:txBody>
      </p:sp>
      <p:sp>
        <p:nvSpPr>
          <p:cNvPr id="12" name="Footer rule"/>
          <p:cNvSpPr txBox="1"/>
          <p:nvPr/>
        </p:nvSpPr>
        <p:spPr>
          <a:xfrm>
            <a:off x="495300" y="6334125"/>
            <a:ext cx="11163300" cy="19050"/>
          </a:xfrm>
          <a:prstGeom prst="rect">
            <a:avLst/>
          </a:prstGeom>
          <a:solidFill>
            <a:srgbClr val="D6E2E9"/>
          </a:solidFill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300" b="0">
                <a:solidFill>
                  <a:srgbClr val="14263D"/>
                </a:solidFill>
                <a:latin typeface="Aptos"/>
              </a:rPr>
              <a:t/>
            </a:r>
            <a:endParaRPr lang="en-US"/>
          </a:p>
        </p:txBody>
      </p:sp>
      <p:sp>
        <p:nvSpPr>
          <p:cNvPr id="13" name="Footer"/>
          <p:cNvSpPr txBox="1"/>
          <p:nvPr/>
        </p:nvSpPr>
        <p:spPr>
          <a:xfrm>
            <a:off x="504825" y="6438900"/>
            <a:ext cx="962025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300" b="0">
                <a:solidFill>
                  <a:srgbClr val="486078"/>
                </a:solidFill>
                <a:latin typeface="Aptos"/>
              </a:rPr>
              <a:t>MC Accreditation Hub  ·  MIT 007  ·  Fictional local evidence unless marked otherwise</a:t>
            </a:r>
            <a:endParaRPr lang="en-US"/>
          </a:p>
        </p:txBody>
      </p:sp>
      <p:sp>
        <p:nvSpPr>
          <p:cNvPr id="14" name="Page"/>
          <p:cNvSpPr txBox="1"/>
          <p:nvPr/>
        </p:nvSpPr>
        <p:spPr>
          <a:xfrm>
            <a:off x="10572750" y="6438900"/>
            <a:ext cx="1143000" cy="27622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1300" b="0">
                <a:solidFill>
                  <a:srgbClr val="486078"/>
                </a:solidFill>
                <a:latin typeface="Aptos"/>
              </a:rPr>
              <a:t>53 / 53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0</ns0:TotalTime>
  <ns0:Words>0</ns0:Words>
  <ns0:Application>Microsoft Office PowerPoint</ns0:Application>
  <ns0:PresentationFormat>On-screen Show (16:9)</ns0:PresentationFormat>
  <ns0:Paragraphs>0</ns0:Paragraphs>
  <ns0:Slides>53</ns0:Slides>
  <ns0:Notes>11</ns0:Notes>
  <ns0:HiddenSlides>0</ns0:HiddenSlides>
  <ns0:MMClips>0</ns0:MMClips>
  <ns0:ScaleCrop>false</ns0:ScaleCrop>
  <ns0:HeadingPairs>
    <ns1:vector size="6" baseType="variant">
      <ns1:variant>
        <ns1:lpstr>Fonts Used</ns1:lpstr>
      </ns1:variant>
      <ns1:variant>
        <ns1:i4>2</ns1:i4>
      </ns1:variant>
      <ns1:variant>
        <ns1:lpstr>Theme</ns1:lpstr>
      </ns1:variant>
      <ns1:variant>
        <ns1:i4>1</ns1:i4>
      </ns1:variant>
      <ns1:variant>
        <ns1:lpstr>Slide Titles</ns1:lpstr>
      </ns1:variant>
      <ns1:variant>
        <ns1:i4>11</ns1:i4>
      </ns1:variant>
    </ns1:vector>
  </ns0:HeadingPairs>
  <ns0:TitlesOfParts>
    <ns1:vector size="14" baseType="lpstr">
      <ns1:lpstr>Arial</ns1:lpstr>
      <ns1:lpstr>Calibri</ns1:lpstr>
      <ns1:lpstr>Office Theme</ns1:lpstr>
      <ns1:lpstr>Slide 1</ns1:lpstr>
      <ns1:lpstr>Slide 2</ns1:lpstr>
      <ns1:lpstr>Slide 3</ns1:lpstr>
      <ns1:lpstr>Slide 4</ns1:lpstr>
      <ns1:lpstr>Slide 5</ns1:lpstr>
      <ns1:lpstr>Slide 6</ns1:lpstr>
      <ns1:lpstr>Slide 7</ns1:lpstr>
      <ns1:lpstr>Slide 8</ns1:lpstr>
      <ns1:lpstr>Slide 9</ns1:lpstr>
      <ns1:lpstr>Slide 10</ns1:lpstr>
      <ns1:lpstr>Slide 11</ns1:lpstr>
    </ns1:vector>
  </ns0:TitlesOfParts>
  <ns0:Company>PptxGenJS</ns0:Company>
  <ns0:LinksUpToDate>false</ns0:LinksUpToDate>
  <ns0:SharedDoc>false</ns0:SharedDoc>
  <ns0:HyperlinksChanged>false</ns0:HyperlinksChanged>
  <ns0:AppVersion>16.0000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2026-08-28T05:49:02Z</dcterms:created>
  <dcterms:modified xsi:type="dcterms:W3CDTF">2026-08-28T05:49:02Z</dcterms:modified>
</cp:coreProperties>
</file>